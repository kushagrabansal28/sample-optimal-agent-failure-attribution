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solidFill>
                  <a:srgbClr val="96A3BE"/>
                </a:solidFill>
              </a:defRPr>
            </a:pPr>
            <a:r>
              <a:t>Mean rollouts to certify</a:t>
            </a:r>
          </a:p>
        </c:rich>
      </c:tx>
      <c:layout/>
      <c:overlay val="0"/>
    </c:title>
    <c:autoTitleDeleted val="0"/>
    <c:plotArea>
      <c:barChart>
        <c:barDir val="col"/>
        <c:grouping val="clustered"/>
        <c:ser>
          <c:idx val="0"/>
          <c:order val="0"/>
          <c:tx>
            <c:strRef>
              <c:f>Sheet1!$B$1</c:f>
              <c:strCache>
                <c:ptCount val="1"/>
                <c:pt idx="0">
                  <c:v>Mean rollouts (censored at cap)</c:v>
                </c:pt>
              </c:strCache>
            </c:strRef>
          </c:tx>
          <c:spPr>
            <a:solidFill>
              <a:srgbClr val="4FA3FF"/>
            </a:solidFill>
            <a:ln>
              <a:solidFill>
                <a:srgbClr val="4FA3FF"/>
              </a:solidFill>
            </a:ln>
          </c:spPr>
          <c:cat>
            <c:strRef>
              <c:f>Sheet1!$A$2:$A$6</c:f>
              <c:strCache>
                <c:ptCount val="5"/>
                <c:pt idx="0">
                  <c:v>LUCB + prefix</c:v>
                </c:pt>
                <c:pt idx="1">
                  <c:v>LUCB</c:v>
                </c:pt>
                <c:pt idx="2">
                  <c:v>Succ. elim.</c:v>
                </c:pt>
                <c:pt idx="3">
                  <c:v>Uniform</c:v>
                </c:pt>
                <c:pt idx="4">
                  <c:v>Random</c:v>
                </c:pt>
              </c:strCache>
            </c:strRef>
          </c:cat>
          <c:val>
            <c:numRef>
              <c:f>Sheet1!$B$2:$B$6</c:f>
              <c:numCache>
                <c:formatCode>General</c:formatCode>
                <c:ptCount val="5"/>
                <c:pt idx="0">
                  <c:v>14530</c:v>
                </c:pt>
                <c:pt idx="1">
                  <c:v>20637</c:v>
                </c:pt>
                <c:pt idx="2">
                  <c:v>24528</c:v>
                </c:pt>
                <c:pt idx="3">
                  <c:v>36929</c:v>
                </c:pt>
                <c:pt idx="4">
                  <c:v>37911</c:v>
                </c:pt>
              </c:numCache>
            </c:numRef>
          </c:val>
        </c:ser>
        <c:dLbls>
          <c:numFmt formatCode="#,##0" sourceLinked="0"/>
          <c:txPr>
            <a:bodyPr/>
            <a:lstStyle/>
            <a:p>
              <a:pPr>
                <a:defRPr sz="1100">
                  <a:solidFill>
                    <a:srgbClr val="E8EDF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46526E"/>
            </a:solidFill>
          </a:ln>
        </c:spPr>
        <c:txPr>
          <a:bodyPr/>
          <a:lstStyle/>
          <a:p>
            <a:pPr>
              <a:defRPr sz="1100">
                <a:solidFill>
                  <a:srgbClr val="96A3BE"/>
                </a:solidFill>
              </a:defRPr>
            </a:pPr>
          </a:p>
        </c:txPr>
        <c:crossAx val="-2113994440"/>
        <c:crosses val="autoZero"/>
        <c:auto val="1"/>
        <c:lblAlgn val="ctr"/>
        <c:lblOffset val="100"/>
        <c:noMultiLvlLbl val="0"/>
      </c:catAx>
      <c:valAx>
        <c:axId val="-2113994440"/>
        <c:scaling/>
        <c:delete val="0"/>
        <c:axPos val="l"/>
        <c:majorGridlines>
          <c:spPr>
            <a:ln>
              <a:solidFill>
                <a:srgbClr val="283450"/>
              </a:solidFill>
            </a:ln>
          </c:spPr>
        </c:majorGridlines>
        <c:majorTickMark val="out"/>
        <c:minorTickMark val="none"/>
        <c:tickLblPos val="nextTo"/>
        <c:spPr>
          <a:ln>
            <a:solidFill>
              <a:srgbClr val="46526E"/>
            </a:solidFill>
          </a:ln>
        </c:spPr>
        <c:txPr>
          <a:bodyPr/>
          <a:lstStyle/>
          <a:p>
            <a:pPr>
              <a:defRPr sz="1100">
                <a:solidFill>
                  <a:srgbClr val="96A3BE"/>
                </a:solidFill>
              </a:defRPr>
            </a:pPr>
          </a:p>
        </c:txPr>
        <c:crossAx val="-2068027336"/>
        <c:crosses val="autoZero"/>
      </c:valAx>
    </c:plotArea>
    <c:dispBlanksAs val="gap"/>
  </c:chart>
  <c:txPr>
    <a:bodyPr/>
    <a:lstStyle/>
    <a:p>
      <a:pPr>
        <a:defRPr sz="1100">
          <a:solidFill>
            <a:srgbClr val="E8EDF7"/>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solidFill>
                  <a:srgbClr val="96A3BE"/>
                </a:solidFill>
              </a:defRPr>
            </a:pPr>
            <a:r>
              <a:t>Abstention rate (%)</a:t>
            </a:r>
          </a:p>
        </c:rich>
      </c:tx>
      <c:layout/>
      <c:overlay val="0"/>
    </c:title>
    <c:autoTitleDeleted val="0"/>
    <c:plotArea>
      <c:barChart>
        <c:barDir val="col"/>
        <c:grouping val="clustered"/>
        <c:ser>
          <c:idx val="0"/>
          <c:order val="0"/>
          <c:tx>
            <c:strRef>
              <c:f>Sheet1!$B$1</c:f>
              <c:strCache>
                <c:ptCount val="1"/>
                <c:pt idx="0">
                  <c:v>Abstained (budget exhausted)</c:v>
                </c:pt>
              </c:strCache>
            </c:strRef>
          </c:tx>
          <c:spPr>
            <a:solidFill>
              <a:srgbClr val="F6B73C"/>
            </a:solidFill>
            <a:ln>
              <a:solidFill>
                <a:srgbClr val="F6B73C"/>
              </a:solidFill>
            </a:ln>
          </c:spPr>
          <c:cat>
            <c:strRef>
              <c:f>Sheet1!$A$2:$A$6</c:f>
              <c:strCache>
                <c:ptCount val="5"/>
                <c:pt idx="0">
                  <c:v>LUCB + prefix</c:v>
                </c:pt>
                <c:pt idx="1">
                  <c:v>LUCB</c:v>
                </c:pt>
                <c:pt idx="2">
                  <c:v>Succ. elim.</c:v>
                </c:pt>
                <c:pt idx="3">
                  <c:v>Uniform</c:v>
                </c:pt>
                <c:pt idx="4">
                  <c:v>Random</c:v>
                </c:pt>
              </c:strCache>
            </c:strRef>
          </c:cat>
          <c:val>
            <c:numRef>
              <c:f>Sheet1!$B$2:$B$6</c:f>
              <c:numCache>
                <c:formatCode>General</c:formatCode>
                <c:ptCount val="5"/>
                <c:pt idx="0">
                  <c:v>10</c:v>
                </c:pt>
                <c:pt idx="1">
                  <c:v>17</c:v>
                </c:pt>
                <c:pt idx="2">
                  <c:v>20</c:v>
                </c:pt>
                <c:pt idx="3">
                  <c:v>43</c:v>
                </c:pt>
                <c:pt idx="4">
                  <c:v>50</c:v>
                </c:pt>
              </c:numCache>
            </c:numRef>
          </c:val>
        </c:ser>
        <c:dLbls>
          <c:txPr>
            <a:bodyPr/>
            <a:lstStyle/>
            <a:p>
              <a:pPr>
                <a:defRPr sz="1100">
                  <a:solidFill>
                    <a:srgbClr val="E8EDF7"/>
                  </a:solidFill>
                </a:defRPr>
              </a:pPr>
            </a:p>
          </c:txPr>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46526E"/>
            </a:solidFill>
          </a:ln>
        </c:spPr>
        <c:txPr>
          <a:bodyPr/>
          <a:lstStyle/>
          <a:p>
            <a:pPr>
              <a:defRPr sz="1100">
                <a:solidFill>
                  <a:srgbClr val="96A3BE"/>
                </a:solidFill>
              </a:defRPr>
            </a:pPr>
          </a:p>
        </c:txPr>
        <c:crossAx val="-2113994440"/>
        <c:crosses val="autoZero"/>
        <c:auto val="1"/>
        <c:lblAlgn val="ctr"/>
        <c:lblOffset val="100"/>
        <c:noMultiLvlLbl val="0"/>
      </c:catAx>
      <c:valAx>
        <c:axId val="-2113994440"/>
        <c:scaling/>
        <c:delete val="0"/>
        <c:axPos val="l"/>
        <c:majorGridlines>
          <c:spPr>
            <a:ln>
              <a:solidFill>
                <a:srgbClr val="283450"/>
              </a:solidFill>
            </a:ln>
          </c:spPr>
        </c:majorGridlines>
        <c:majorTickMark val="out"/>
        <c:minorTickMark val="none"/>
        <c:tickLblPos val="nextTo"/>
        <c:spPr>
          <a:ln>
            <a:solidFill>
              <a:srgbClr val="46526E"/>
            </a:solidFill>
          </a:ln>
        </c:spPr>
        <c:txPr>
          <a:bodyPr/>
          <a:lstStyle/>
          <a:p>
            <a:pPr>
              <a:defRPr sz="1100">
                <a:solidFill>
                  <a:srgbClr val="96A3BE"/>
                </a:solidFill>
              </a:defRPr>
            </a:pPr>
          </a:p>
        </c:txPr>
        <c:crossAx val="-2068027336"/>
        <c:crosses val="autoZero"/>
      </c:valAx>
    </c:plotArea>
    <c:dispBlanksAs val="gap"/>
  </c:chart>
  <c:txPr>
    <a:bodyPr/>
    <a:lstStyle/>
    <a:p>
      <a:pPr>
        <a:defRPr sz="1100">
          <a:solidFill>
            <a:srgbClr val="E8EDF7"/>
          </a:solidFill>
          <a:latin typeface="Segoe U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solidFill>
                  <a:srgbClr val="96A3BE"/>
                </a:solidFill>
              </a:defRPr>
            </a:pPr>
            <a:r>
              <a:t>Mean rollouts vs number of candidates K</a:t>
            </a:r>
          </a:p>
        </c:rich>
      </c:tx>
      <c:layout/>
      <c:overlay val="0"/>
    </c:title>
    <c:autoTitleDeleted val="0"/>
    <c:plotArea>
      <c:lineChart>
        <c:grouping val="standard"/>
        <c:varyColors val="0"/>
        <c:ser>
          <c:idx val="0"/>
          <c:order val="0"/>
          <c:tx>
            <c:strRef>
              <c:f>Sheet1!$B$1</c:f>
              <c:strCache>
                <c:ptCount val="1"/>
                <c:pt idx="0">
                  <c:v>LUCB</c:v>
                </c:pt>
              </c:strCache>
            </c:strRef>
          </c:tx>
          <c:spPr>
            <a:ln w="31750">
              <a:solidFill>
                <a:srgbClr val="4FA3FF"/>
              </a:solidFill>
            </a:ln>
          </c:spPr>
          <c:marker>
            <c:spPr>
              <a:solidFill>
                <a:srgbClr val="4FA3FF"/>
              </a:solidFill>
            </c:spPr>
          </c:marker>
          <c:cat>
            <c:strRef>
              <c:f>Sheet1!$A$2:$A$6</c:f>
              <c:strCache>
                <c:ptCount val="5"/>
                <c:pt idx="0">
                  <c:v>4</c:v>
                </c:pt>
                <c:pt idx="1">
                  <c:v>8</c:v>
                </c:pt>
                <c:pt idx="2">
                  <c:v>16</c:v>
                </c:pt>
                <c:pt idx="3">
                  <c:v>32</c:v>
                </c:pt>
                <c:pt idx="4">
                  <c:v>64</c:v>
                </c:pt>
              </c:strCache>
            </c:strRef>
          </c:cat>
          <c:val>
            <c:numRef>
              <c:f>Sheet1!$B$2:$B$6</c:f>
              <c:numCache>
                <c:formatCode>General</c:formatCode>
                <c:ptCount val="5"/>
                <c:pt idx="0">
                  <c:v>1416</c:v>
                </c:pt>
                <c:pt idx="1">
                  <c:v>1565</c:v>
                </c:pt>
                <c:pt idx="2">
                  <c:v>1812</c:v>
                </c:pt>
                <c:pt idx="3">
                  <c:v>2391</c:v>
                </c:pt>
                <c:pt idx="4">
                  <c:v>3362</c:v>
                </c:pt>
              </c:numCache>
            </c:numRef>
          </c:val>
          <c:smooth val="0"/>
        </c:ser>
        <c:ser>
          <c:idx val="1"/>
          <c:order val="1"/>
          <c:tx>
            <c:strRef>
              <c:f>Sheet1!$C$1</c:f>
              <c:strCache>
                <c:ptCount val="1"/>
                <c:pt idx="0">
                  <c:v>Successive elim.</c:v>
                </c:pt>
              </c:strCache>
            </c:strRef>
          </c:tx>
          <c:spPr>
            <a:ln w="31750">
              <a:solidFill>
                <a:srgbClr val="A78BFA"/>
              </a:solidFill>
            </a:ln>
          </c:spPr>
          <c:marker>
            <c:spPr>
              <a:solidFill>
                <a:srgbClr val="A78BFA"/>
              </a:solidFill>
            </c:spPr>
          </c:marker>
          <c:cat>
            <c:strRef>
              <c:f>Sheet1!$A$2:$A$6</c:f>
              <c:strCache>
                <c:ptCount val="5"/>
                <c:pt idx="0">
                  <c:v>4</c:v>
                </c:pt>
                <c:pt idx="1">
                  <c:v>8</c:v>
                </c:pt>
                <c:pt idx="2">
                  <c:v>16</c:v>
                </c:pt>
                <c:pt idx="3">
                  <c:v>32</c:v>
                </c:pt>
                <c:pt idx="4">
                  <c:v>64</c:v>
                </c:pt>
              </c:strCache>
            </c:strRef>
          </c:cat>
          <c:val>
            <c:numRef>
              <c:f>Sheet1!$C$2:$C$6</c:f>
              <c:numCache>
                <c:formatCode>General</c:formatCode>
                <c:ptCount val="5"/>
                <c:pt idx="0">
                  <c:v>1441</c:v>
                </c:pt>
                <c:pt idx="1">
                  <c:v>1890</c:v>
                </c:pt>
                <c:pt idx="2">
                  <c:v>2612</c:v>
                </c:pt>
                <c:pt idx="3">
                  <c:v>3953</c:v>
                </c:pt>
                <c:pt idx="4">
                  <c:v>6249</c:v>
                </c:pt>
              </c:numCache>
            </c:numRef>
          </c:val>
          <c:smooth val="0"/>
        </c:ser>
        <c:ser>
          <c:idx val="2"/>
          <c:order val="2"/>
          <c:tx>
            <c:strRef>
              <c:f>Sheet1!$D$1</c:f>
              <c:strCache>
                <c:ptCount val="1"/>
                <c:pt idx="0">
                  <c:v>Uniform</c:v>
                </c:pt>
              </c:strCache>
            </c:strRef>
          </c:tx>
          <c:spPr>
            <a:ln w="31750">
              <a:solidFill>
                <a:srgbClr val="F6B73C"/>
              </a:solidFill>
            </a:ln>
          </c:spPr>
          <c:marker>
            <c:spPr>
              <a:solidFill>
                <a:srgbClr val="F6B73C"/>
              </a:solidFill>
            </c:spPr>
          </c:marker>
          <c:cat>
            <c:strRef>
              <c:f>Sheet1!$A$2:$A$6</c:f>
              <c:strCache>
                <c:ptCount val="5"/>
                <c:pt idx="0">
                  <c:v>4</c:v>
                </c:pt>
                <c:pt idx="1">
                  <c:v>8</c:v>
                </c:pt>
                <c:pt idx="2">
                  <c:v>16</c:v>
                </c:pt>
                <c:pt idx="3">
                  <c:v>32</c:v>
                </c:pt>
                <c:pt idx="4">
                  <c:v>64</c:v>
                </c:pt>
              </c:strCache>
            </c:strRef>
          </c:cat>
          <c:val>
            <c:numRef>
              <c:f>Sheet1!$D$2:$D$6</c:f>
              <c:numCache>
                <c:formatCode>General</c:formatCode>
                <c:ptCount val="5"/>
                <c:pt idx="0">
                  <c:v>2808</c:v>
                </c:pt>
                <c:pt idx="1">
                  <c:v>5526</c:v>
                </c:pt>
                <c:pt idx="2">
                  <c:v>11676</c:v>
                </c:pt>
                <c:pt idx="3">
                  <c:v>22869</c:v>
                </c:pt>
                <c:pt idx="4">
                  <c:v>49713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46526E"/>
            </a:solidFill>
          </a:ln>
        </c:spPr>
        <c:txPr>
          <a:bodyPr/>
          <a:lstStyle/>
          <a:p>
            <a:pPr>
              <a:defRPr sz="1100">
                <a:solidFill>
                  <a:srgbClr val="96A3BE"/>
                </a:solidFill>
              </a:defRPr>
            </a:pPr>
          </a:p>
        </c:txPr>
        <c:crossAx val="2140495176"/>
        <c:crosses val="autoZero"/>
        <c:auto val="1"/>
        <c:lblAlgn val="ctr"/>
        <c:lblOffset val="100"/>
        <c:noMultiLvlLbl val="0"/>
      </c:catAx>
      <c:valAx>
        <c:axId val="2140495176"/>
        <c:scaling/>
        <c:delete val="0"/>
        <c:axPos val="l"/>
        <c:majorGridlines>
          <c:spPr>
            <a:ln>
              <a:solidFill>
                <a:srgbClr val="283450"/>
              </a:solidFill>
            </a:ln>
          </c:spPr>
        </c:majorGridlines>
        <c:majorTickMark val="out"/>
        <c:minorTickMark val="none"/>
        <c:tickLblPos val="nextTo"/>
        <c:spPr>
          <a:ln>
            <a:solidFill>
              <a:srgbClr val="46526E"/>
            </a:solidFill>
          </a:ln>
        </c:spPr>
        <c:txPr>
          <a:bodyPr/>
          <a:lstStyle/>
          <a:p>
            <a:pPr>
              <a:defRPr sz="1100">
                <a:solidFill>
                  <a:srgbClr val="96A3BE"/>
                </a:solidFill>
              </a:defRPr>
            </a:pPr>
          </a:p>
        </c:txPr>
        <c:crossAx val="2118791784"/>
        <c:crosses val="autoZero"/>
      </c:valAx>
    </c:plotArea>
    <c:legend>
      <c:legendPos val="b"/>
      <c:layout/>
      <c:overlay val="0"/>
      <c:txPr>
        <a:bodyPr/>
        <a:lstStyle/>
        <a:p>
          <a:pPr>
            <a:defRPr sz="1100">
              <a:solidFill>
                <a:srgbClr val="E8EDF7"/>
              </a:solidFill>
            </a:defRPr>
          </a:pPr>
        </a:p>
      </c:txPr>
    </c:legend>
    <c:plotVisOnly val="1"/>
    <c:dispBlanksAs val="gap"/>
    <c:showDLblsOverMax val="0"/>
  </c:chart>
  <c:txPr>
    <a:bodyPr/>
    <a:lstStyle/>
    <a:p>
      <a:pPr>
        <a:defRPr sz="1100">
          <a:solidFill>
            <a:srgbClr val="E8EDF7"/>
          </a:solidFill>
          <a:latin typeface="Segoe U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a:solidFill>
                  <a:srgbClr val="96A3BE"/>
                </a:solidFill>
              </a:defRPr>
            </a:pPr>
            <a:r>
              <a:t>Mean rollouts by automaton size</a:t>
            </a:r>
          </a:p>
        </c:rich>
      </c:tx>
      <c:layout/>
      <c:overlay val="0"/>
    </c:title>
    <c:autoTitleDeleted val="0"/>
    <c:plotArea>
      <c:barChart>
        <c:barDir val="col"/>
        <c:grouping val="clustered"/>
        <c:ser>
          <c:idx val="0"/>
          <c:order val="0"/>
          <c:tx>
            <c:strRef>
              <c:f>Sheet1!$B$1</c:f>
              <c:strCache>
                <c:ptCount val="1"/>
                <c:pt idx="0">
                  <c:v>LUCB + prefix</c:v>
                </c:pt>
              </c:strCache>
            </c:strRef>
          </c:tx>
          <c:spPr>
            <a:solidFill>
              <a:srgbClr val="2DD4E0"/>
            </a:solidFill>
            <a:ln>
              <a:solidFill>
                <a:srgbClr val="2DD4E0"/>
              </a:solidFill>
            </a:ln>
          </c:spPr>
          <c:cat>
            <c:strRef>
              <c:f>Sheet1!$A$2:$A$4</c:f>
              <c:strCache>
                <c:ptCount val="3"/>
                <c:pt idx="0">
                  <c:v>48 states</c:v>
                </c:pt>
                <c:pt idx="1">
                  <c:v>64 states</c:v>
                </c:pt>
                <c:pt idx="2">
                  <c:v>96 states</c:v>
                </c:pt>
              </c:strCache>
            </c:strRef>
          </c:cat>
          <c:val>
            <c:numRef>
              <c:f>Sheet1!$B$2:$B$4</c:f>
              <c:numCache>
                <c:formatCode>General</c:formatCode>
                <c:ptCount val="3"/>
                <c:pt idx="0">
                  <c:v>14282</c:v>
                </c:pt>
                <c:pt idx="1">
                  <c:v>14416</c:v>
                </c:pt>
                <c:pt idx="2">
                  <c:v>13860</c:v>
                </c:pt>
              </c:numCache>
            </c:numRef>
          </c:val>
        </c:ser>
        <c:ser>
          <c:idx val="1"/>
          <c:order val="1"/>
          <c:tx>
            <c:strRef>
              <c:f>Sheet1!$C$1</c:f>
              <c:strCache>
                <c:ptCount val="1"/>
                <c:pt idx="0">
                  <c:v>LUCB</c:v>
                </c:pt>
              </c:strCache>
            </c:strRef>
          </c:tx>
          <c:spPr>
            <a:solidFill>
              <a:srgbClr val="4FA3FF"/>
            </a:solidFill>
            <a:ln>
              <a:solidFill>
                <a:srgbClr val="4FA3FF"/>
              </a:solidFill>
            </a:ln>
          </c:spPr>
          <c:cat>
            <c:strRef>
              <c:f>Sheet1!$A$2:$A$4</c:f>
              <c:strCache>
                <c:ptCount val="3"/>
                <c:pt idx="0">
                  <c:v>48 states</c:v>
                </c:pt>
                <c:pt idx="1">
                  <c:v>64 states</c:v>
                </c:pt>
                <c:pt idx="2">
                  <c:v>96 states</c:v>
                </c:pt>
              </c:strCache>
            </c:strRef>
          </c:cat>
          <c:val>
            <c:numRef>
              <c:f>Sheet1!$C$2:$C$4</c:f>
              <c:numCache>
                <c:formatCode>General</c:formatCode>
                <c:ptCount val="3"/>
                <c:pt idx="0">
                  <c:v>22634</c:v>
                </c:pt>
                <c:pt idx="1">
                  <c:v>28140</c:v>
                </c:pt>
                <c:pt idx="2">
                  <c:v>35263</c:v>
                </c:pt>
              </c:numCache>
            </c:numRef>
          </c:val>
        </c:ser>
        <c:ser>
          <c:idx val="2"/>
          <c:order val="2"/>
          <c:tx>
            <c:strRef>
              <c:f>Sheet1!$D$1</c:f>
              <c:strCache>
                <c:ptCount val="1"/>
                <c:pt idx="0">
                  <c:v>Uniform</c:v>
                </c:pt>
              </c:strCache>
            </c:strRef>
          </c:tx>
          <c:spPr>
            <a:solidFill>
              <a:srgbClr val="F6B73C"/>
            </a:solidFill>
            <a:ln>
              <a:solidFill>
                <a:srgbClr val="F6B73C"/>
              </a:solidFill>
            </a:ln>
          </c:spPr>
          <c:cat>
            <c:strRef>
              <c:f>Sheet1!$A$2:$A$4</c:f>
              <c:strCache>
                <c:ptCount val="3"/>
                <c:pt idx="0">
                  <c:v>48 states</c:v>
                </c:pt>
                <c:pt idx="1">
                  <c:v>64 states</c:v>
                </c:pt>
                <c:pt idx="2">
                  <c:v>96 states</c:v>
                </c:pt>
              </c:strCache>
            </c:strRef>
          </c:cat>
          <c:val>
            <c:numRef>
              <c:f>Sheet1!$D$2:$D$4</c:f>
              <c:numCache>
                <c:formatCode>General</c:formatCode>
                <c:ptCount val="3"/>
                <c:pt idx="0">
                  <c:v>40204</c:v>
                </c:pt>
                <c:pt idx="1">
                  <c:v>44908</c:v>
                </c:pt>
                <c:pt idx="2">
                  <c:v>50354</c:v>
                </c:pt>
              </c:numCache>
            </c:numRef>
          </c:val>
        </c:ser>
        <c:axId val="-2068027336"/>
        <c:axId val="-2113994440"/>
      </c:barChart>
      <c:catAx>
        <c:axId val="-2068027336"/>
        <c:scaling>
          <c:orientation val="minMax"/>
        </c:scaling>
        <c:delete val="0"/>
        <c:axPos val="b"/>
        <c:majorTickMark val="out"/>
        <c:minorTickMark val="none"/>
        <c:tickLblPos val="nextTo"/>
        <c:spPr>
          <a:ln>
            <a:solidFill>
              <a:srgbClr val="46526E"/>
            </a:solidFill>
          </a:ln>
        </c:spPr>
        <c:txPr>
          <a:bodyPr/>
          <a:lstStyle/>
          <a:p>
            <a:pPr>
              <a:defRPr sz="1100">
                <a:solidFill>
                  <a:srgbClr val="96A3BE"/>
                </a:solidFill>
              </a:defRPr>
            </a:pPr>
          </a:p>
        </c:txPr>
        <c:crossAx val="-2113994440"/>
        <c:crosses val="autoZero"/>
        <c:auto val="1"/>
        <c:lblAlgn val="ctr"/>
        <c:lblOffset val="100"/>
        <c:noMultiLvlLbl val="0"/>
      </c:catAx>
      <c:valAx>
        <c:axId val="-2113994440"/>
        <c:scaling/>
        <c:delete val="0"/>
        <c:axPos val="l"/>
        <c:majorGridlines>
          <c:spPr>
            <a:ln>
              <a:solidFill>
                <a:srgbClr val="283450"/>
              </a:solidFill>
            </a:ln>
          </c:spPr>
        </c:majorGridlines>
        <c:majorTickMark val="out"/>
        <c:minorTickMark val="none"/>
        <c:tickLblPos val="nextTo"/>
        <c:spPr>
          <a:ln>
            <a:solidFill>
              <a:srgbClr val="46526E"/>
            </a:solidFill>
          </a:ln>
        </c:spPr>
        <c:txPr>
          <a:bodyPr/>
          <a:lstStyle/>
          <a:p>
            <a:pPr>
              <a:defRPr sz="1100">
                <a:solidFill>
                  <a:srgbClr val="96A3BE"/>
                </a:solidFill>
              </a:defRPr>
            </a:pPr>
          </a:p>
        </c:txPr>
        <c:crossAx val="-2068027336"/>
        <c:crosses val="autoZero"/>
      </c:valAx>
    </c:plotArea>
    <c:legend>
      <c:legendPos val="b"/>
      <c:overlay val="0"/>
      <c:txPr>
        <a:bodyPr/>
        <a:lstStyle/>
        <a:p>
          <a:pPr>
            <a:defRPr sz="1100">
              <a:solidFill>
                <a:srgbClr val="E8EDF7"/>
              </a:solidFill>
            </a:defRPr>
          </a:pPr>
        </a:p>
      </c:txPr>
    </c:legend>
    <c:dispBlanksAs val="gap"/>
  </c:chart>
  <c:txPr>
    <a:bodyPr/>
    <a:lstStyle/>
    <a:p>
      <a:pPr>
        <a:defRPr sz="1100">
          <a:solidFill>
            <a:srgbClr val="E8EDF7"/>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Introduce both authors. Stress the honest framing up front: the title states the objective, and what we actually prove is δ-correctness of the stopping rule plus a sample-complexity upper bound for one strategy. All reported numbers are from synthetic simulations with exactly known ground truth; the real-benchmark stages (ALFWorld, HotpotQA) are implemented as adapters but have not been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Motivation. Long-horizon agents plan, search, call tools, store memory and answer. When the final answer is wrong, the developer holds a long trace and one question: which step is responsible? The last action is usually a symptom. Cite Zhang et al. (Who&amp;When, ICML 2025, arXiv:2505.00212): the best step-level attribution accuracy they report is about 14 %, which is why LLM judging alone is not a satisfying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2 is computed exactly by dynamic programming over the 48-state automaton (no sampling). Steps before the planted fault only exceed the baseline slightly because re-running re-rolls the fault; after the fault the state is corrupted and the repair value falls. The step that maximises the repair value is the culprit under our definition.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Association is not prediction is not intervention effect is not unique responsibility is not joint cause. We choose one well-defined causal estimand — the repair effect of a single step — and make its estimation statistically rigorous. Other estimands (Shapley credit, direct effects) are different questions and are listed as future work.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come from research/novelty_matrix.csv, built by reading the papers (read-depth column shows how much of each paper we verified). ● yes, ◐ partial, – no. Important corrections to the brief: Who&amp;When has no replay and no Shapley; Shapley belongs to Causal Agent Replay. The AFCR row is what we implement; whether the combination is novel is provisional — the search was finite and the matrix is dated.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Arms are the candidate steps. Pulling arm t means: restore the original failed run just before step t, apply the intervention (repair = force the reference action; resample = redraw from the policy), re-simulate to the end, and observe success or failure. Y_t is Bernoulli(μ_t). The target is a function of the means: argmax up to ε, or the first / last step above a threshold θ. Assumptions A1–A6 in the paper make the arms well-defined and the pulls independent.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 uses a real sampled trajectory. The original run on top is restored up to the chosen step, one action is forced to the reference action, and the continuation on the bottom is re-simulated. One replay equals one sample of the outcome distribution — one Bernoulli pull. Repair vs resample are both implemented; resample is the null intervention and measures intrinsic sensitivity.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4: maintain a confidence interval per step, ask the stopping rule whether the target is certified, otherwise let the sampling rule pick the next step (LUCB picks the leader and its strongest challenger). The sampling rule is interchangeable — δ-correctness depends only on the confidence sequence and the stopping rule. Budget exhaustion is an abstention and is never reported as a certified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 a stack-KL confidence sequence, x_n = ln(2Kn(n+1)/δ), intersected over time so intervals never widen. The stop test is lo_h + ε ≥ max over other arms of hi_a. Figure 5 is an actual run: intervals separate and the algorithm stops exactly when the separation margin reaches zero. Stack-KL is never wider than the Hoeffding version (tested) and is slightly looser than the LUCB-rate bound only in constants (ablation).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Theorem 1: for any sampling rule, the stopping rule built on an anytime-valid confidence sequence is δ-correct — a union bound over arms and time. Theorem 2: for successive elimination, an explicit sample-complexity upper bound of order Σ_a Δ_a⁻² log(K/(δΔ_a)); the full proof is in the paper appendix. Theorem 3: valid prefix reuse. We do NOT claim minimax optimality of any algorithm — the lower bound of Garivier–Kaufmann is used as a yardstick, not matched.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10: replays that start later reach the same state at the same time with the same action as another arm's replay would; their remaining trajectory has the same law, so they can be credited to the other arm. We verified Theorem 3 numerically: matched observations agree with the exact value (|z| &lt; 2) while naively pooled observations are biased (|z| about 20–30). In the main experiment naive sharing certifies a wrong answer far more often — shown honestly as a negative control with a small certified sample.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groups of eight states: PLAN, OBSERVE, TOOL, MEMORY, VALIDATE, TERMINAL. Seven decision states carry planted faults; corrupted states form a corridor to the failure terminals; recovery edges exist. The state count is validated programmatically (unique ids and labels; the DFA sink is not counted). Larger 64- and 96-state versions are generated the same way.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DFA: total transition function with an explicit sink, deterministic most-likely view. NFA: all possible successors, so we track active-state sets. ε-NFA: silent self-correction as ε-moves; ε-closure is computed before and after each symbol. Each view is tested: NFA→DFA subset construction and ε-removal preserve the language.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probabilistic automaton is the natural model of a stochastic agent: each (state, action) maps to a distribution over successors, and the word probability is e_q0ᵀ M_a1 … M_an 1_F. The LTS carries the labelled actions — reasoning, tool use, observation, update, validation, recovery, success, failure — and supports reachability and deadlock analysis. Exact quantities used by the experiments are computed from these kernels.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nine models are implemented and tested. The comparison table summarises acceptance, memory, nondeterminism and fit for agent traces. Important distinction: a finite-state machine cannot recognise arbitrarily deep nesting — a PDA can (our test shows a depth-3 bounded DFA failing on a depth-5 word). The bounded Turing machine reports step_limit/tape_bound as 'unknown', not 'reject'.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Packages: automata, statistics (the only place bounds are defined), replay (arms and exact ground truth), attribution (targets, algorithms, engine), agents and benchmarks, experiments and evaluation, and the FastAPI backend that serves the website. Every trial is a plain dict so any number can be regenerated from a JSON spec with python -m afcr.experiments.run_one.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Twelve experiment groups, each with 30 paired trials per method unless noted (all methods share seeds so comparisons are paired). Rollout counts of trials that hit the budget cap are censored: means are lower bounds on the true cost. Accuracy intervals are Wilson; rollout intervals are bootstrap; paired tests are Wilcoxon signed-rank with Holm correction over the four primary comparisons. Total simulation time came from suite_meta.json.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48-state automaton, 30 paired trials per method, δ = 0.1, budget cap 60 000 rollouts. Bars are mean rollouts; trials that abstained (budget exhausted) are censored at the cap, so uniform/random numbers understate their true cost. Equal-budget and CAR-style fixed-K do not certify anything by design — their rollouts are fixed in advance. LUCB with naive sharing is the invalid negative control.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a paired comparison on identical seeds. Wilcoxon signed-rank p-values are Holm-corrected over the four primary comparisons; all four reject at 0.05. Ratios are mean-rollout ratios (&gt;1 means the first method is cheaper). 95 % intervals are bootstrap intervals of the paired mean difference. Synthetic data only: these are statements about our simulated benchmark, not about real agents.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Bandit-arm model with K = 8 arms; the best-vs-runner-up gap varies. Cost grows roughly like gap⁻² for uniform allocation (a test checks the log-log slope is between −3.2 and −1.3) and every method stays above the lower bound on average (also tested). The lower bound is a yardstick for an oracle-allocating algorithm: we do not claim to match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growth of cost with the number of candidate steps K at a fixed gap. Adaptive methods grow slowly because eliminated arms stop being sampled; uniform allocation grows roughly linearly with K. Right: the δ sweep shows the expected mild increase of cost as δ shrinks; empirical error stays at 0 in every cell — consistent with δ-correctness but not a proof (the guarantee is an upper bound).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factor at a time on the 48-state automaton, same seeds. Restricting candidates to decision states and using a small ε make the most difference on the planted-fault instances because they remove near-ties between harmless steps; valid prefix sharing gives a large saving at no cost in accuracy. Candidate restriction uses domain knowledge about decision states; it is reported as an assumption-dependent speed-up, not as part of the guarantee.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48-, 64- and 96-state automata. Prefix reuse keeps the cost almost flat while the plain methods grow with trajectory length. Right: when state reconstruction is noisy (assumption A1 violated) we measure accuracy against the noisy-context argmax and the cost rises; the algorithm abstains more rather than certifying wrongly, and sharing is disabled automatically. This is a robustness stress test, not a guarantee.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Honest reporting: (1) naive sharing is invalid and the experiment shows it. (2) The CAR-style fixed-K rule is a different estimand — it reports the latest step whose effect excludes zero — so its 'accuracy' against the argmax-repair target is not a like-for-like comparison and should not be read as 'CAR is wrong'. (3) Several methods abstain on hard instances; abstention is a feature, not an error. Figure 18 breaks the failures down.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B is a second, structurally different synthetic environment: a tool-using agent (search, calculator, memory) with exact memoised DP ground truth, in a stochastic and a deterministic variant. The targets experiment replaces argmax by threshold rules: first-above-θ and last-above-θ. These are still synthetic — they test the implementation beyond the automaton, not real agent behaviour.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Screenshots of the running React/TypeScript site, served by the FastAPI backend on localhost. The dashboard calls the real algorithm, replays the rounds as a forest plot of confidence intervals, shows the stopping-rule margin, and can run uniform allocation on the identical instance. The Studio loads every saved result group and the paired statistics; exports are raw CSV/JSON. Pages carry synthetic/measured badges so no simulated number is mistaken for a benchmark result.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all nine formalisms are interactive — pan, zoom, search states, step through traces; the 48-state automaton shows the planted culprit. Middle: the trajectory explorer samples a failed run, shows the exact μ_t, lets you intervene on a step and compare the original with the counterfactual. Right: the theory page lists the assumptions, theorems with expandable proofs and a claims ledger that marks what is proven, tested or pending.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179 backend tests (pytest) and 46 frontend tests (vitest) all pass, run on this machine; the reports are stored in results/processed. Consistency tests recompute every reported summary from the raw CSV and check theory-level behaviour such as gap scaling and the lower bound. Config files in configs/ reproduce any single trial or a whole suite; seeds are explicit.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plainly what is not done. ALFWorld and HotpotQA adapters exist and are unit-tested with a mock agent, but we have not run them — so no claim about real agents. All performance numbers come from synthetic models with a Markov structure that makes ground truth computable. The OpenAI provider is implemented but untested. Theorem 2 is for successive elimination only. 'Sample-optimal' is the objective, not a result. Novelty is provisional.</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We turned culprit identification into a fixed-confidence best-arm problem over counterfactual replays, proved δ-correctness for any sampling rule, gave a sample-complexity bound for successive elimination, validated prefix reuse, and measured on synthetic automata that adaptive allocation needs several times fewer rollouts. Future work: run ALFWorld/HotpotQA, tighten the bounds (instance-dependent), Track-and-Stop style allocation, direct-effect estimands with common random numbers.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chart" Target="../charts/chart1.xml"/><Relationship Id="rId4" Type="http://schemas.openxmlformats.org/officeDocument/2006/relationships/chart" Target="../charts/char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chart" Target="../charts/char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chart" Target="../charts/char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5.png"/><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914400"/>
            <a:ext cx="8229600" cy="365760"/>
          </a:xfrm>
          <a:prstGeom prst="rect">
            <a:avLst/>
          </a:prstGeom>
          <a:noFill/>
        </p:spPr>
        <p:txBody>
          <a:bodyPr wrap="square" lIns="36576" rIns="36576">
            <a:spAutoFit/>
          </a:bodyPr>
          <a:lstStyle/>
          <a:p>
            <a:pPr>
              <a:spcAft>
                <a:spcPts val="600"/>
              </a:spcAft>
              <a:defRPr sz="1300" b="1">
                <a:solidFill>
                  <a:srgbClr val="2DD4E0"/>
                </a:solidFill>
                <a:latin typeface="Consolas"/>
              </a:defRPr>
            </a:pPr>
            <a:r>
              <a:t>MODELS OF COMPUTATION  ·  RESEARCH PROJECT</a:t>
            </a:r>
          </a:p>
        </p:txBody>
      </p:sp>
      <p:sp>
        <p:nvSpPr>
          <p:cNvPr id="4" name="TextBox 3"/>
          <p:cNvSpPr txBox="1"/>
          <p:nvPr/>
        </p:nvSpPr>
        <p:spPr>
          <a:xfrm>
            <a:off x="822960" y="1463040"/>
            <a:ext cx="10515600" cy="2011680"/>
          </a:xfrm>
          <a:prstGeom prst="rect">
            <a:avLst/>
          </a:prstGeom>
          <a:noFill/>
        </p:spPr>
        <p:txBody>
          <a:bodyPr wrap="square" lIns="36576" rIns="36576">
            <a:spAutoFit/>
          </a:bodyPr>
          <a:lstStyle/>
          <a:p>
            <a:pPr>
              <a:spcAft>
                <a:spcPts val="600"/>
              </a:spcAft>
              <a:defRPr sz="4400" b="1">
                <a:solidFill>
                  <a:srgbClr val="E8EDF7"/>
                </a:solidFill>
                <a:latin typeface="Segoe UI Semibold"/>
              </a:defRPr>
            </a:pPr>
            <a:r>
              <a:t>Sample-Optimal Culprit Identification for Agent Failures</a:t>
            </a:r>
          </a:p>
        </p:txBody>
      </p:sp>
      <p:sp>
        <p:nvSpPr>
          <p:cNvPr id="5" name="TextBox 4"/>
          <p:cNvSpPr txBox="1"/>
          <p:nvPr/>
        </p:nvSpPr>
        <p:spPr>
          <a:xfrm>
            <a:off x="822960" y="3246120"/>
            <a:ext cx="10515600" cy="822960"/>
          </a:xfrm>
          <a:prstGeom prst="rect">
            <a:avLst/>
          </a:prstGeom>
          <a:noFill/>
        </p:spPr>
        <p:txBody>
          <a:bodyPr wrap="square" lIns="36576" rIns="36576">
            <a:spAutoFit/>
          </a:bodyPr>
          <a:lstStyle/>
          <a:p>
            <a:pPr>
              <a:spcAft>
                <a:spcPts val="600"/>
              </a:spcAft>
              <a:defRPr sz="2400" b="0">
                <a:solidFill>
                  <a:srgbClr val="4FA3FF"/>
                </a:solidFill>
                <a:latin typeface="Segoe UI"/>
              </a:defRPr>
            </a:pPr>
            <a:r>
              <a:t>Fixed-Confidence Attribution with Automata-Aware Sequential Replay (AFCR)</a:t>
            </a:r>
          </a:p>
        </p:txBody>
      </p:sp>
      <p:sp>
        <p:nvSpPr>
          <p:cNvPr id="6" name="TextBox 5"/>
          <p:cNvSpPr txBox="1"/>
          <p:nvPr/>
        </p:nvSpPr>
        <p:spPr>
          <a:xfrm>
            <a:off x="822960" y="4297680"/>
            <a:ext cx="10515600" cy="457200"/>
          </a:xfrm>
          <a:prstGeom prst="rect">
            <a:avLst/>
          </a:prstGeom>
          <a:noFill/>
        </p:spPr>
        <p:txBody>
          <a:bodyPr wrap="square" lIns="36576" rIns="36576">
            <a:spAutoFit/>
          </a:bodyPr>
          <a:lstStyle/>
          <a:p>
            <a:pPr>
              <a:spcAft>
                <a:spcPts val="600"/>
              </a:spcAft>
              <a:defRPr sz="1800" b="0">
                <a:solidFill>
                  <a:srgbClr val="E8EDF7"/>
                </a:solidFill>
                <a:latin typeface="Segoe UI"/>
              </a:defRPr>
            </a:pPr>
            <a:r>
              <a:t>Kushagra Yogendra Bansal (25bde0080)  ·  Kartik Kesharwani (25bde0053)</a:t>
            </a:r>
          </a:p>
        </p:txBody>
      </p:sp>
      <p:sp>
        <p:nvSpPr>
          <p:cNvPr id="7" name="TextBox 6"/>
          <p:cNvSpPr txBox="1"/>
          <p:nvPr/>
        </p:nvSpPr>
        <p:spPr>
          <a:xfrm>
            <a:off x="822960" y="4892040"/>
            <a:ext cx="10515600" cy="731520"/>
          </a:xfrm>
          <a:prstGeom prst="rect">
            <a:avLst/>
          </a:prstGeom>
          <a:noFill/>
        </p:spPr>
        <p:txBody>
          <a:bodyPr wrap="square" lIns="36576" rIns="36576">
            <a:spAutoFit/>
          </a:bodyPr>
          <a:lstStyle/>
          <a:p>
            <a:pPr>
              <a:spcAft>
                <a:spcPts val="200"/>
              </a:spcAft>
              <a:defRPr sz="1300" b="0">
                <a:solidFill>
                  <a:srgbClr val="96A3BE"/>
                </a:solidFill>
                <a:latin typeface="Segoe UI"/>
              </a:defRPr>
            </a:pPr>
            <a:r>
              <a:t>Working title: “sample-optimal” names the research objective. We prove δ-correctness and a sample-complexity upper bound;</a:t>
            </a:r>
          </a:p>
          <a:p>
            <a:pPr>
              <a:spcAft>
                <a:spcPts val="200"/>
              </a:spcAft>
              <a:defRPr sz="1300" b="0">
                <a:solidFill>
                  <a:srgbClr val="96A3BE"/>
                </a:solidFill>
                <a:latin typeface="Segoe UI"/>
              </a:defRPr>
            </a:pPr>
            <a:r>
              <a:t>we do not claim minimax optimality. All experiments in this deck are synthetic.</a:t>
            </a:r>
          </a:p>
        </p:txBody>
      </p:sp>
      <p:sp>
        <p:nvSpPr>
          <p:cNvPr id="8" name="Rounded Rectangle 7"/>
          <p:cNvSpPr/>
          <p:nvPr/>
        </p:nvSpPr>
        <p:spPr>
          <a:xfrm>
            <a:off x="822960" y="589788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9" name="Rounded Rectangle 8"/>
          <p:cNvSpPr/>
          <p:nvPr/>
        </p:nvSpPr>
        <p:spPr>
          <a:xfrm>
            <a:off x="2052828" y="589788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10" name="Rounded Rectangle 9"/>
          <p:cNvSpPr/>
          <p:nvPr/>
        </p:nvSpPr>
        <p:spPr>
          <a:xfrm>
            <a:off x="3022092" y="5897880"/>
            <a:ext cx="918972" cy="274320"/>
          </a:xfrm>
          <a:prstGeom prst="roundRect">
            <a:avLst>
              <a:gd name="adj" fmla="val 50000"/>
            </a:avLst>
          </a:prstGeom>
          <a:solidFill>
            <a:srgbClr val="0B101C"/>
          </a:solidFill>
          <a:ln w="12700">
            <a:solidFill>
              <a:srgbClr val="FF637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F6378"/>
                </a:solidFill>
                <a:latin typeface="Consolas"/>
              </a:defRPr>
            </a:pPr>
            <a:r>
              <a:t>pending</a:t>
            </a:r>
          </a:p>
        </p:txBody>
      </p:sp>
      <p:sp>
        <p:nvSpPr>
          <p:cNvPr id="11" name="TextBox 10"/>
          <p:cNvSpPr txBox="1"/>
          <p:nvPr/>
        </p:nvSpPr>
        <p:spPr>
          <a:xfrm>
            <a:off x="4169663" y="5879592"/>
            <a:ext cx="6400800" cy="365760"/>
          </a:xfrm>
          <a:prstGeom prst="rect">
            <a:avLst/>
          </a:prstGeom>
          <a:noFill/>
        </p:spPr>
        <p:txBody>
          <a:bodyPr wrap="square" lIns="36576" rIns="36576">
            <a:spAutoFit/>
          </a:bodyPr>
          <a:lstStyle/>
          <a:p>
            <a:pPr>
              <a:spcAft>
                <a:spcPts val="600"/>
              </a:spcAft>
              <a:defRPr sz="1100" b="0">
                <a:solidFill>
                  <a:srgbClr val="96A3BE"/>
                </a:solidFill>
                <a:latin typeface="Segoe UI"/>
              </a:defRPr>
            </a:pPr>
            <a:r>
              <a:t>pending = ALFWorld / HotpotQA runs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MOTIVATION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Why agent failures are hard to diagnose</a:t>
            </a:r>
          </a:p>
        </p:txBody>
      </p:sp>
      <p:sp>
        <p:nvSpPr>
          <p:cNvPr id="5" name="Rounded Rectangle 4"/>
          <p:cNvSpPr/>
          <p:nvPr/>
        </p:nvSpPr>
        <p:spPr>
          <a:xfrm>
            <a:off x="10524744" y="365760"/>
            <a:ext cx="1179576" cy="274320"/>
          </a:xfrm>
          <a:prstGeom prst="roundRect">
            <a:avLst>
              <a:gd name="adj" fmla="val 50000"/>
            </a:avLst>
          </a:prstGeom>
          <a:solidFill>
            <a:srgbClr val="0B101C"/>
          </a:solidFill>
          <a:ln w="12700">
            <a:solidFill>
              <a:srgbClr val="4FA3F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4FA3FF"/>
                </a:solidFill>
                <a:latin typeface="Consolas"/>
              </a:defRPr>
            </a:pPr>
            <a:r>
              <a:t>literature</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a:t>
            </a:r>
          </a:p>
        </p:txBody>
      </p:sp>
      <p:sp>
        <p:nvSpPr>
          <p:cNvPr id="8" name="Rounded Rectangle 7"/>
          <p:cNvSpPr/>
          <p:nvPr/>
        </p:nvSpPr>
        <p:spPr>
          <a:xfrm>
            <a:off x="548640" y="1554480"/>
            <a:ext cx="3520440" cy="26517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737360"/>
            <a:ext cx="3108960" cy="457200"/>
          </a:xfrm>
          <a:prstGeom prst="rect">
            <a:avLst/>
          </a:prstGeom>
          <a:noFill/>
        </p:spPr>
        <p:txBody>
          <a:bodyPr wrap="square" lIns="36576" rIns="36576">
            <a:spAutoFit/>
          </a:bodyPr>
          <a:lstStyle/>
          <a:p>
            <a:pPr>
              <a:spcAft>
                <a:spcPts val="600"/>
              </a:spcAft>
              <a:defRPr sz="2000" b="1">
                <a:solidFill>
                  <a:srgbClr val="4FA3FF"/>
                </a:solidFill>
                <a:latin typeface="Segoe UI Semibold"/>
              </a:defRPr>
            </a:pPr>
            <a:r>
              <a:t>Long horizons</a:t>
            </a:r>
          </a:p>
        </p:txBody>
      </p:sp>
      <p:sp>
        <p:nvSpPr>
          <p:cNvPr id="10" name="TextBox 9"/>
          <p:cNvSpPr txBox="1"/>
          <p:nvPr/>
        </p:nvSpPr>
        <p:spPr>
          <a:xfrm>
            <a:off x="777240" y="2331720"/>
            <a:ext cx="3108960" cy="1828800"/>
          </a:xfrm>
          <a:prstGeom prst="rect">
            <a:avLst/>
          </a:prstGeom>
          <a:noFill/>
        </p:spPr>
        <p:txBody>
          <a:bodyPr wrap="square" lIns="36576" rIns="36576">
            <a:spAutoFit/>
          </a:bodyPr>
          <a:lstStyle/>
          <a:p>
            <a:pPr>
              <a:spcAft>
                <a:spcPts val="600"/>
              </a:spcAft>
              <a:defRPr sz="1500" b="0">
                <a:solidFill>
                  <a:srgbClr val="E8EDF7"/>
                </a:solidFill>
                <a:latin typeface="Segoe UI"/>
              </a:defRPr>
            </a:pPr>
            <a:r>
              <a:t>Plan → search → tools → memory → answer. A single early slip can corrupt everything after it.</a:t>
            </a:r>
          </a:p>
        </p:txBody>
      </p:sp>
      <p:sp>
        <p:nvSpPr>
          <p:cNvPr id="11" name="Rounded Rectangle 10"/>
          <p:cNvSpPr/>
          <p:nvPr/>
        </p:nvSpPr>
        <p:spPr>
          <a:xfrm>
            <a:off x="4297679" y="1554480"/>
            <a:ext cx="3520440" cy="26517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79" y="1737360"/>
            <a:ext cx="3108960" cy="457200"/>
          </a:xfrm>
          <a:prstGeom prst="rect">
            <a:avLst/>
          </a:prstGeom>
          <a:noFill/>
        </p:spPr>
        <p:txBody>
          <a:bodyPr wrap="square" lIns="36576" rIns="36576">
            <a:spAutoFit/>
          </a:bodyPr>
          <a:lstStyle/>
          <a:p>
            <a:pPr>
              <a:spcAft>
                <a:spcPts val="600"/>
              </a:spcAft>
              <a:defRPr sz="2000" b="1">
                <a:solidFill>
                  <a:srgbClr val="F6B73C"/>
                </a:solidFill>
                <a:latin typeface="Segoe UI Semibold"/>
              </a:defRPr>
            </a:pPr>
            <a:r>
              <a:t>Symptom ≠ cause</a:t>
            </a:r>
          </a:p>
        </p:txBody>
      </p:sp>
      <p:sp>
        <p:nvSpPr>
          <p:cNvPr id="13" name="TextBox 12"/>
          <p:cNvSpPr txBox="1"/>
          <p:nvPr/>
        </p:nvSpPr>
        <p:spPr>
          <a:xfrm>
            <a:off x="4526279" y="2331720"/>
            <a:ext cx="3108960" cy="1828800"/>
          </a:xfrm>
          <a:prstGeom prst="rect">
            <a:avLst/>
          </a:prstGeom>
          <a:noFill/>
        </p:spPr>
        <p:txBody>
          <a:bodyPr wrap="square" lIns="36576" rIns="36576">
            <a:spAutoFit/>
          </a:bodyPr>
          <a:lstStyle/>
          <a:p>
            <a:pPr>
              <a:spcAft>
                <a:spcPts val="600"/>
              </a:spcAft>
              <a:defRPr sz="1500" b="0">
                <a:solidFill>
                  <a:srgbClr val="E8EDF7"/>
                </a:solidFill>
                <a:latin typeface="Segoe UI"/>
              </a:defRPr>
            </a:pPr>
            <a:r>
              <a:t>The step that executes the harmful action is often not the step that decided on it.</a:t>
            </a:r>
          </a:p>
        </p:txBody>
      </p:sp>
      <p:sp>
        <p:nvSpPr>
          <p:cNvPr id="14" name="Rounded Rectangle 13"/>
          <p:cNvSpPr/>
          <p:nvPr/>
        </p:nvSpPr>
        <p:spPr>
          <a:xfrm>
            <a:off x="8046719" y="1554480"/>
            <a:ext cx="3520440" cy="26517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19" y="1737360"/>
            <a:ext cx="3108960" cy="457200"/>
          </a:xfrm>
          <a:prstGeom prst="rect">
            <a:avLst/>
          </a:prstGeom>
          <a:noFill/>
        </p:spPr>
        <p:txBody>
          <a:bodyPr wrap="square" lIns="36576" rIns="36576">
            <a:spAutoFit/>
          </a:bodyPr>
          <a:lstStyle/>
          <a:p>
            <a:pPr>
              <a:spcAft>
                <a:spcPts val="600"/>
              </a:spcAft>
              <a:defRPr sz="2000" b="1">
                <a:solidFill>
                  <a:srgbClr val="FF6378"/>
                </a:solidFill>
                <a:latin typeface="Segoe UI Semibold"/>
              </a:defRPr>
            </a:pPr>
            <a:r>
              <a:t>Judges are weak</a:t>
            </a:r>
          </a:p>
        </p:txBody>
      </p:sp>
      <p:sp>
        <p:nvSpPr>
          <p:cNvPr id="16" name="TextBox 15"/>
          <p:cNvSpPr txBox="1"/>
          <p:nvPr/>
        </p:nvSpPr>
        <p:spPr>
          <a:xfrm>
            <a:off x="8275319" y="2331720"/>
            <a:ext cx="3108960" cy="1828800"/>
          </a:xfrm>
          <a:prstGeom prst="rect">
            <a:avLst/>
          </a:prstGeom>
          <a:noFill/>
        </p:spPr>
        <p:txBody>
          <a:bodyPr wrap="square" lIns="36576" rIns="36576">
            <a:spAutoFit/>
          </a:bodyPr>
          <a:lstStyle/>
          <a:p>
            <a:pPr>
              <a:spcAft>
                <a:spcPts val="600"/>
              </a:spcAft>
              <a:defRPr sz="1500" b="0">
                <a:solidFill>
                  <a:srgbClr val="E8EDF7"/>
                </a:solidFill>
                <a:latin typeface="Segoe UI"/>
              </a:defRPr>
            </a:pPr>
            <a:r>
              <a:t>LLM-judge step attribution is correlational; best step-level accuracy ≈ 14 % on Who&amp;When (Zhang et al., 2025).</a:t>
            </a:r>
          </a:p>
        </p:txBody>
      </p:sp>
      <p:sp>
        <p:nvSpPr>
          <p:cNvPr id="17" name="Rounded Rectangle 16"/>
          <p:cNvSpPr/>
          <p:nvPr/>
        </p:nvSpPr>
        <p:spPr>
          <a:xfrm>
            <a:off x="548640" y="4526280"/>
            <a:ext cx="11064240" cy="1463040"/>
          </a:xfrm>
          <a:prstGeom prst="roundRect">
            <a:avLst>
              <a:gd name="adj" fmla="val 4000"/>
            </a:avLst>
          </a:prstGeom>
          <a:solidFill>
            <a:srgbClr val="1228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663440"/>
            <a:ext cx="10515600" cy="1280160"/>
          </a:xfrm>
          <a:prstGeom prst="rect">
            <a:avLst/>
          </a:prstGeom>
          <a:noFill/>
        </p:spPr>
        <p:txBody>
          <a:bodyPr wrap="square" lIns="36576" rIns="36576">
            <a:spAutoFit/>
          </a:bodyPr>
          <a:lstStyle/>
          <a:p>
            <a:pPr>
              <a:spcAft>
                <a:spcPts val="800"/>
              </a:spcAft>
              <a:defRPr sz="1700" b="0">
                <a:solidFill>
                  <a:srgbClr val="E8EDF7"/>
                </a:solidFill>
                <a:latin typeface="Segoe UI"/>
              </a:defRPr>
            </a:pPr>
            <a:r>
              <a:t>Our question is interventional, not correlational:</a:t>
            </a:r>
          </a:p>
          <a:p>
            <a:pPr>
              <a:spcAft>
                <a:spcPts val="800"/>
              </a:spcAft>
              <a:defRPr sz="1700" b="0">
                <a:solidFill>
                  <a:srgbClr val="E8EDF7"/>
                </a:solidFill>
                <a:latin typeface="Segoe UI"/>
              </a:defRPr>
            </a:pPr>
            <a:r>
              <a:t>“If this step had been repaired, how likely is the run to succeed?”  — and how many replays do we need before we may say so with confidence 1 − δ?</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PROBLEM</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A failed trajectory with a hidden cause</a:t>
            </a:r>
          </a:p>
        </p:txBody>
      </p:sp>
      <p:sp>
        <p:nvSpPr>
          <p:cNvPr id="5" name="Rounded Rectangle 4"/>
          <p:cNvSpPr/>
          <p:nvPr/>
        </p:nvSpPr>
        <p:spPr>
          <a:xfrm>
            <a:off x="1061161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3</a:t>
            </a:r>
          </a:p>
        </p:txBody>
      </p:sp>
      <p:pic>
        <p:nvPicPr>
          <p:cNvPr id="8" name="Picture 7" descr="fig02_failed_trajectory.png"/>
          <p:cNvPicPr>
            <a:picLocks noChangeAspect="1"/>
          </p:cNvPicPr>
          <p:nvPr/>
        </p:nvPicPr>
        <p:blipFill>
          <a:blip r:embed="rId3"/>
          <a:stretch>
            <a:fillRect/>
          </a:stretch>
        </p:blipFill>
        <p:spPr>
          <a:xfrm>
            <a:off x="457200" y="1909303"/>
            <a:ext cx="7132319" cy="3862352"/>
          </a:xfrm>
          <a:prstGeom prst="rect">
            <a:avLst/>
          </a:prstGeom>
        </p:spPr>
      </p:pic>
      <p:sp>
        <p:nvSpPr>
          <p:cNvPr id="9" name="Rounded Rectangle 8"/>
          <p:cNvSpPr/>
          <p:nvPr/>
        </p:nvSpPr>
        <p:spPr>
          <a:xfrm>
            <a:off x="7818120" y="1463040"/>
            <a:ext cx="3886200" cy="46634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1600200"/>
            <a:ext cx="347472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What the figure shows</a:t>
            </a:r>
          </a:p>
        </p:txBody>
      </p:sp>
      <p:sp>
        <p:nvSpPr>
          <p:cNvPr id="11" name="TextBox 10"/>
          <p:cNvSpPr txBox="1"/>
          <p:nvPr/>
        </p:nvSpPr>
        <p:spPr>
          <a:xfrm>
            <a:off x="8046720" y="2057400"/>
            <a:ext cx="3474720" cy="3931920"/>
          </a:xfrm>
          <a:prstGeom prst="rect">
            <a:avLst/>
          </a:prstGeom>
          <a:noFill/>
        </p:spPr>
        <p:txBody>
          <a:bodyPr wrap="square" lIns="36576" rIns="36576">
            <a:spAutoFit/>
          </a:bodyPr>
          <a:lstStyle/>
          <a:p>
            <a:pPr>
              <a:spcAft>
                <a:spcPts val="600"/>
              </a:spcAft>
              <a:defRPr sz="1400" b="0">
                <a:solidFill>
                  <a:srgbClr val="E8EDF7"/>
                </a:solidFill>
                <a:latin typeface="Segoe UI"/>
              </a:defRPr>
            </a:pPr>
            <a:r>
              <a:t>•  Exact μ_t for one failed run (no sampling noise)</a:t>
            </a:r>
          </a:p>
          <a:p>
            <a:pPr>
              <a:spcAft>
                <a:spcPts val="600"/>
              </a:spcAft>
              <a:defRPr sz="1400" b="0">
                <a:solidFill>
                  <a:srgbClr val="E8EDF7"/>
                </a:solidFill>
                <a:latin typeface="Segoe UI"/>
              </a:defRPr>
            </a:pPr>
            <a:r>
              <a:t>•  Planted fault: a wrong decision at one step</a:t>
            </a:r>
          </a:p>
          <a:p>
            <a:pPr>
              <a:spcAft>
                <a:spcPts val="600"/>
              </a:spcAft>
              <a:defRPr sz="1400" b="0">
                <a:solidFill>
                  <a:srgbClr val="E8EDF7"/>
                </a:solidFill>
                <a:latin typeface="Segoe UI"/>
              </a:defRPr>
            </a:pPr>
            <a:r>
              <a:t>•  Earlier steps look “useful” only because a re-run re-rolls the fault</a:t>
            </a:r>
          </a:p>
          <a:p>
            <a:pPr>
              <a:spcAft>
                <a:spcPts val="600"/>
              </a:spcAft>
              <a:defRPr sz="1400" b="0">
                <a:solidFill>
                  <a:srgbClr val="E8EDF7"/>
                </a:solidFill>
                <a:latin typeface="Segoe UI"/>
              </a:defRPr>
            </a:pPr>
            <a:r>
              <a:t>•  After the fault the state is corrupted and μ_t drops</a:t>
            </a:r>
          </a:p>
          <a:p>
            <a:pPr>
              <a:spcAft>
                <a:spcPts val="600"/>
              </a:spcAft>
              <a:defRPr sz="1400" b="0">
                <a:solidFill>
                  <a:srgbClr val="E8EDF7"/>
                </a:solidFill>
                <a:latin typeface="Segoe UI"/>
              </a:defRPr>
            </a:pPr>
            <a:r>
              <a:t>•  Culprit := argmax_t μ_t, with ties and near-ties made explicit via ε</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PROBLEM</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Why last-action or judge-based debugging is not enough</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4</a:t>
            </a:r>
          </a:p>
        </p:txBody>
      </p:sp>
      <p:graphicFrame>
        <p:nvGraphicFramePr>
          <p:cNvPr id="8" name="Table 7"/>
          <p:cNvGraphicFramePr>
            <a:graphicFrameLocks noGrp="1"/>
          </p:cNvGraphicFramePr>
          <p:nvPr/>
        </p:nvGraphicFramePr>
        <p:xfrm>
          <a:off x="548640" y="1554480"/>
          <a:ext cx="11064240" cy="3401568"/>
        </p:xfrm>
        <a:graphic>
          <a:graphicData uri="http://schemas.openxmlformats.org/drawingml/2006/table">
            <a:tbl>
              <a:tblPr firstRow="0" bandRow="0">
                <a:tableStyleId>{5C22544A-7EE6-4342-B048-85BDC9FD1C3A}</a:tableStyleId>
              </a:tblPr>
              <a:tblGrid>
                <a:gridCol w="3017520"/>
                <a:gridCol w="3840480"/>
                <a:gridCol w="4206240"/>
              </a:tblGrid>
              <a:tr h="566928">
                <a:tc>
                  <a:txBody>
                    <a:bodyPr/>
                    <a:lstStyle/>
                    <a:p>
                      <a:pPr algn="l">
                        <a:defRPr sz="1400" b="1">
                          <a:solidFill>
                            <a:srgbClr val="2DD4E0"/>
                          </a:solidFill>
                          <a:latin typeface="Segoe UI"/>
                        </a:defRPr>
                      </a:pPr>
                      <a:r>
                        <a:t>Approach</a:t>
                      </a:r>
                    </a:p>
                  </a:txBody>
                  <a:tcPr marL="64008" marR="64008" marT="27432" marB="27432" anchor="ctr">
                    <a:solidFill>
                      <a:srgbClr val="1E2A42"/>
                    </a:solidFill>
                  </a:tcPr>
                </a:tc>
                <a:tc>
                  <a:txBody>
                    <a:bodyPr/>
                    <a:lstStyle/>
                    <a:p>
                      <a:pPr algn="ctr">
                        <a:defRPr sz="1400" b="1">
                          <a:solidFill>
                            <a:srgbClr val="2DD4E0"/>
                          </a:solidFill>
                          <a:latin typeface="Segoe UI"/>
                        </a:defRPr>
                      </a:pPr>
                      <a:r>
                        <a:t>What it answers</a:t>
                      </a:r>
                    </a:p>
                  </a:txBody>
                  <a:tcPr marL="64008" marR="64008" marT="27432" marB="27432" anchor="ctr">
                    <a:solidFill>
                      <a:srgbClr val="1E2A42"/>
                    </a:solidFill>
                  </a:tcPr>
                </a:tc>
                <a:tc>
                  <a:txBody>
                    <a:bodyPr/>
                    <a:lstStyle/>
                    <a:p>
                      <a:pPr algn="ctr">
                        <a:defRPr sz="1400" b="1">
                          <a:solidFill>
                            <a:srgbClr val="2DD4E0"/>
                          </a:solidFill>
                          <a:latin typeface="Segoe UI"/>
                        </a:defRPr>
                      </a:pPr>
                      <a:r>
                        <a:t>Gap for our question</a:t>
                      </a:r>
                    </a:p>
                  </a:txBody>
                  <a:tcPr marL="64008" marR="64008" marT="27432" marB="27432" anchor="ctr">
                    <a:solidFill>
                      <a:srgbClr val="1E2A42"/>
                    </a:solidFill>
                  </a:tcPr>
                </a:tc>
              </a:tr>
              <a:tr h="566928">
                <a:tc>
                  <a:txBody>
                    <a:bodyPr/>
                    <a:lstStyle/>
                    <a:p>
                      <a:pPr algn="l">
                        <a:defRPr sz="1400" b="0">
                          <a:solidFill>
                            <a:srgbClr val="E8EDF7"/>
                          </a:solidFill>
                          <a:latin typeface="Segoe UI"/>
                        </a:defRPr>
                      </a:pPr>
                      <a:r>
                        <a:t>Last action</a:t>
                      </a:r>
                    </a:p>
                  </a:txBody>
                  <a:tcPr marL="64008" marR="64008" marT="27432" marB="27432" anchor="ctr">
                    <a:solidFill>
                      <a:srgbClr val="151D2E"/>
                    </a:solidFill>
                  </a:tcPr>
                </a:tc>
                <a:tc>
                  <a:txBody>
                    <a:bodyPr/>
                    <a:lstStyle/>
                    <a:p>
                      <a:pPr algn="ctr">
                        <a:defRPr sz="1400" b="0">
                          <a:solidFill>
                            <a:srgbClr val="E8EDF7"/>
                          </a:solidFill>
                          <a:latin typeface="Segoe UI"/>
                        </a:defRPr>
                      </a:pPr>
                      <a:r>
                        <a:t>which step executed the failure</a:t>
                      </a:r>
                    </a:p>
                  </a:txBody>
                  <a:tcPr marL="64008" marR="64008" marT="27432" marB="27432" anchor="ctr">
                    <a:solidFill>
                      <a:srgbClr val="151D2E"/>
                    </a:solidFill>
                  </a:tcPr>
                </a:tc>
                <a:tc>
                  <a:txBody>
                    <a:bodyPr/>
                    <a:lstStyle/>
                    <a:p>
                      <a:pPr algn="ctr">
                        <a:defRPr sz="1400" b="0">
                          <a:solidFill>
                            <a:srgbClr val="E8EDF7"/>
                          </a:solidFill>
                          <a:latin typeface="Segoe UI"/>
                        </a:defRPr>
                      </a:pPr>
                      <a:r>
                        <a:t>symptom, not decision</a:t>
                      </a:r>
                    </a:p>
                  </a:txBody>
                  <a:tcPr marL="64008" marR="64008" marT="27432" marB="27432" anchor="ctr">
                    <a:solidFill>
                      <a:srgbClr val="151D2E"/>
                    </a:solidFill>
                  </a:tcPr>
                </a:tc>
              </a:tr>
              <a:tr h="566928">
                <a:tc>
                  <a:txBody>
                    <a:bodyPr/>
                    <a:lstStyle/>
                    <a:p>
                      <a:pPr algn="l">
                        <a:defRPr sz="1400" b="0">
                          <a:solidFill>
                            <a:srgbClr val="E8EDF7"/>
                          </a:solidFill>
                          <a:latin typeface="Segoe UI"/>
                        </a:defRPr>
                      </a:pPr>
                      <a:r>
                        <a:t>LLM judge on the log</a:t>
                      </a:r>
                    </a:p>
                  </a:txBody>
                  <a:tcPr marL="64008" marR="64008" marT="27432" marB="27432" anchor="ctr">
                    <a:solidFill>
                      <a:srgbClr val="151D2E"/>
                    </a:solidFill>
                  </a:tcPr>
                </a:tc>
                <a:tc>
                  <a:txBody>
                    <a:bodyPr/>
                    <a:lstStyle/>
                    <a:p>
                      <a:pPr algn="ctr">
                        <a:defRPr sz="1400" b="0">
                          <a:solidFill>
                            <a:srgbClr val="E8EDF7"/>
                          </a:solidFill>
                          <a:latin typeface="Segoe UI"/>
                        </a:defRPr>
                      </a:pPr>
                      <a:r>
                        <a:t>which step looks wrong</a:t>
                      </a:r>
                    </a:p>
                  </a:txBody>
                  <a:tcPr marL="64008" marR="64008" marT="27432" marB="27432" anchor="ctr">
                    <a:solidFill>
                      <a:srgbClr val="151D2E"/>
                    </a:solidFill>
                  </a:tcPr>
                </a:tc>
                <a:tc>
                  <a:txBody>
                    <a:bodyPr/>
                    <a:lstStyle/>
                    <a:p>
                      <a:pPr algn="ctr">
                        <a:defRPr sz="1400" b="0">
                          <a:solidFill>
                            <a:srgbClr val="E8EDF7"/>
                          </a:solidFill>
                          <a:latin typeface="Segoe UI"/>
                        </a:defRPr>
                      </a:pPr>
                      <a:r>
                        <a:t>correlational; ≈ 14 % best step accuracy (Who&amp;When)</a:t>
                      </a:r>
                    </a:p>
                  </a:txBody>
                  <a:tcPr marL="64008" marR="64008" marT="27432" marB="27432" anchor="ctr">
                    <a:solidFill>
                      <a:srgbClr val="151D2E"/>
                    </a:solidFill>
                  </a:tcPr>
                </a:tc>
              </a:tr>
              <a:tr h="566928">
                <a:tc>
                  <a:txBody>
                    <a:bodyPr/>
                    <a:lstStyle/>
                    <a:p>
                      <a:pPr algn="l">
                        <a:defRPr sz="1400" b="0">
                          <a:solidFill>
                            <a:srgbClr val="E8EDF7"/>
                          </a:solidFill>
                          <a:latin typeface="Segoe UI"/>
                        </a:defRPr>
                      </a:pPr>
                      <a:r>
                        <a:t>Fixed-K counterfactual replay</a:t>
                      </a:r>
                    </a:p>
                  </a:txBody>
                  <a:tcPr marL="64008" marR="64008" marT="27432" marB="27432" anchor="ctr">
                    <a:solidFill>
                      <a:srgbClr val="151D2E"/>
                    </a:solidFill>
                  </a:tcPr>
                </a:tc>
                <a:tc>
                  <a:txBody>
                    <a:bodyPr/>
                    <a:lstStyle/>
                    <a:p>
                      <a:pPr algn="ctr">
                        <a:defRPr sz="1400" b="0">
                          <a:solidFill>
                            <a:srgbClr val="E8EDF7"/>
                          </a:solidFill>
                          <a:latin typeface="Segoe UI"/>
                        </a:defRPr>
                      </a:pPr>
                      <a:r>
                        <a:t>effect of intervening at each step</a:t>
                      </a:r>
                    </a:p>
                  </a:txBody>
                  <a:tcPr marL="64008" marR="64008" marT="27432" marB="27432" anchor="ctr">
                    <a:solidFill>
                      <a:srgbClr val="151D2E"/>
                    </a:solidFill>
                  </a:tcPr>
                </a:tc>
                <a:tc>
                  <a:txBody>
                    <a:bodyPr/>
                    <a:lstStyle/>
                    <a:p>
                      <a:pPr algn="ctr">
                        <a:defRPr sz="1400" b="0">
                          <a:solidFill>
                            <a:srgbClr val="E8EDF7"/>
                          </a:solidFill>
                          <a:latin typeface="Segoe UI"/>
                        </a:defRPr>
                      </a:pPr>
                      <a:r>
                        <a:t>K chosen in advance; no confidence statement; no stopping rule</a:t>
                      </a:r>
                    </a:p>
                  </a:txBody>
                  <a:tcPr marL="64008" marR="64008" marT="27432" marB="27432" anchor="ctr">
                    <a:solidFill>
                      <a:srgbClr val="151D2E"/>
                    </a:solidFill>
                  </a:tcPr>
                </a:tc>
              </a:tr>
              <a:tr h="566928">
                <a:tc>
                  <a:txBody>
                    <a:bodyPr/>
                    <a:lstStyle/>
                    <a:p>
                      <a:pPr algn="l">
                        <a:defRPr sz="1400" b="0">
                          <a:solidFill>
                            <a:srgbClr val="E8EDF7"/>
                          </a:solidFill>
                          <a:latin typeface="Segoe UI"/>
                        </a:defRPr>
                      </a:pPr>
                      <a:r>
                        <a:t>Oracle-substitution replay</a:t>
                      </a:r>
                    </a:p>
                  </a:txBody>
                  <a:tcPr marL="64008" marR="64008" marT="27432" marB="27432" anchor="ctr">
                    <a:solidFill>
                      <a:srgbClr val="151D2E"/>
                    </a:solidFill>
                  </a:tcPr>
                </a:tc>
                <a:tc>
                  <a:txBody>
                    <a:bodyPr/>
                    <a:lstStyle/>
                    <a:p>
                      <a:pPr algn="ctr">
                        <a:defRPr sz="1400" b="0">
                          <a:solidFill>
                            <a:srgbClr val="E8EDF7"/>
                          </a:solidFill>
                          <a:latin typeface="Segoe UI"/>
                        </a:defRPr>
                      </a:pPr>
                      <a:r>
                        <a:t>does a gold action flip the outcome</a:t>
                      </a:r>
                    </a:p>
                  </a:txBody>
                  <a:tcPr marL="64008" marR="64008" marT="27432" marB="27432" anchor="ctr">
                    <a:solidFill>
                      <a:srgbClr val="151D2E"/>
                    </a:solidFill>
                  </a:tcPr>
                </a:tc>
                <a:tc>
                  <a:txBody>
                    <a:bodyPr/>
                    <a:lstStyle/>
                    <a:p>
                      <a:pPr algn="ctr">
                        <a:defRPr sz="1400" b="0">
                          <a:solidFill>
                            <a:srgbClr val="E8EDF7"/>
                          </a:solidFill>
                          <a:latin typeface="Segoe UI"/>
                        </a:defRPr>
                      </a:pPr>
                      <a:r>
                        <a:t>needs gold actions; one sample; no budget view</a:t>
                      </a:r>
                    </a:p>
                  </a:txBody>
                  <a:tcPr marL="64008" marR="64008" marT="27432" marB="27432" anchor="ctr">
                    <a:solidFill>
                      <a:srgbClr val="151D2E"/>
                    </a:solidFill>
                  </a:tcPr>
                </a:tc>
              </a:tr>
              <a:tr h="566928">
                <a:tc>
                  <a:txBody>
                    <a:bodyPr/>
                    <a:lstStyle/>
                    <a:p>
                      <a:pPr algn="l">
                        <a:defRPr sz="1400" b="0">
                          <a:solidFill>
                            <a:srgbClr val="E8EDF7"/>
                          </a:solidFill>
                          <a:latin typeface="Segoe UI"/>
                        </a:defRPr>
                      </a:pPr>
                      <a:r>
                        <a:t>AFCR (this work)</a:t>
                      </a:r>
                    </a:p>
                  </a:txBody>
                  <a:tcPr marL="64008" marR="64008" marT="27432" marB="27432" anchor="ctr">
                    <a:solidFill>
                      <a:srgbClr val="1A263C"/>
                    </a:solidFill>
                  </a:tcPr>
                </a:tc>
                <a:tc>
                  <a:txBody>
                    <a:bodyPr/>
                    <a:lstStyle/>
                    <a:p>
                      <a:pPr algn="ctr">
                        <a:defRPr sz="1400" b="0">
                          <a:solidFill>
                            <a:srgbClr val="E8EDF7"/>
                          </a:solidFill>
                          <a:latin typeface="Segoe UI"/>
                        </a:defRPr>
                      </a:pPr>
                      <a:r>
                        <a:t>which step is the best repair, certified at confidence 1 − δ</a:t>
                      </a:r>
                    </a:p>
                  </a:txBody>
                  <a:tcPr marL="64008" marR="64008" marT="27432" marB="27432" anchor="ctr">
                    <a:solidFill>
                      <a:srgbClr val="1A263C"/>
                    </a:solidFill>
                  </a:tcPr>
                </a:tc>
                <a:tc>
                  <a:txBody>
                    <a:bodyPr/>
                    <a:lstStyle/>
                    <a:p>
                      <a:pPr algn="ctr">
                        <a:defRPr sz="1400" b="0">
                          <a:solidFill>
                            <a:srgbClr val="E8EDF7"/>
                          </a:solidFill>
                          <a:latin typeface="Segoe UI"/>
                        </a:defRPr>
                      </a:pPr>
                      <a:r>
                        <a:t>adaptive budget, valid stopping, abstention when unsure</a:t>
                      </a:r>
                    </a:p>
                  </a:txBody>
                  <a:tcPr marL="64008" marR="64008" marT="27432" marB="27432" anchor="ctr">
                    <a:solidFill>
                      <a:srgbClr val="1A263C"/>
                    </a:solidFill>
                  </a:tcPr>
                </a:tc>
              </a:tr>
            </a:tbl>
          </a:graphicData>
        </a:graphic>
      </p:graphicFrame>
      <p:sp>
        <p:nvSpPr>
          <p:cNvPr id="9" name="TextBox 8"/>
          <p:cNvSpPr txBox="1"/>
          <p:nvPr/>
        </p:nvSpPr>
        <p:spPr>
          <a:xfrm>
            <a:off x="548640" y="5212080"/>
            <a:ext cx="11064240" cy="1005840"/>
          </a:xfrm>
          <a:prstGeom prst="rect">
            <a:avLst/>
          </a:prstGeom>
          <a:noFill/>
        </p:spPr>
        <p:txBody>
          <a:bodyPr wrap="square" lIns="36576" rIns="36576">
            <a:spAutoFit/>
          </a:bodyPr>
          <a:lstStyle/>
          <a:p>
            <a:pPr>
              <a:spcAft>
                <a:spcPts val="600"/>
              </a:spcAft>
              <a:defRPr sz="1500" b="0">
                <a:solidFill>
                  <a:srgbClr val="96A3BE"/>
                </a:solidFill>
                <a:latin typeface="Segoe UI"/>
              </a:defRPr>
            </a:pPr>
            <a:r>
              <a:t>We never claim that replay-based attribution is new: the contribution is the sequential, fixed-confidence treatment of the replay budget (see related-work matrix, next).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RELATED WORK</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Related work: what exists and what does not</a:t>
            </a:r>
          </a:p>
        </p:txBody>
      </p:sp>
      <p:sp>
        <p:nvSpPr>
          <p:cNvPr id="5" name="Rounded Rectangle 4"/>
          <p:cNvSpPr/>
          <p:nvPr/>
        </p:nvSpPr>
        <p:spPr>
          <a:xfrm>
            <a:off x="10524744" y="365760"/>
            <a:ext cx="1179576" cy="274320"/>
          </a:xfrm>
          <a:prstGeom prst="roundRect">
            <a:avLst>
              <a:gd name="adj" fmla="val 50000"/>
            </a:avLst>
          </a:prstGeom>
          <a:solidFill>
            <a:srgbClr val="0B101C"/>
          </a:solidFill>
          <a:ln w="12700">
            <a:solidFill>
              <a:srgbClr val="4FA3FF"/>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4FA3FF"/>
                </a:solidFill>
                <a:latin typeface="Consolas"/>
              </a:defRPr>
            </a:pPr>
            <a:r>
              <a:t>literature</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5</a:t>
            </a:r>
          </a:p>
        </p:txBody>
      </p:sp>
      <p:graphicFrame>
        <p:nvGraphicFramePr>
          <p:cNvPr id="8" name="Table 7"/>
          <p:cNvGraphicFramePr>
            <a:graphicFrameLocks noGrp="1"/>
          </p:cNvGraphicFramePr>
          <p:nvPr/>
        </p:nvGraphicFramePr>
        <p:xfrm>
          <a:off x="548640" y="1463040"/>
          <a:ext cx="11064240" cy="3803904"/>
        </p:xfrm>
        <a:graphic>
          <a:graphicData uri="http://schemas.openxmlformats.org/drawingml/2006/table">
            <a:tbl>
              <a:tblPr firstRow="0" bandRow="0">
                <a:tableStyleId>{5C22544A-7EE6-4342-B048-85BDC9FD1C3A}</a:tableStyleId>
              </a:tblPr>
              <a:tblGrid>
                <a:gridCol w="2926080"/>
                <a:gridCol w="1188720"/>
                <a:gridCol w="914400"/>
                <a:gridCol w="914400"/>
                <a:gridCol w="1005840"/>
                <a:gridCol w="1005840"/>
                <a:gridCol w="1005840"/>
                <a:gridCol w="1005840"/>
                <a:gridCol w="1097280"/>
              </a:tblGrid>
              <a:tr h="475488">
                <a:tc>
                  <a:txBody>
                    <a:bodyPr/>
                    <a:lstStyle/>
                    <a:p>
                      <a:pPr algn="l">
                        <a:defRPr sz="1300" b="1">
                          <a:solidFill>
                            <a:srgbClr val="2DD4E0"/>
                          </a:solidFill>
                          <a:latin typeface="Segoe UI"/>
                        </a:defRPr>
                      </a:pPr>
                      <a:r>
                        <a:t>Work</a:t>
                      </a:r>
                    </a:p>
                  </a:txBody>
                  <a:tcPr marL="64008" marR="64008" marT="27432" marB="27432" anchor="ctr">
                    <a:solidFill>
                      <a:srgbClr val="1E2A42"/>
                    </a:solidFill>
                  </a:tcPr>
                </a:tc>
                <a:tc>
                  <a:txBody>
                    <a:bodyPr/>
                    <a:lstStyle/>
                    <a:p>
                      <a:pPr algn="ctr">
                        <a:defRPr sz="1300" b="1">
                          <a:solidFill>
                            <a:srgbClr val="2DD4E0"/>
                          </a:solidFill>
                          <a:latin typeface="Segoe UI"/>
                        </a:defRPr>
                      </a:pPr>
                      <a:r>
                        <a:t>depth</a:t>
                      </a:r>
                    </a:p>
                  </a:txBody>
                  <a:tcPr marL="64008" marR="64008" marT="27432" marB="27432" anchor="ctr">
                    <a:solidFill>
                      <a:srgbClr val="1E2A42"/>
                    </a:solidFill>
                  </a:tcPr>
                </a:tc>
                <a:tc>
                  <a:txBody>
                    <a:bodyPr/>
                    <a:lstStyle/>
                    <a:p>
                      <a:pPr algn="ctr">
                        <a:defRPr sz="1300" b="1">
                          <a:solidFill>
                            <a:srgbClr val="2DD4E0"/>
                          </a:solidFill>
                          <a:latin typeface="Segoe UI"/>
                        </a:defRPr>
                      </a:pPr>
                      <a:r>
                        <a:t>step</a:t>
                      </a:r>
                    </a:p>
                  </a:txBody>
                  <a:tcPr marL="64008" marR="64008" marT="27432" marB="27432" anchor="ctr">
                    <a:solidFill>
                      <a:srgbClr val="1E2A42"/>
                    </a:solidFill>
                  </a:tcPr>
                </a:tc>
                <a:tc>
                  <a:txBody>
                    <a:bodyPr/>
                    <a:lstStyle/>
                    <a:p>
                      <a:pPr algn="ctr">
                        <a:defRPr sz="1300" b="1">
                          <a:solidFill>
                            <a:srgbClr val="2DD4E0"/>
                          </a:solidFill>
                          <a:latin typeface="Segoe UI"/>
                        </a:defRPr>
                      </a:pPr>
                      <a:r>
                        <a:t>replay</a:t>
                      </a:r>
                    </a:p>
                  </a:txBody>
                  <a:tcPr marL="64008" marR="64008" marT="27432" marB="27432" anchor="ctr">
                    <a:solidFill>
                      <a:srgbClr val="1E2A42"/>
                    </a:solidFill>
                  </a:tcPr>
                </a:tc>
                <a:tc>
                  <a:txBody>
                    <a:bodyPr/>
                    <a:lstStyle/>
                    <a:p>
                      <a:pPr algn="ctr">
                        <a:defRPr sz="1300" b="1">
                          <a:solidFill>
                            <a:srgbClr val="2DD4E0"/>
                          </a:solidFill>
                          <a:latin typeface="Segoe UI"/>
                        </a:defRPr>
                      </a:pPr>
                      <a:r>
                        <a:t>adaptive</a:t>
                      </a:r>
                    </a:p>
                  </a:txBody>
                  <a:tcPr marL="64008" marR="64008" marT="27432" marB="27432" anchor="ctr">
                    <a:solidFill>
                      <a:srgbClr val="1E2A42"/>
                    </a:solidFill>
                  </a:tcPr>
                </a:tc>
                <a:tc>
                  <a:txBody>
                    <a:bodyPr/>
                    <a:lstStyle/>
                    <a:p>
                      <a:pPr algn="ctr">
                        <a:defRPr sz="1300" b="1">
                          <a:solidFill>
                            <a:srgbClr val="2DD4E0"/>
                          </a:solidFill>
                          <a:latin typeface="Segoe UI"/>
                        </a:defRPr>
                      </a:pPr>
                      <a:r>
                        <a:t>fixed-conf</a:t>
                      </a:r>
                    </a:p>
                  </a:txBody>
                  <a:tcPr marL="64008" marR="64008" marT="27432" marB="27432" anchor="ctr">
                    <a:solidFill>
                      <a:srgbClr val="1E2A42"/>
                    </a:solidFill>
                  </a:tcPr>
                </a:tc>
                <a:tc>
                  <a:txBody>
                    <a:bodyPr/>
                    <a:lstStyle/>
                    <a:p>
                      <a:pPr algn="ctr">
                        <a:defRPr sz="1300" b="1">
                          <a:solidFill>
                            <a:srgbClr val="2DD4E0"/>
                          </a:solidFill>
                          <a:latin typeface="Segoe UI"/>
                        </a:defRPr>
                      </a:pPr>
                      <a:r>
                        <a:t>δ-PAC</a:t>
                      </a:r>
                    </a:p>
                  </a:txBody>
                  <a:tcPr marL="64008" marR="64008" marT="27432" marB="27432" anchor="ctr">
                    <a:solidFill>
                      <a:srgbClr val="1E2A42"/>
                    </a:solidFill>
                  </a:tcPr>
                </a:tc>
                <a:tc>
                  <a:txBody>
                    <a:bodyPr/>
                    <a:lstStyle/>
                    <a:p>
                      <a:pPr algn="ctr">
                        <a:defRPr sz="1300" b="1">
                          <a:solidFill>
                            <a:srgbClr val="2DD4E0"/>
                          </a:solidFill>
                          <a:latin typeface="Segoe UI"/>
                        </a:defRPr>
                      </a:pPr>
                      <a:r>
                        <a:t>prefix</a:t>
                      </a:r>
                    </a:p>
                  </a:txBody>
                  <a:tcPr marL="64008" marR="64008" marT="27432" marB="27432" anchor="ctr">
                    <a:solidFill>
                      <a:srgbClr val="1E2A42"/>
                    </a:solidFill>
                  </a:tcPr>
                </a:tc>
                <a:tc>
                  <a:txBody>
                    <a:bodyPr/>
                    <a:lstStyle/>
                    <a:p>
                      <a:pPr algn="ctr">
                        <a:defRPr sz="1300" b="1">
                          <a:solidFill>
                            <a:srgbClr val="2DD4E0"/>
                          </a:solidFill>
                          <a:latin typeface="Segoe UI"/>
                        </a:defRPr>
                      </a:pPr>
                      <a:r>
                        <a:t>automata</a:t>
                      </a:r>
                    </a:p>
                  </a:txBody>
                  <a:tcPr marL="64008" marR="64008" marT="27432" marB="27432" anchor="ctr">
                    <a:solidFill>
                      <a:srgbClr val="1E2A42"/>
                    </a:solidFill>
                  </a:tcPr>
                </a:tc>
              </a:tr>
              <a:tr h="475488">
                <a:tc>
                  <a:txBody>
                    <a:bodyPr/>
                    <a:lstStyle/>
                    <a:p>
                      <a:pPr algn="l">
                        <a:defRPr sz="1300" b="0">
                          <a:solidFill>
                            <a:srgbClr val="E8EDF7"/>
                          </a:solidFill>
                          <a:latin typeface="Segoe UI"/>
                        </a:defRPr>
                      </a:pPr>
                      <a:r>
                        <a:t>Garivier-Kaufmann 2016</a:t>
                      </a:r>
                    </a:p>
                  </a:txBody>
                  <a:tcPr marL="64008" marR="64008" marT="27432" marB="27432" anchor="ctr">
                    <a:solidFill>
                      <a:srgbClr val="151D2E"/>
                    </a:solidFill>
                  </a:tcPr>
                </a:tc>
                <a:tc>
                  <a:txBody>
                    <a:bodyPr/>
                    <a:lstStyle/>
                    <a:p>
                      <a:pPr algn="ctr">
                        <a:defRPr sz="1300" b="0">
                          <a:solidFill>
                            <a:srgbClr val="E8EDF7"/>
                          </a:solidFill>
                          <a:latin typeface="Segoe UI"/>
                        </a:defRPr>
                      </a:pPr>
                      <a:r>
                        <a:t>FULL-THM</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r>
              <a:tr h="475488">
                <a:tc>
                  <a:txBody>
                    <a:bodyPr/>
                    <a:lstStyle/>
                    <a:p>
                      <a:pPr algn="l">
                        <a:defRPr sz="1300" b="0">
                          <a:solidFill>
                            <a:srgbClr val="E8EDF7"/>
                          </a:solidFill>
                          <a:latin typeface="Segoe UI"/>
                        </a:defRPr>
                      </a:pPr>
                      <a:r>
                        <a:t>Who&amp;When</a:t>
                      </a:r>
                    </a:p>
                  </a:txBody>
                  <a:tcPr marL="64008" marR="64008" marT="27432" marB="27432" anchor="ctr">
                    <a:solidFill>
                      <a:srgbClr val="151D2E"/>
                    </a:solidFill>
                  </a:tcPr>
                </a:tc>
                <a:tc>
                  <a:txBody>
                    <a:bodyPr/>
                    <a:lstStyle/>
                    <a:p>
                      <a:pPr algn="ctr">
                        <a:defRPr sz="1300" b="0">
                          <a:solidFill>
                            <a:srgbClr val="E8EDF7"/>
                          </a:solidFill>
                          <a:latin typeface="Segoe UI"/>
                        </a:defRPr>
                      </a:pPr>
                      <a:r>
                        <a:t>KEY</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r>
              <a:tr h="475488">
                <a:tc>
                  <a:txBody>
                    <a:bodyPr/>
                    <a:lstStyle/>
                    <a:p>
                      <a:pPr algn="l">
                        <a:defRPr sz="1300" b="0">
                          <a:solidFill>
                            <a:srgbClr val="E8EDF7"/>
                          </a:solidFill>
                          <a:latin typeface="Segoe UI"/>
                        </a:defRPr>
                      </a:pPr>
                      <a:r>
                        <a:t>Causal Agent Replay</a:t>
                      </a:r>
                    </a:p>
                  </a:txBody>
                  <a:tcPr marL="64008" marR="64008" marT="27432" marB="27432" anchor="ctr">
                    <a:solidFill>
                      <a:srgbClr val="151D2E"/>
                    </a:solidFill>
                  </a:tcPr>
                </a:tc>
                <a:tc>
                  <a:txBody>
                    <a:bodyPr/>
                    <a:lstStyle/>
                    <a:p>
                      <a:pPr algn="ctr">
                        <a:defRPr sz="1300" b="0">
                          <a:solidFill>
                            <a:srgbClr val="E8EDF7"/>
                          </a:solidFill>
                          <a:latin typeface="Segoe UI"/>
                        </a:defRPr>
                      </a:pPr>
                      <a:r>
                        <a:t>FULL</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r>
              <a:tr h="475488">
                <a:tc>
                  <a:txBody>
                    <a:bodyPr/>
                    <a:lstStyle/>
                    <a:p>
                      <a:pPr algn="l">
                        <a:defRPr sz="1300" b="0">
                          <a:solidFill>
                            <a:srgbClr val="E8EDF7"/>
                          </a:solidFill>
                          <a:latin typeface="Segoe UI"/>
                        </a:defRPr>
                      </a:pPr>
                      <a:r>
                        <a:t>AgenTracer</a:t>
                      </a:r>
                    </a:p>
                  </a:txBody>
                  <a:tcPr marL="64008" marR="64008" marT="27432" marB="27432" anchor="ctr">
                    <a:solidFill>
                      <a:srgbClr val="151D2E"/>
                    </a:solidFill>
                  </a:tcPr>
                </a:tc>
                <a:tc>
                  <a:txBody>
                    <a:bodyPr/>
                    <a:lstStyle/>
                    <a:p>
                      <a:pPr algn="ctr">
                        <a:defRPr sz="1300" b="0">
                          <a:solidFill>
                            <a:srgbClr val="E8EDF7"/>
                          </a:solidFill>
                          <a:latin typeface="Segoe UI"/>
                        </a:defRPr>
                      </a:pPr>
                      <a:r>
                        <a:t>KEY</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r>
              <a:tr h="475488">
                <a:tc>
                  <a:txBody>
                    <a:bodyPr/>
                    <a:lstStyle/>
                    <a:p>
                      <a:pPr algn="l">
                        <a:defRPr sz="1300" b="0">
                          <a:solidFill>
                            <a:srgbClr val="E8EDF7"/>
                          </a:solidFill>
                          <a:latin typeface="Segoe UI"/>
                        </a:defRPr>
                      </a:pPr>
                      <a:r>
                        <a:t>Conformal Agent Error Attribution</a:t>
                      </a:r>
                    </a:p>
                  </a:txBody>
                  <a:tcPr marL="64008" marR="64008" marT="27432" marB="27432" anchor="ctr">
                    <a:solidFill>
                      <a:srgbClr val="151D2E"/>
                    </a:solidFill>
                  </a:tcPr>
                </a:tc>
                <a:tc>
                  <a:txBody>
                    <a:bodyPr/>
                    <a:lstStyle/>
                    <a:p>
                      <a:pPr algn="ctr">
                        <a:defRPr sz="1300" b="0">
                          <a:solidFill>
                            <a:srgbClr val="E8EDF7"/>
                          </a:solidFill>
                          <a:latin typeface="Segoe UI"/>
                        </a:defRPr>
                      </a:pPr>
                      <a:r>
                        <a:t>KEY</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r>
              <a:tr h="475488">
                <a:tc>
                  <a:txBody>
                    <a:bodyPr/>
                    <a:lstStyle/>
                    <a:p>
                      <a:pPr algn="l">
                        <a:defRPr sz="1300" b="0">
                          <a:solidFill>
                            <a:srgbClr val="E8EDF7"/>
                          </a:solidFill>
                          <a:latin typeface="Segoe UI"/>
                        </a:defRPr>
                      </a:pPr>
                      <a:r>
                        <a:t>Ma et al. causal attribution</a:t>
                      </a:r>
                    </a:p>
                  </a:txBody>
                  <a:tcPr marL="64008" marR="64008" marT="27432" marB="27432" anchor="ctr">
                    <a:solidFill>
                      <a:srgbClr val="151D2E"/>
                    </a:solidFill>
                  </a:tcPr>
                </a:tc>
                <a:tc>
                  <a:txBody>
                    <a:bodyPr/>
                    <a:lstStyle/>
                    <a:p>
                      <a:pPr algn="ctr">
                        <a:defRPr sz="1300" b="0">
                          <a:solidFill>
                            <a:srgbClr val="E8EDF7"/>
                          </a:solidFill>
                          <a:latin typeface="Segoe UI"/>
                        </a:defRPr>
                      </a:pPr>
                      <a:r>
                        <a:t>KEY</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c>
                  <a:txBody>
                    <a:bodyPr/>
                    <a:lstStyle/>
                    <a:p>
                      <a:pPr algn="ctr">
                        <a:defRPr sz="1300" b="0">
                          <a:solidFill>
                            <a:srgbClr val="E8EDF7"/>
                          </a:solidFill>
                          <a:latin typeface="Segoe UI"/>
                        </a:defRPr>
                      </a:pPr>
                      <a:r>
                        <a:t>–</a:t>
                      </a:r>
                    </a:p>
                  </a:txBody>
                  <a:tcPr marL="64008" marR="64008" marT="27432" marB="27432" anchor="ctr">
                    <a:solidFill>
                      <a:srgbClr val="151D2E"/>
                    </a:solidFill>
                  </a:tcPr>
                </a:tc>
              </a:tr>
              <a:tr h="475488">
                <a:tc>
                  <a:txBody>
                    <a:bodyPr/>
                    <a:lstStyle/>
                    <a:p>
                      <a:pPr algn="l">
                        <a:defRPr sz="1300" b="0">
                          <a:solidFill>
                            <a:srgbClr val="E8EDF7"/>
                          </a:solidFill>
                          <a:latin typeface="Segoe UI"/>
                        </a:defRPr>
                      </a:pPr>
                      <a:r>
                        <a:t>AFCR (this work)</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c>
                  <a:txBody>
                    <a:bodyPr/>
                    <a:lstStyle/>
                    <a:p>
                      <a:pPr algn="ctr">
                        <a:defRPr sz="1300" b="0">
                          <a:solidFill>
                            <a:srgbClr val="E8EDF7"/>
                          </a:solidFill>
                          <a:latin typeface="Segoe UI"/>
                        </a:defRPr>
                      </a:pPr>
                      <a:r>
                        <a:t>●</a:t>
                      </a:r>
                    </a:p>
                  </a:txBody>
                  <a:tcPr marL="64008" marR="64008" marT="27432" marB="27432" anchor="ctr">
                    <a:solidFill>
                      <a:srgbClr val="1A263C"/>
                    </a:solidFill>
                  </a:tcPr>
                </a:tc>
              </a:tr>
            </a:tbl>
          </a:graphicData>
        </a:graphic>
      </p:graphicFrame>
      <p:sp>
        <p:nvSpPr>
          <p:cNvPr id="9" name="TextBox 8"/>
          <p:cNvSpPr txBox="1"/>
          <p:nvPr/>
        </p:nvSpPr>
        <p:spPr>
          <a:xfrm>
            <a:off x="548640" y="5486400"/>
            <a:ext cx="11064240" cy="822960"/>
          </a:xfrm>
          <a:prstGeom prst="rect">
            <a:avLst/>
          </a:prstGeom>
          <a:noFill/>
        </p:spPr>
        <p:txBody>
          <a:bodyPr wrap="square" lIns="36576" rIns="36576">
            <a:spAutoFit/>
          </a:bodyPr>
          <a:lstStyle/>
          <a:p>
            <a:pPr>
              <a:spcAft>
                <a:spcPts val="600"/>
              </a:spcAft>
              <a:defRPr sz="1300" b="0">
                <a:solidFill>
                  <a:srgbClr val="96A3BE"/>
                </a:solidFill>
                <a:latin typeface="Segoe UI"/>
              </a:defRPr>
            </a:pPr>
            <a:r>
              <a:t>● yes  ◐ partial  – no.  Best-arm identification (Garivier &amp; Kaufmann, 2016) supplies the statistics but is not an agent paper; no surveyed agent-attribution paper combines replay with fixed-confidence stopping. Novelty status: provisional (finite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FORMALISATION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Formal problem: best-arm identification over replays</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6</a:t>
            </a:r>
          </a:p>
        </p:txBody>
      </p:sp>
      <p:sp>
        <p:nvSpPr>
          <p:cNvPr id="8" name="Rounded Rectangle 7"/>
          <p:cNvSpPr/>
          <p:nvPr/>
        </p:nvSpPr>
        <p:spPr>
          <a:xfrm>
            <a:off x="548640" y="1463040"/>
            <a:ext cx="548640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12064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Instance</a:t>
            </a:r>
          </a:p>
        </p:txBody>
      </p:sp>
      <p:sp>
        <p:nvSpPr>
          <p:cNvPr id="10" name="TextBox 9"/>
          <p:cNvSpPr txBox="1"/>
          <p:nvPr/>
        </p:nvSpPr>
        <p:spPr>
          <a:xfrm>
            <a:off x="777240" y="2103120"/>
            <a:ext cx="5120640" cy="4023360"/>
          </a:xfrm>
          <a:prstGeom prst="rect">
            <a:avLst/>
          </a:prstGeom>
          <a:noFill/>
        </p:spPr>
        <p:txBody>
          <a:bodyPr wrap="square" lIns="36576" rIns="36576">
            <a:spAutoFit/>
          </a:bodyPr>
          <a:lstStyle/>
          <a:p>
            <a:pPr>
              <a:spcAft>
                <a:spcPts val="600"/>
              </a:spcAft>
              <a:defRPr sz="1500" b="0">
                <a:solidFill>
                  <a:srgbClr val="E8EDF7"/>
                </a:solidFill>
                <a:latin typeface="Segoe UI"/>
              </a:defRPr>
            </a:pPr>
            <a:r>
              <a:t>•  Failed trajectory τ of length T; candidate steps t ∈ {1,…,T}</a:t>
            </a:r>
          </a:p>
          <a:p>
            <a:pPr>
              <a:spcAft>
                <a:spcPts val="600"/>
              </a:spcAft>
              <a:defRPr sz="1500" b="0">
                <a:solidFill>
                  <a:srgbClr val="E8EDF7"/>
                </a:solidFill>
                <a:latin typeface="Segoe UI"/>
              </a:defRPr>
            </a:pPr>
            <a:r>
              <a:t>•  Pull(t): restore the exact state before step t, intervene, replay to the end → Y ∈ {0,1}</a:t>
            </a:r>
          </a:p>
          <a:p>
            <a:pPr>
              <a:spcAft>
                <a:spcPts val="600"/>
              </a:spcAft>
              <a:defRPr sz="1500" b="0">
                <a:solidFill>
                  <a:srgbClr val="E8EDF7"/>
                </a:solidFill>
                <a:latin typeface="Segoe UI"/>
              </a:defRPr>
            </a:pPr>
            <a:r>
              <a:t>•  μ_t = P(success | intervene at t) — unknown, estimated only by pulls</a:t>
            </a:r>
          </a:p>
          <a:p>
            <a:pPr>
              <a:spcAft>
                <a:spcPts val="600"/>
              </a:spcAft>
              <a:defRPr sz="1500" b="0">
                <a:solidFill>
                  <a:srgbClr val="E8EDF7"/>
                </a:solidFill>
                <a:latin typeface="Segoe UI"/>
              </a:defRPr>
            </a:pPr>
            <a:r>
              <a:t>•  Replay noise is the agent's own stochasticity (the policy π)</a:t>
            </a:r>
          </a:p>
        </p:txBody>
      </p:sp>
      <p:sp>
        <p:nvSpPr>
          <p:cNvPr id="11" name="Rounded Rectangle 10"/>
          <p:cNvSpPr/>
          <p:nvPr/>
        </p:nvSpPr>
        <p:spPr>
          <a:xfrm>
            <a:off x="6263640" y="1463040"/>
            <a:ext cx="539496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00200"/>
            <a:ext cx="502920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Goal (fixed confidence)</a:t>
            </a:r>
          </a:p>
        </p:txBody>
      </p:sp>
      <p:sp>
        <p:nvSpPr>
          <p:cNvPr id="13" name="TextBox 12"/>
          <p:cNvSpPr txBox="1"/>
          <p:nvPr/>
        </p:nvSpPr>
        <p:spPr>
          <a:xfrm>
            <a:off x="6492240" y="2103120"/>
            <a:ext cx="5029200" cy="4023360"/>
          </a:xfrm>
          <a:prstGeom prst="rect">
            <a:avLst/>
          </a:prstGeom>
          <a:noFill/>
        </p:spPr>
        <p:txBody>
          <a:bodyPr wrap="square" lIns="36576" rIns="36576">
            <a:spAutoFit/>
          </a:bodyPr>
          <a:lstStyle/>
          <a:p>
            <a:pPr>
              <a:spcAft>
                <a:spcPts val="600"/>
              </a:spcAft>
              <a:defRPr sz="1500" b="0">
                <a:solidFill>
                  <a:srgbClr val="E8EDF7"/>
                </a:solidFill>
                <a:latin typeface="Segoe UI"/>
              </a:defRPr>
            </a:pPr>
            <a:r>
              <a:t>•  Sampling rule: which step to replay next</a:t>
            </a:r>
          </a:p>
          <a:p>
            <a:pPr>
              <a:spcAft>
                <a:spcPts val="600"/>
              </a:spcAft>
              <a:defRPr sz="1500" b="0">
                <a:solidFill>
                  <a:srgbClr val="E8EDF7"/>
                </a:solidFill>
                <a:latin typeface="Segoe UI"/>
              </a:defRPr>
            </a:pPr>
            <a:r>
              <a:t>•  Stopping rule: a data-dependent time τ</a:t>
            </a:r>
          </a:p>
          <a:p>
            <a:pPr>
              <a:spcAft>
                <a:spcPts val="600"/>
              </a:spcAft>
              <a:defRPr sz="1500" b="0">
                <a:solidFill>
                  <a:srgbClr val="E8EDF7"/>
                </a:solidFill>
                <a:latin typeface="Segoe UI"/>
              </a:defRPr>
            </a:pPr>
            <a:r>
              <a:t>•  Recommendation: a step ĥ, or abstain</a:t>
            </a:r>
          </a:p>
          <a:p>
            <a:pPr>
              <a:spcAft>
                <a:spcPts val="600"/>
              </a:spcAft>
              <a:defRPr sz="1500" b="0">
                <a:solidFill>
                  <a:srgbClr val="E8EDF7"/>
                </a:solidFill>
                <a:latin typeface="Segoe UI"/>
              </a:defRPr>
            </a:pPr>
            <a:r>
              <a:t>•  δ-correct: P(τ &lt; ∞ and ĥ ∉ target set) ≤ δ  for every instance</a:t>
            </a:r>
          </a:p>
          <a:p>
            <a:pPr>
              <a:spcAft>
                <a:spcPts val="600"/>
              </a:spcAft>
              <a:defRPr sz="1500" b="0">
                <a:solidFill>
                  <a:srgbClr val="E8EDF7"/>
                </a:solidFill>
                <a:latin typeface="Segoe UI"/>
              </a:defRPr>
            </a:pPr>
            <a:r>
              <a:t>•  Targets: argmax (ε-tolerant), first-above-θ, last-above-θ</a:t>
            </a:r>
          </a:p>
          <a:p>
            <a:pPr>
              <a:spcAft>
                <a:spcPts val="600"/>
              </a:spcAft>
              <a:defRPr sz="1500" b="0">
                <a:solidFill>
                  <a:srgbClr val="E8EDF7"/>
                </a:solidFill>
                <a:latin typeface="Segoe UI"/>
              </a:defRPr>
            </a:pPr>
            <a:r>
              <a:t>•  Minimise rollouts E[τ] subject to δ-correctness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MECHANISM</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Counterfactual replay mechanism</a:t>
            </a:r>
          </a:p>
        </p:txBody>
      </p:sp>
      <p:sp>
        <p:nvSpPr>
          <p:cNvPr id="5" name="Rounded Rectangle 4"/>
          <p:cNvSpPr/>
          <p:nvPr/>
        </p:nvSpPr>
        <p:spPr>
          <a:xfrm>
            <a:off x="1061161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7</a:t>
            </a:r>
          </a:p>
        </p:txBody>
      </p:sp>
      <p:pic>
        <p:nvPicPr>
          <p:cNvPr id="8" name="Picture 7" descr="fig03_counterfactual_replay.png"/>
          <p:cNvPicPr>
            <a:picLocks noChangeAspect="1"/>
          </p:cNvPicPr>
          <p:nvPr/>
        </p:nvPicPr>
        <p:blipFill>
          <a:blip r:embed="rId3"/>
          <a:stretch>
            <a:fillRect/>
          </a:stretch>
        </p:blipFill>
        <p:spPr>
          <a:xfrm>
            <a:off x="457200" y="1358192"/>
            <a:ext cx="11247120" cy="487313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METHOD</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The adaptive algorithm: one round</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8</a:t>
            </a:r>
          </a:p>
        </p:txBody>
      </p:sp>
      <p:pic>
        <p:nvPicPr>
          <p:cNvPr id="8" name="Picture 7" descr="fig04_adaptive_selection_flowchart.png"/>
          <p:cNvPicPr>
            <a:picLocks noChangeAspect="1"/>
          </p:cNvPicPr>
          <p:nvPr/>
        </p:nvPicPr>
        <p:blipFill>
          <a:blip r:embed="rId3"/>
          <a:stretch>
            <a:fillRect/>
          </a:stretch>
        </p:blipFill>
        <p:spPr>
          <a:xfrm>
            <a:off x="1259072" y="1280160"/>
            <a:ext cx="5620014" cy="5120640"/>
          </a:xfrm>
          <a:prstGeom prst="rect">
            <a:avLst/>
          </a:prstGeom>
        </p:spPr>
      </p:pic>
      <p:sp>
        <p:nvSpPr>
          <p:cNvPr id="9" name="Rounded Rectangle 8"/>
          <p:cNvSpPr/>
          <p:nvPr/>
        </p:nvSpPr>
        <p:spPr>
          <a:xfrm>
            <a:off x="7909560" y="1463040"/>
            <a:ext cx="3794760" cy="46634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92440" y="1600200"/>
            <a:ext cx="347472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Design rules</a:t>
            </a:r>
          </a:p>
        </p:txBody>
      </p:sp>
      <p:sp>
        <p:nvSpPr>
          <p:cNvPr id="11" name="TextBox 10"/>
          <p:cNvSpPr txBox="1"/>
          <p:nvPr/>
        </p:nvSpPr>
        <p:spPr>
          <a:xfrm>
            <a:off x="8092440" y="2057400"/>
            <a:ext cx="3474720" cy="4023360"/>
          </a:xfrm>
          <a:prstGeom prst="rect">
            <a:avLst/>
          </a:prstGeom>
          <a:noFill/>
        </p:spPr>
        <p:txBody>
          <a:bodyPr wrap="square" lIns="36576" rIns="36576">
            <a:spAutoFit/>
          </a:bodyPr>
          <a:lstStyle/>
          <a:p>
            <a:pPr>
              <a:spcAft>
                <a:spcPts val="600"/>
              </a:spcAft>
              <a:defRPr sz="1400" b="0">
                <a:solidFill>
                  <a:srgbClr val="E8EDF7"/>
                </a:solidFill>
                <a:latin typeface="Segoe UI"/>
              </a:defRPr>
            </a:pPr>
            <a:r>
              <a:t>•  Stopping rule ⟂ sampling rule</a:t>
            </a:r>
          </a:p>
          <a:p>
            <a:pPr>
              <a:spcAft>
                <a:spcPts val="600"/>
              </a:spcAft>
              <a:defRPr sz="1400" b="0">
                <a:solidFill>
                  <a:srgbClr val="E8EDF7"/>
                </a:solidFill>
                <a:latin typeface="Segoe UI"/>
              </a:defRPr>
            </a:pPr>
            <a:r>
              <a:t>•  Anytime-valid intervals (running intersection)</a:t>
            </a:r>
          </a:p>
          <a:p>
            <a:pPr>
              <a:spcAft>
                <a:spcPts val="600"/>
              </a:spcAft>
              <a:defRPr sz="1400" b="0">
                <a:solidFill>
                  <a:srgbClr val="E8EDF7"/>
                </a:solidFill>
                <a:latin typeface="Segoe UI"/>
              </a:defRPr>
            </a:pPr>
            <a:r>
              <a:t>•  Abstain, never fabricate</a:t>
            </a:r>
          </a:p>
          <a:p>
            <a:pPr>
              <a:spcAft>
                <a:spcPts val="600"/>
              </a:spcAft>
              <a:defRPr sz="1400" b="0">
                <a:solidFill>
                  <a:srgbClr val="E8EDF7"/>
                </a:solidFill>
                <a:latin typeface="Segoe UI"/>
              </a:defRPr>
            </a:pPr>
            <a:r>
              <a:t>•  Every result states whether the δ-guarantee applies</a:t>
            </a:r>
          </a:p>
          <a:p>
            <a:pPr>
              <a:spcAft>
                <a:spcPts val="600"/>
              </a:spcAft>
              <a:defRPr sz="1400" b="0">
                <a:solidFill>
                  <a:srgbClr val="E8EDF7"/>
                </a:solidFill>
                <a:latin typeface="Segoe UI"/>
              </a:defRPr>
            </a:pPr>
            <a:r>
              <a:t>•  Sharing prefixes is opt-in and validated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METHOD</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Confidence sequences and the stopping rule</a:t>
            </a:r>
          </a:p>
        </p:txBody>
      </p:sp>
      <p:sp>
        <p:nvSpPr>
          <p:cNvPr id="5" name="Rounded Rectangle 4"/>
          <p:cNvSpPr/>
          <p:nvPr/>
        </p:nvSpPr>
        <p:spPr>
          <a:xfrm>
            <a:off x="1061161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6" name="Rounded Rectangle 5"/>
          <p:cNvSpPr/>
          <p:nvPr/>
        </p:nvSpPr>
        <p:spPr>
          <a:xfrm>
            <a:off x="9688068"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9</a:t>
            </a:r>
          </a:p>
        </p:txBody>
      </p:sp>
      <p:pic>
        <p:nvPicPr>
          <p:cNvPr id="9" name="Picture 8" descr="fig05_confidence_stopping.png"/>
          <p:cNvPicPr>
            <a:picLocks noChangeAspect="1"/>
          </p:cNvPicPr>
          <p:nvPr/>
        </p:nvPicPr>
        <p:blipFill>
          <a:blip r:embed="rId3"/>
          <a:stretch>
            <a:fillRect/>
          </a:stretch>
        </p:blipFill>
        <p:spPr>
          <a:xfrm>
            <a:off x="457200" y="1827437"/>
            <a:ext cx="7040880" cy="4026085"/>
          </a:xfrm>
          <a:prstGeom prst="rect">
            <a:avLst/>
          </a:prstGeom>
        </p:spPr>
      </p:pic>
      <p:sp>
        <p:nvSpPr>
          <p:cNvPr id="10" name="Rounded Rectangle 9"/>
          <p:cNvSpPr/>
          <p:nvPr/>
        </p:nvSpPr>
        <p:spPr>
          <a:xfrm>
            <a:off x="7726679" y="1463040"/>
            <a:ext cx="3977639" cy="46634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09560" y="1600200"/>
            <a:ext cx="365760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Stopping rule</a:t>
            </a:r>
          </a:p>
        </p:txBody>
      </p:sp>
      <p:sp>
        <p:nvSpPr>
          <p:cNvPr id="12" name="TextBox 11"/>
          <p:cNvSpPr txBox="1"/>
          <p:nvPr/>
        </p:nvSpPr>
        <p:spPr>
          <a:xfrm>
            <a:off x="7909560" y="2057400"/>
            <a:ext cx="3657600" cy="1097280"/>
          </a:xfrm>
          <a:prstGeom prst="rect">
            <a:avLst/>
          </a:prstGeom>
          <a:noFill/>
        </p:spPr>
        <p:txBody>
          <a:bodyPr wrap="square" lIns="36576" rIns="36576">
            <a:spAutoFit/>
          </a:bodyPr>
          <a:lstStyle/>
          <a:p>
            <a:pPr>
              <a:spcAft>
                <a:spcPts val="600"/>
              </a:spcAft>
              <a:defRPr sz="1300" b="0">
                <a:solidFill>
                  <a:srgbClr val="E8EDF7"/>
                </a:solidFill>
                <a:latin typeface="Consolas"/>
              </a:defRPr>
            </a:pPr>
            <a:r>
              <a:t>stop when  lo_h + ε ≥ max_{a≠h} hi_a</a:t>
            </a:r>
          </a:p>
        </p:txBody>
      </p:sp>
      <p:sp>
        <p:nvSpPr>
          <p:cNvPr id="13" name="TextBox 12"/>
          <p:cNvSpPr txBox="1"/>
          <p:nvPr/>
        </p:nvSpPr>
        <p:spPr>
          <a:xfrm>
            <a:off x="7909560" y="2743200"/>
            <a:ext cx="3657600" cy="365760"/>
          </a:xfrm>
          <a:prstGeom prst="rect">
            <a:avLst/>
          </a:prstGeom>
          <a:noFill/>
        </p:spPr>
        <p:txBody>
          <a:bodyPr wrap="square" lIns="36576" rIns="36576">
            <a:spAutoFit/>
          </a:bodyPr>
          <a:lstStyle/>
          <a:p>
            <a:pPr>
              <a:spcAft>
                <a:spcPts val="600"/>
              </a:spcAft>
              <a:defRPr sz="1300" b="1">
                <a:solidFill>
                  <a:srgbClr val="2DD4E0"/>
                </a:solidFill>
                <a:latin typeface="Segoe UI"/>
              </a:defRPr>
            </a:pPr>
            <a:r>
              <a:t>Confidence-sequence ablation (48 states)</a:t>
            </a:r>
          </a:p>
        </p:txBody>
      </p:sp>
      <p:graphicFrame>
        <p:nvGraphicFramePr>
          <p:cNvPr id="14" name="Table 13"/>
          <p:cNvGraphicFramePr>
            <a:graphicFrameLocks noGrp="1"/>
          </p:cNvGraphicFramePr>
          <p:nvPr/>
        </p:nvGraphicFramePr>
        <p:xfrm>
          <a:off x="7909560" y="3154680"/>
          <a:ext cx="3657600" cy="1463040"/>
        </p:xfrm>
        <a:graphic>
          <a:graphicData uri="http://schemas.openxmlformats.org/drawingml/2006/table">
            <a:tbl>
              <a:tblPr firstRow="0" bandRow="0">
                <a:tableStyleId>{5C22544A-7EE6-4342-B048-85BDC9FD1C3A}</a:tableStyleId>
              </a:tblPr>
              <a:tblGrid>
                <a:gridCol w="1920240"/>
                <a:gridCol w="1737360"/>
              </a:tblGrid>
              <a:tr h="365760">
                <a:tc>
                  <a:txBody>
                    <a:bodyPr/>
                    <a:lstStyle/>
                    <a:p>
                      <a:pPr algn="l">
                        <a:defRPr sz="1200" b="1">
                          <a:solidFill>
                            <a:srgbClr val="2DD4E0"/>
                          </a:solidFill>
                          <a:latin typeface="Segoe UI"/>
                        </a:defRPr>
                      </a:pPr>
                      <a:r>
                        <a:t>sequence</a:t>
                      </a:r>
                    </a:p>
                  </a:txBody>
                  <a:tcPr marL="64008" marR="64008" marT="27432" marB="27432" anchor="ctr">
                    <a:solidFill>
                      <a:srgbClr val="1E2A42"/>
                    </a:solidFill>
                  </a:tcPr>
                </a:tc>
                <a:tc>
                  <a:txBody>
                    <a:bodyPr/>
                    <a:lstStyle/>
                    <a:p>
                      <a:pPr algn="ctr">
                        <a:defRPr sz="1200" b="1">
                          <a:solidFill>
                            <a:srgbClr val="2DD4E0"/>
                          </a:solidFill>
                          <a:latin typeface="Segoe UI"/>
                        </a:defRPr>
                      </a:pPr>
                      <a:r>
                        <a:t>mean rollouts</a:t>
                      </a:r>
                    </a:p>
                  </a:txBody>
                  <a:tcPr marL="64008" marR="64008" marT="27432" marB="27432" anchor="ctr">
                    <a:solidFill>
                      <a:srgbClr val="1E2A42"/>
                    </a:solidFill>
                  </a:tcPr>
                </a:tc>
              </a:tr>
              <a:tr h="365760">
                <a:tc>
                  <a:txBody>
                    <a:bodyPr/>
                    <a:lstStyle/>
                    <a:p>
                      <a:pPr algn="l">
                        <a:defRPr sz="1200" b="0">
                          <a:solidFill>
                            <a:srgbClr val="E8EDF7"/>
                          </a:solidFill>
                          <a:latin typeface="Segoe UI"/>
                        </a:defRPr>
                      </a:pPr>
                      <a:r>
                        <a:t>stack-KL</a:t>
                      </a:r>
                    </a:p>
                  </a:txBody>
                  <a:tcPr marL="64008" marR="64008" marT="27432" marB="27432" anchor="ctr">
                    <a:solidFill>
                      <a:srgbClr val="151D2E"/>
                    </a:solidFill>
                  </a:tcPr>
                </a:tc>
                <a:tc>
                  <a:txBody>
                    <a:bodyPr/>
                    <a:lstStyle/>
                    <a:p>
                      <a:pPr algn="ctr">
                        <a:defRPr sz="1200" b="0">
                          <a:solidFill>
                            <a:srgbClr val="E8EDF7"/>
                          </a:solidFill>
                          <a:latin typeface="Segoe UI"/>
                        </a:defRPr>
                      </a:pPr>
                      <a:r>
                        <a:t>18,448</a:t>
                      </a:r>
                    </a:p>
                  </a:txBody>
                  <a:tcPr marL="64008" marR="64008" marT="27432" marB="27432" anchor="ctr">
                    <a:solidFill>
                      <a:srgbClr val="151D2E"/>
                    </a:solidFill>
                  </a:tcPr>
                </a:tc>
              </a:tr>
              <a:tr h="365760">
                <a:tc>
                  <a:txBody>
                    <a:bodyPr/>
                    <a:lstStyle/>
                    <a:p>
                      <a:pPr algn="l">
                        <a:defRPr sz="1200" b="0">
                          <a:solidFill>
                            <a:srgbClr val="E8EDF7"/>
                          </a:solidFill>
                          <a:latin typeface="Segoe UI"/>
                        </a:defRPr>
                      </a:pPr>
                      <a:r>
                        <a:t>KL-LUCB rate</a:t>
                      </a:r>
                    </a:p>
                  </a:txBody>
                  <a:tcPr marL="64008" marR="64008" marT="27432" marB="27432" anchor="ctr">
                    <a:solidFill>
                      <a:srgbClr val="151D2E"/>
                    </a:solidFill>
                  </a:tcPr>
                </a:tc>
                <a:tc>
                  <a:txBody>
                    <a:bodyPr/>
                    <a:lstStyle/>
                    <a:p>
                      <a:pPr algn="ctr">
                        <a:defRPr sz="1200" b="0">
                          <a:solidFill>
                            <a:srgbClr val="E8EDF7"/>
                          </a:solidFill>
                          <a:latin typeface="Segoe UI"/>
                        </a:defRPr>
                      </a:pPr>
                      <a:r>
                        <a:t>19,831</a:t>
                      </a:r>
                    </a:p>
                  </a:txBody>
                  <a:tcPr marL="64008" marR="64008" marT="27432" marB="27432" anchor="ctr">
                    <a:solidFill>
                      <a:srgbClr val="151D2E"/>
                    </a:solidFill>
                  </a:tcPr>
                </a:tc>
              </a:tr>
              <a:tr h="365760">
                <a:tc>
                  <a:txBody>
                    <a:bodyPr/>
                    <a:lstStyle/>
                    <a:p>
                      <a:pPr algn="l">
                        <a:defRPr sz="1200" b="0">
                          <a:solidFill>
                            <a:srgbClr val="E8EDF7"/>
                          </a:solidFill>
                          <a:latin typeface="Segoe UI"/>
                        </a:defRPr>
                      </a:pPr>
                      <a:r>
                        <a:t>stack-Hoeffding</a:t>
                      </a:r>
                    </a:p>
                  </a:txBody>
                  <a:tcPr marL="64008" marR="64008" marT="27432" marB="27432" anchor="ctr">
                    <a:solidFill>
                      <a:srgbClr val="151D2E"/>
                    </a:solidFill>
                  </a:tcPr>
                </a:tc>
                <a:tc>
                  <a:txBody>
                    <a:bodyPr/>
                    <a:lstStyle/>
                    <a:p>
                      <a:pPr algn="ctr">
                        <a:defRPr sz="1200" b="0">
                          <a:solidFill>
                            <a:srgbClr val="E8EDF7"/>
                          </a:solidFill>
                          <a:latin typeface="Segoe UI"/>
                        </a:defRPr>
                      </a:pPr>
                      <a:r>
                        <a:t>22,764</a:t>
                      </a:r>
                    </a:p>
                  </a:txBody>
                  <a:tcPr marL="64008" marR="64008" marT="27432" marB="27432" anchor="ctr">
                    <a:solidFill>
                      <a:srgbClr val="151D2E"/>
                    </a:solidFill>
                  </a:tcPr>
                </a:tc>
              </a:tr>
            </a:tbl>
          </a:graphicData>
        </a:graphic>
      </p:graphicFrame>
      <p:sp>
        <p:nvSpPr>
          <p:cNvPr id="15" name="TextBox 14"/>
          <p:cNvSpPr txBox="1"/>
          <p:nvPr/>
        </p:nvSpPr>
        <p:spPr>
          <a:xfrm>
            <a:off x="7909560" y="4754880"/>
            <a:ext cx="3657600" cy="457200"/>
          </a:xfrm>
          <a:prstGeom prst="rect">
            <a:avLst/>
          </a:prstGeom>
          <a:noFill/>
        </p:spPr>
        <p:txBody>
          <a:bodyPr wrap="square" lIns="36576" rIns="36576">
            <a:spAutoFit/>
          </a:bodyPr>
          <a:lstStyle/>
          <a:p>
            <a:pPr>
              <a:spcAft>
                <a:spcPts val="600"/>
              </a:spcAft>
              <a:defRPr sz="1100" b="0">
                <a:solidFill>
                  <a:srgbClr val="96A3BE"/>
                </a:solidFill>
                <a:latin typeface="Segoe UI"/>
              </a:defRPr>
            </a:pPr>
            <a:r>
              <a:t>n = 30 trials each, same seeds; all accuracy 93 %. Synthetic.</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THEORY</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Theory: what is proven</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10</a:t>
            </a:r>
          </a:p>
        </p:txBody>
      </p:sp>
      <p:sp>
        <p:nvSpPr>
          <p:cNvPr id="8" name="Rounded Rectangle 7"/>
          <p:cNvSpPr/>
          <p:nvPr/>
        </p:nvSpPr>
        <p:spPr>
          <a:xfrm>
            <a:off x="548640" y="1554480"/>
            <a:ext cx="3520440" cy="320040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691640"/>
            <a:ext cx="3200400" cy="731520"/>
          </a:xfrm>
          <a:prstGeom prst="rect">
            <a:avLst/>
          </a:prstGeom>
          <a:noFill/>
        </p:spPr>
        <p:txBody>
          <a:bodyPr wrap="square" lIns="36576" rIns="36576">
            <a:spAutoFit/>
          </a:bodyPr>
          <a:lstStyle/>
          <a:p>
            <a:pPr>
              <a:spcAft>
                <a:spcPts val="600"/>
              </a:spcAft>
              <a:defRPr sz="1700" b="1">
                <a:solidFill>
                  <a:srgbClr val="34D399"/>
                </a:solidFill>
                <a:latin typeface="Segoe UI Semibold"/>
              </a:defRPr>
            </a:pPr>
            <a:r>
              <a:t>Theorem 1 · δ-correctness</a:t>
            </a:r>
          </a:p>
        </p:txBody>
      </p:sp>
      <p:sp>
        <p:nvSpPr>
          <p:cNvPr id="10" name="TextBox 9"/>
          <p:cNvSpPr txBox="1"/>
          <p:nvPr/>
        </p:nvSpPr>
        <p:spPr>
          <a:xfrm>
            <a:off x="731520" y="2514600"/>
            <a:ext cx="3200400" cy="2194560"/>
          </a:xfrm>
          <a:prstGeom prst="rect">
            <a:avLst/>
          </a:prstGeom>
          <a:noFill/>
        </p:spPr>
        <p:txBody>
          <a:bodyPr wrap="square" lIns="36576" rIns="36576">
            <a:spAutoFit/>
          </a:bodyPr>
          <a:lstStyle/>
          <a:p>
            <a:pPr>
              <a:spcAft>
                <a:spcPts val="600"/>
              </a:spcAft>
              <a:defRPr sz="1400" b="0">
                <a:solidFill>
                  <a:srgbClr val="E8EDF7"/>
                </a:solidFill>
                <a:latin typeface="Segoe UI"/>
              </a:defRPr>
            </a:pPr>
            <a:r>
              <a:t>Any sampling rule + stack confidence sequence + the separation stopping rule: P(stop with a wrong answer) ≤ δ. Abstention is not a δ-PAC event.</a:t>
            </a:r>
          </a:p>
        </p:txBody>
      </p:sp>
      <p:sp>
        <p:nvSpPr>
          <p:cNvPr id="11" name="Rounded Rectangle 10"/>
          <p:cNvSpPr/>
          <p:nvPr/>
        </p:nvSpPr>
        <p:spPr>
          <a:xfrm>
            <a:off x="4297679" y="1554480"/>
            <a:ext cx="3520440" cy="320040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1691640"/>
            <a:ext cx="3200400" cy="731520"/>
          </a:xfrm>
          <a:prstGeom prst="rect">
            <a:avLst/>
          </a:prstGeom>
          <a:noFill/>
        </p:spPr>
        <p:txBody>
          <a:bodyPr wrap="square" lIns="36576" rIns="36576">
            <a:spAutoFit/>
          </a:bodyPr>
          <a:lstStyle/>
          <a:p>
            <a:pPr>
              <a:spcAft>
                <a:spcPts val="600"/>
              </a:spcAft>
              <a:defRPr sz="1700" b="1">
                <a:solidFill>
                  <a:srgbClr val="4FA3FF"/>
                </a:solidFill>
                <a:latin typeface="Segoe UI Semibold"/>
              </a:defRPr>
            </a:pPr>
            <a:r>
              <a:t>Theorem 2 · sample complexity</a:t>
            </a:r>
          </a:p>
        </p:txBody>
      </p:sp>
      <p:sp>
        <p:nvSpPr>
          <p:cNvPr id="13" name="TextBox 12"/>
          <p:cNvSpPr txBox="1"/>
          <p:nvPr/>
        </p:nvSpPr>
        <p:spPr>
          <a:xfrm>
            <a:off x="4480559" y="2514600"/>
            <a:ext cx="3200400" cy="2194560"/>
          </a:xfrm>
          <a:prstGeom prst="rect">
            <a:avLst/>
          </a:prstGeom>
          <a:noFill/>
        </p:spPr>
        <p:txBody>
          <a:bodyPr wrap="square" lIns="36576" rIns="36576">
            <a:spAutoFit/>
          </a:bodyPr>
          <a:lstStyle/>
          <a:p>
            <a:pPr>
              <a:spcAft>
                <a:spcPts val="600"/>
              </a:spcAft>
              <a:defRPr sz="1400" b="0">
                <a:solidFill>
                  <a:srgbClr val="E8EDF7"/>
                </a:solidFill>
                <a:latin typeface="Segoe UI"/>
              </a:defRPr>
            </a:pPr>
            <a:r>
              <a:t>Successive elimination stops after O( Σ_a Δ_a⁻² · log(K / (δ Δ_a)) ) rollouts w.h.p. Gap-dependent, matches the lower-bound shape up to logs.</a:t>
            </a:r>
          </a:p>
        </p:txBody>
      </p:sp>
      <p:sp>
        <p:nvSpPr>
          <p:cNvPr id="14" name="Rounded Rectangle 13"/>
          <p:cNvSpPr/>
          <p:nvPr/>
        </p:nvSpPr>
        <p:spPr>
          <a:xfrm>
            <a:off x="8046719" y="1554480"/>
            <a:ext cx="3520440" cy="320040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691640"/>
            <a:ext cx="3200400" cy="731520"/>
          </a:xfrm>
          <a:prstGeom prst="rect">
            <a:avLst/>
          </a:prstGeom>
          <a:noFill/>
        </p:spPr>
        <p:txBody>
          <a:bodyPr wrap="square" lIns="36576" rIns="36576">
            <a:spAutoFit/>
          </a:bodyPr>
          <a:lstStyle/>
          <a:p>
            <a:pPr>
              <a:spcAft>
                <a:spcPts val="600"/>
              </a:spcAft>
              <a:defRPr sz="1700" b="1">
                <a:solidFill>
                  <a:srgbClr val="A78BFA"/>
                </a:solidFill>
                <a:latin typeface="Segoe UI Semibold"/>
              </a:defRPr>
            </a:pPr>
            <a:r>
              <a:t>Theorem 3 · prefix reuse</a:t>
            </a:r>
          </a:p>
        </p:txBody>
      </p:sp>
      <p:sp>
        <p:nvSpPr>
          <p:cNvPr id="16" name="TextBox 15"/>
          <p:cNvSpPr txBox="1"/>
          <p:nvPr/>
        </p:nvSpPr>
        <p:spPr>
          <a:xfrm>
            <a:off x="8229600" y="2514600"/>
            <a:ext cx="3200400" cy="2194560"/>
          </a:xfrm>
          <a:prstGeom prst="rect">
            <a:avLst/>
          </a:prstGeom>
          <a:noFill/>
        </p:spPr>
        <p:txBody>
          <a:bodyPr wrap="square" lIns="36576" rIns="36576">
            <a:spAutoFit/>
          </a:bodyPr>
          <a:lstStyle/>
          <a:p>
            <a:pPr>
              <a:spcAft>
                <a:spcPts val="600"/>
              </a:spcAft>
              <a:defRPr sz="1400" b="0">
                <a:solidFill>
                  <a:srgbClr val="E8EDF7"/>
                </a:solidFill>
                <a:latin typeface="Segoe UI"/>
              </a:defRPr>
            </a:pPr>
            <a:r>
              <a:t>Matched (time, state, action) observations from other arms' replays are unbiased draws of the same arm (strong Markov property).</a:t>
            </a:r>
          </a:p>
        </p:txBody>
      </p:sp>
      <p:sp>
        <p:nvSpPr>
          <p:cNvPr id="17" name="Rounded Rectangle 16"/>
          <p:cNvSpPr/>
          <p:nvPr/>
        </p:nvSpPr>
        <p:spPr>
          <a:xfrm>
            <a:off x="548640" y="4983480"/>
            <a:ext cx="11064240" cy="1234440"/>
          </a:xfrm>
          <a:prstGeom prst="roundRect">
            <a:avLst>
              <a:gd name="adj" fmla="val 4000"/>
            </a:avLst>
          </a:prstGeom>
          <a:solidFill>
            <a:srgbClr val="2E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074920"/>
            <a:ext cx="10607040" cy="1143000"/>
          </a:xfrm>
          <a:prstGeom prst="rect">
            <a:avLst/>
          </a:prstGeom>
          <a:noFill/>
        </p:spPr>
        <p:txBody>
          <a:bodyPr wrap="square" lIns="36576" rIns="36576">
            <a:spAutoFit/>
          </a:bodyPr>
          <a:lstStyle/>
          <a:p>
            <a:pPr>
              <a:spcAft>
                <a:spcPts val="400"/>
              </a:spcAft>
              <a:defRPr sz="1400" b="0">
                <a:solidFill>
                  <a:srgbClr val="E8EDF7"/>
                </a:solidFill>
                <a:latin typeface="Segoe UI"/>
              </a:defRPr>
            </a:pPr>
            <a:r>
              <a:t>Not claimed: minimax / instance optimality of any algorithm; the lower bound T*(μ)·kl(δ, 1−δ) is a yardstick only.</a:t>
            </a:r>
          </a:p>
          <a:p>
            <a:pPr>
              <a:spcAft>
                <a:spcPts val="400"/>
              </a:spcAft>
              <a:defRPr sz="1400" b="0">
                <a:solidFill>
                  <a:srgbClr val="E8EDF7"/>
                </a:solidFill>
                <a:latin typeface="Segoe UI"/>
              </a:defRPr>
            </a:pPr>
            <a:r>
              <a:t>Naively pooling all prefix-matched replays is NOT valid — kept as a negative control (next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THEORY → EXPERIMENT</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Prefix reuse: valid vs naive sharing</a:t>
            </a:r>
          </a:p>
        </p:txBody>
      </p:sp>
      <p:sp>
        <p:nvSpPr>
          <p:cNvPr id="5" name="Rounded Rectangle 4"/>
          <p:cNvSpPr/>
          <p:nvPr/>
        </p:nvSpPr>
        <p:spPr>
          <a:xfrm>
            <a:off x="1061161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6" name="Rounded Rectangle 5"/>
          <p:cNvSpPr/>
          <p:nvPr/>
        </p:nvSpPr>
        <p:spPr>
          <a:xfrm>
            <a:off x="9688068"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11</a:t>
            </a:r>
          </a:p>
        </p:txBody>
      </p:sp>
      <p:pic>
        <p:nvPicPr>
          <p:cNvPr id="9" name="Picture 8" descr="fig10_prefix_tree.png"/>
          <p:cNvPicPr>
            <a:picLocks noChangeAspect="1"/>
          </p:cNvPicPr>
          <p:nvPr/>
        </p:nvPicPr>
        <p:blipFill>
          <a:blip r:embed="rId3"/>
          <a:stretch>
            <a:fillRect/>
          </a:stretch>
        </p:blipFill>
        <p:spPr>
          <a:xfrm>
            <a:off x="457200" y="2527775"/>
            <a:ext cx="6309360" cy="2625408"/>
          </a:xfrm>
          <a:prstGeom prst="rect">
            <a:avLst/>
          </a:prstGeom>
        </p:spPr>
      </p:pic>
      <p:sp>
        <p:nvSpPr>
          <p:cNvPr id="10" name="Rounded Rectangle 9"/>
          <p:cNvSpPr/>
          <p:nvPr/>
        </p:nvSpPr>
        <p:spPr>
          <a:xfrm>
            <a:off x="6949440" y="1463040"/>
            <a:ext cx="475488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1600200"/>
            <a:ext cx="4389120" cy="365760"/>
          </a:xfrm>
          <a:prstGeom prst="rect">
            <a:avLst/>
          </a:prstGeom>
          <a:noFill/>
        </p:spPr>
        <p:txBody>
          <a:bodyPr wrap="square" lIns="36576" rIns="36576">
            <a:spAutoFit/>
          </a:bodyPr>
          <a:lstStyle/>
          <a:p>
            <a:pPr>
              <a:spcAft>
                <a:spcPts val="600"/>
              </a:spcAft>
              <a:defRPr sz="1500" b="1">
                <a:solidFill>
                  <a:srgbClr val="2DD4E0"/>
                </a:solidFill>
                <a:latin typeface="Segoe UI"/>
              </a:defRPr>
            </a:pPr>
            <a:r>
              <a:t>Sharing ablation (48 states)</a:t>
            </a:r>
          </a:p>
        </p:txBody>
      </p:sp>
      <p:graphicFrame>
        <p:nvGraphicFramePr>
          <p:cNvPr id="12" name="Table 11"/>
          <p:cNvGraphicFramePr>
            <a:graphicFrameLocks noGrp="1"/>
          </p:cNvGraphicFramePr>
          <p:nvPr/>
        </p:nvGraphicFramePr>
        <p:xfrm>
          <a:off x="7132320" y="2011680"/>
          <a:ext cx="4389120" cy="1645920"/>
        </p:xfrm>
        <a:graphic>
          <a:graphicData uri="http://schemas.openxmlformats.org/drawingml/2006/table">
            <a:tbl>
              <a:tblPr firstRow="0" bandRow="0">
                <a:tableStyleId>{5C22544A-7EE6-4342-B048-85BDC9FD1C3A}</a:tableStyleId>
              </a:tblPr>
              <a:tblGrid>
                <a:gridCol w="1645920"/>
                <a:gridCol w="1554480"/>
                <a:gridCol w="1188720"/>
              </a:tblGrid>
              <a:tr h="411480">
                <a:tc>
                  <a:txBody>
                    <a:bodyPr/>
                    <a:lstStyle/>
                    <a:p>
                      <a:pPr algn="l">
                        <a:defRPr sz="1300" b="1">
                          <a:solidFill>
                            <a:srgbClr val="2DD4E0"/>
                          </a:solidFill>
                          <a:latin typeface="Segoe UI"/>
                        </a:defRPr>
                      </a:pPr>
                      <a:r>
                        <a:t>sharing</a:t>
                      </a:r>
                    </a:p>
                  </a:txBody>
                  <a:tcPr marL="64008" marR="64008" marT="27432" marB="27432" anchor="ctr">
                    <a:solidFill>
                      <a:srgbClr val="1E2A42"/>
                    </a:solidFill>
                  </a:tcPr>
                </a:tc>
                <a:tc>
                  <a:txBody>
                    <a:bodyPr/>
                    <a:lstStyle/>
                    <a:p>
                      <a:pPr algn="ctr">
                        <a:defRPr sz="1300" b="1">
                          <a:solidFill>
                            <a:srgbClr val="2DD4E0"/>
                          </a:solidFill>
                          <a:latin typeface="Segoe UI"/>
                        </a:defRPr>
                      </a:pPr>
                      <a:r>
                        <a:t>mean rollouts</a:t>
                      </a:r>
                    </a:p>
                  </a:txBody>
                  <a:tcPr marL="64008" marR="64008" marT="27432" marB="27432" anchor="ctr">
                    <a:solidFill>
                      <a:srgbClr val="1E2A42"/>
                    </a:solidFill>
                  </a:tcPr>
                </a:tc>
                <a:tc>
                  <a:txBody>
                    <a:bodyPr/>
                    <a:lstStyle/>
                    <a:p>
                      <a:pPr algn="ctr">
                        <a:defRPr sz="1300" b="1">
                          <a:solidFill>
                            <a:srgbClr val="2DD4E0"/>
                          </a:solidFill>
                          <a:latin typeface="Segoe UI"/>
                        </a:defRPr>
                      </a:pPr>
                      <a:r>
                        <a:t>accuracy</a:t>
                      </a:r>
                    </a:p>
                  </a:txBody>
                  <a:tcPr marL="64008" marR="64008" marT="27432" marB="27432" anchor="ctr">
                    <a:solidFill>
                      <a:srgbClr val="1E2A42"/>
                    </a:solidFill>
                  </a:tcPr>
                </a:tc>
              </a:tr>
              <a:tr h="411480">
                <a:tc>
                  <a:txBody>
                    <a:bodyPr/>
                    <a:lstStyle/>
                    <a:p>
                      <a:pPr algn="l">
                        <a:defRPr sz="1300" b="0">
                          <a:solidFill>
                            <a:srgbClr val="E8EDF7"/>
                          </a:solidFill>
                          <a:latin typeface="Segoe UI"/>
                        </a:defRPr>
                      </a:pPr>
                      <a:r>
                        <a:t>none</a:t>
                      </a:r>
                    </a:p>
                  </a:txBody>
                  <a:tcPr marL="64008" marR="64008" marT="27432" marB="27432" anchor="ctr">
                    <a:solidFill>
                      <a:srgbClr val="151D2E"/>
                    </a:solidFill>
                  </a:tcPr>
                </a:tc>
                <a:tc>
                  <a:txBody>
                    <a:bodyPr/>
                    <a:lstStyle/>
                    <a:p>
                      <a:pPr algn="ctr">
                        <a:defRPr sz="1300" b="0">
                          <a:solidFill>
                            <a:srgbClr val="E8EDF7"/>
                          </a:solidFill>
                          <a:latin typeface="Segoe UI"/>
                        </a:defRPr>
                      </a:pPr>
                      <a:r>
                        <a:t>18,448</a:t>
                      </a:r>
                    </a:p>
                  </a:txBody>
                  <a:tcPr marL="64008" marR="64008" marT="27432" marB="27432" anchor="ctr">
                    <a:solidFill>
                      <a:srgbClr val="151D2E"/>
                    </a:solidFill>
                  </a:tcPr>
                </a:tc>
                <a:tc>
                  <a:txBody>
                    <a:bodyPr/>
                    <a:lstStyle/>
                    <a:p>
                      <a:pPr algn="ctr">
                        <a:defRPr sz="1300" b="0">
                          <a:solidFill>
                            <a:srgbClr val="E8EDF7"/>
                          </a:solidFill>
                          <a:latin typeface="Segoe UI"/>
                        </a:defRPr>
                      </a:pPr>
                      <a:r>
                        <a:t>93 %</a:t>
                      </a:r>
                    </a:p>
                  </a:txBody>
                  <a:tcPr marL="64008" marR="64008" marT="27432" marB="27432" anchor="ctr">
                    <a:solidFill>
                      <a:srgbClr val="151D2E"/>
                    </a:solidFill>
                  </a:tcPr>
                </a:tc>
              </a:tr>
              <a:tr h="411480">
                <a:tc>
                  <a:txBody>
                    <a:bodyPr/>
                    <a:lstStyle/>
                    <a:p>
                      <a:pPr algn="l">
                        <a:defRPr sz="1300" b="0">
                          <a:solidFill>
                            <a:srgbClr val="E8EDF7"/>
                          </a:solidFill>
                          <a:latin typeface="Segoe UI"/>
                        </a:defRPr>
                      </a:pPr>
                      <a:r>
                        <a:t>valid (Thm 3)</a:t>
                      </a:r>
                    </a:p>
                  </a:txBody>
                  <a:tcPr marL="64008" marR="64008" marT="27432" marB="27432" anchor="ctr">
                    <a:solidFill>
                      <a:srgbClr val="151D2E"/>
                    </a:solidFill>
                  </a:tcPr>
                </a:tc>
                <a:tc>
                  <a:txBody>
                    <a:bodyPr/>
                    <a:lstStyle/>
                    <a:p>
                      <a:pPr algn="ctr">
                        <a:defRPr sz="1300" b="0">
                          <a:solidFill>
                            <a:srgbClr val="E8EDF7"/>
                          </a:solidFill>
                          <a:latin typeface="Segoe UI"/>
                        </a:defRPr>
                      </a:pPr>
                      <a:r>
                        <a:t>12,693</a:t>
                      </a:r>
                    </a:p>
                  </a:txBody>
                  <a:tcPr marL="64008" marR="64008" marT="27432" marB="27432" anchor="ctr">
                    <a:solidFill>
                      <a:srgbClr val="151D2E"/>
                    </a:solidFill>
                  </a:tcPr>
                </a:tc>
                <a:tc>
                  <a:txBody>
                    <a:bodyPr/>
                    <a:lstStyle/>
                    <a:p>
                      <a:pPr algn="ctr">
                        <a:defRPr sz="1300" b="0">
                          <a:solidFill>
                            <a:srgbClr val="E8EDF7"/>
                          </a:solidFill>
                          <a:latin typeface="Segoe UI"/>
                        </a:defRPr>
                      </a:pPr>
                      <a:r>
                        <a:t>97 %</a:t>
                      </a:r>
                    </a:p>
                  </a:txBody>
                  <a:tcPr marL="64008" marR="64008" marT="27432" marB="27432" anchor="ctr">
                    <a:solidFill>
                      <a:srgbClr val="151D2E"/>
                    </a:solidFill>
                  </a:tcPr>
                </a:tc>
              </a:tr>
              <a:tr h="411480">
                <a:tc>
                  <a:txBody>
                    <a:bodyPr/>
                    <a:lstStyle/>
                    <a:p>
                      <a:pPr algn="l">
                        <a:defRPr sz="1300" b="0">
                          <a:solidFill>
                            <a:srgbClr val="E8EDF7"/>
                          </a:solidFill>
                          <a:latin typeface="Segoe UI"/>
                        </a:defRPr>
                      </a:pPr>
                      <a:r>
                        <a:t>naive ✗</a:t>
                      </a:r>
                    </a:p>
                  </a:txBody>
                  <a:tcPr marL="64008" marR="64008" marT="27432" marB="27432" anchor="ctr">
                    <a:solidFill>
                      <a:srgbClr val="1A263C"/>
                    </a:solidFill>
                  </a:tcPr>
                </a:tc>
                <a:tc>
                  <a:txBody>
                    <a:bodyPr/>
                    <a:lstStyle/>
                    <a:p>
                      <a:pPr algn="ctr">
                        <a:defRPr sz="1300" b="0">
                          <a:solidFill>
                            <a:srgbClr val="E8EDF7"/>
                          </a:solidFill>
                          <a:latin typeface="Segoe UI"/>
                        </a:defRPr>
                      </a:pPr>
                      <a:r>
                        <a:t>5,355</a:t>
                      </a:r>
                    </a:p>
                  </a:txBody>
                  <a:tcPr marL="64008" marR="64008" marT="27432" marB="27432" anchor="ctr">
                    <a:solidFill>
                      <a:srgbClr val="1A263C"/>
                    </a:solidFill>
                  </a:tcPr>
                </a:tc>
                <a:tc>
                  <a:txBody>
                    <a:bodyPr/>
                    <a:lstStyle/>
                    <a:p>
                      <a:pPr algn="ctr">
                        <a:defRPr sz="1300" b="0">
                          <a:solidFill>
                            <a:srgbClr val="E8EDF7"/>
                          </a:solidFill>
                          <a:latin typeface="Segoe UI"/>
                        </a:defRPr>
                      </a:pPr>
                      <a:r>
                        <a:t>47 %</a:t>
                      </a:r>
                    </a:p>
                  </a:txBody>
                  <a:tcPr marL="64008" marR="64008" marT="27432" marB="27432" anchor="ctr">
                    <a:solidFill>
                      <a:srgbClr val="1A263C"/>
                    </a:solidFill>
                  </a:tcPr>
                </a:tc>
              </a:tr>
            </a:tbl>
          </a:graphicData>
        </a:graphic>
      </p:graphicFrame>
      <p:sp>
        <p:nvSpPr>
          <p:cNvPr id="13" name="TextBox 12"/>
          <p:cNvSpPr txBox="1"/>
          <p:nvPr/>
        </p:nvSpPr>
        <p:spPr>
          <a:xfrm>
            <a:off x="7132320" y="3886200"/>
            <a:ext cx="4389120" cy="2286000"/>
          </a:xfrm>
          <a:prstGeom prst="rect">
            <a:avLst/>
          </a:prstGeom>
          <a:noFill/>
        </p:spPr>
        <p:txBody>
          <a:bodyPr wrap="square" lIns="36576" rIns="36576">
            <a:spAutoFit/>
          </a:bodyPr>
          <a:lstStyle/>
          <a:p>
            <a:pPr>
              <a:spcAft>
                <a:spcPts val="600"/>
              </a:spcAft>
              <a:defRPr sz="1300" b="0">
                <a:solidFill>
                  <a:srgbClr val="E8EDF7"/>
                </a:solidFill>
                <a:latin typeface="Segoe UI"/>
              </a:defRPr>
            </a:pPr>
            <a:r>
              <a:t>•  Valid sharing: 1.45× fewer rollouts than no sharing, accuracy not reduced.</a:t>
            </a:r>
          </a:p>
          <a:p>
            <a:pPr>
              <a:spcAft>
                <a:spcPts val="600"/>
              </a:spcAft>
              <a:defRPr sz="1300" b="0">
                <a:solidFill>
                  <a:srgbClr val="E8EDF7"/>
                </a:solidFill>
                <a:latin typeface="Segoe UI"/>
              </a:defRPr>
            </a:pPr>
            <a:r>
              <a:t>•  Naive sharing: accuracy collapses to 47 %; it stops early with a wrong answer. Never use it.</a:t>
            </a:r>
          </a:p>
          <a:p>
            <a:pPr>
              <a:spcAft>
                <a:spcPts val="600"/>
              </a:spcAft>
              <a:defRPr sz="1300" b="0">
                <a:solidFill>
                  <a:srgbClr val="E8EDF7"/>
                </a:solidFill>
                <a:latin typeface="Segoe UI"/>
              </a:defRPr>
            </a:pPr>
            <a:r>
              <a:t>•  Sharing is switched off automatically when state reconstruction is noisy (A1 violated).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MODELS OF COMPUTATION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The 48-state agent automaton</a:t>
            </a:r>
          </a:p>
        </p:txBody>
      </p:sp>
      <p:sp>
        <p:nvSpPr>
          <p:cNvPr id="5" name="Rounded Rectangle 4"/>
          <p:cNvSpPr/>
          <p:nvPr/>
        </p:nvSpPr>
        <p:spPr>
          <a:xfrm>
            <a:off x="1061161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12</a:t>
            </a:r>
          </a:p>
        </p:txBody>
      </p:sp>
      <p:pic>
        <p:nvPicPr>
          <p:cNvPr id="8" name="Picture 7" descr="fig12_automaton_48_states.png"/>
          <p:cNvPicPr>
            <a:picLocks noChangeAspect="1"/>
          </p:cNvPicPr>
          <p:nvPr/>
        </p:nvPicPr>
        <p:blipFill>
          <a:blip r:embed="rId3"/>
          <a:stretch>
            <a:fillRect/>
          </a:stretch>
        </p:blipFill>
        <p:spPr>
          <a:xfrm>
            <a:off x="457200" y="1595067"/>
            <a:ext cx="7589520" cy="4490825"/>
          </a:xfrm>
          <a:prstGeom prst="rect">
            <a:avLst/>
          </a:prstGeom>
        </p:spPr>
      </p:pic>
      <p:sp>
        <p:nvSpPr>
          <p:cNvPr id="9" name="Rounded Rectangle 8"/>
          <p:cNvSpPr/>
          <p:nvPr/>
        </p:nvSpPr>
        <p:spPr>
          <a:xfrm>
            <a:off x="8229600" y="1463040"/>
            <a:ext cx="347472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0" y="1600200"/>
            <a:ext cx="310896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Structure</a:t>
            </a:r>
          </a:p>
        </p:txBody>
      </p:sp>
      <p:sp>
        <p:nvSpPr>
          <p:cNvPr id="11" name="TextBox 10"/>
          <p:cNvSpPr txBox="1"/>
          <p:nvPr/>
        </p:nvSpPr>
        <p:spPr>
          <a:xfrm>
            <a:off x="8412480" y="2057400"/>
            <a:ext cx="3108960" cy="4023360"/>
          </a:xfrm>
          <a:prstGeom prst="rect">
            <a:avLst/>
          </a:prstGeom>
          <a:noFill/>
        </p:spPr>
        <p:txBody>
          <a:bodyPr wrap="square" lIns="36576" rIns="36576">
            <a:spAutoFit/>
          </a:bodyPr>
          <a:lstStyle/>
          <a:p>
            <a:pPr>
              <a:spcAft>
                <a:spcPts val="600"/>
              </a:spcAft>
              <a:defRPr sz="1400" b="0">
                <a:solidFill>
                  <a:srgbClr val="E8EDF7"/>
                </a:solidFill>
                <a:latin typeface="Segoe UI"/>
              </a:defRPr>
            </a:pPr>
            <a:r>
              <a:t>•  48 distinct logical states (6 × 8)</a:t>
            </a:r>
          </a:p>
          <a:p>
            <a:pPr>
              <a:spcAft>
                <a:spcPts val="600"/>
              </a:spcAft>
              <a:defRPr sz="1400" b="0">
                <a:solidFill>
                  <a:srgbClr val="E8EDF7"/>
                </a:solidFill>
                <a:latin typeface="Segoe UI"/>
              </a:defRPr>
            </a:pPr>
            <a:r>
              <a:t>•  Roles: benign, decision, fault entry, corridor, recovery, terminal</a:t>
            </a:r>
          </a:p>
          <a:p>
            <a:pPr>
              <a:spcAft>
                <a:spcPts val="600"/>
              </a:spcAft>
              <a:defRPr sz="1400" b="0">
                <a:solidFill>
                  <a:srgbClr val="E8EDF7"/>
                </a:solidFill>
                <a:latin typeface="Segoe UI"/>
              </a:defRPr>
            </a:pPr>
            <a:r>
              <a:t>•  Exact V_t(q) by backward induction</a:t>
            </a:r>
          </a:p>
          <a:p>
            <a:pPr>
              <a:spcAft>
                <a:spcPts val="600"/>
              </a:spcAft>
              <a:defRPr sz="1400" b="0">
                <a:solidFill>
                  <a:srgbClr val="E8EDF7"/>
                </a:solidFill>
                <a:latin typeface="Segoe UI"/>
              </a:defRPr>
            </a:pPr>
            <a:r>
              <a:t>•  Ground truth μ_t known — algorithms never see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MODELS OF COMPUTATION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Finite-state views of the same specification</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13</a:t>
            </a:r>
          </a:p>
        </p:txBody>
      </p:sp>
      <p:sp>
        <p:nvSpPr>
          <p:cNvPr id="8" name="Rounded Rectangle 7"/>
          <p:cNvSpPr/>
          <p:nvPr/>
        </p:nvSpPr>
        <p:spPr>
          <a:xfrm>
            <a:off x="457200" y="1371600"/>
            <a:ext cx="5486400" cy="434340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fig06_dfa.png"/>
          <p:cNvPicPr>
            <a:picLocks noChangeAspect="1"/>
          </p:cNvPicPr>
          <p:nvPr/>
        </p:nvPicPr>
        <p:blipFill>
          <a:blip r:embed="rId3"/>
          <a:stretch>
            <a:fillRect/>
          </a:stretch>
        </p:blipFill>
        <p:spPr>
          <a:xfrm>
            <a:off x="548640" y="2094260"/>
            <a:ext cx="5303520" cy="2486598"/>
          </a:xfrm>
          <a:prstGeom prst="rect">
            <a:avLst/>
          </a:prstGeom>
        </p:spPr>
      </p:pic>
      <p:sp>
        <p:nvSpPr>
          <p:cNvPr id="10" name="TextBox 9"/>
          <p:cNvSpPr txBox="1"/>
          <p:nvPr/>
        </p:nvSpPr>
        <p:spPr>
          <a:xfrm>
            <a:off x="548640" y="5212080"/>
            <a:ext cx="5303520" cy="365760"/>
          </a:xfrm>
          <a:prstGeom prst="rect">
            <a:avLst/>
          </a:prstGeom>
          <a:noFill/>
        </p:spPr>
        <p:txBody>
          <a:bodyPr wrap="square" lIns="36576" rIns="36576">
            <a:spAutoFit/>
          </a:bodyPr>
          <a:lstStyle/>
          <a:p>
            <a:pPr algn="ctr">
              <a:spcAft>
                <a:spcPts val="600"/>
              </a:spcAft>
              <a:defRPr sz="1300" b="1">
                <a:solidFill>
                  <a:srgbClr val="2DD4E0"/>
                </a:solidFill>
                <a:latin typeface="Segoe UI"/>
              </a:defRPr>
            </a:pPr>
            <a:r>
              <a:t>DFA — total δ, explicit sink</a:t>
            </a:r>
          </a:p>
        </p:txBody>
      </p:sp>
      <p:sp>
        <p:nvSpPr>
          <p:cNvPr id="11" name="Rounded Rectangle 10"/>
          <p:cNvSpPr/>
          <p:nvPr/>
        </p:nvSpPr>
        <p:spPr>
          <a:xfrm>
            <a:off x="6126480" y="1371600"/>
            <a:ext cx="5577840" cy="210312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ig07_nfa_active_sets.png"/>
          <p:cNvPicPr>
            <a:picLocks noChangeAspect="1"/>
          </p:cNvPicPr>
          <p:nvPr/>
        </p:nvPicPr>
        <p:blipFill>
          <a:blip r:embed="rId4"/>
          <a:stretch>
            <a:fillRect/>
          </a:stretch>
        </p:blipFill>
        <p:spPr>
          <a:xfrm>
            <a:off x="6217920" y="1585173"/>
            <a:ext cx="5394960" cy="1264492"/>
          </a:xfrm>
          <a:prstGeom prst="rect">
            <a:avLst/>
          </a:prstGeom>
        </p:spPr>
      </p:pic>
      <p:sp>
        <p:nvSpPr>
          <p:cNvPr id="13" name="TextBox 12"/>
          <p:cNvSpPr txBox="1"/>
          <p:nvPr/>
        </p:nvSpPr>
        <p:spPr>
          <a:xfrm>
            <a:off x="6217920" y="3017520"/>
            <a:ext cx="5394960" cy="365760"/>
          </a:xfrm>
          <a:prstGeom prst="rect">
            <a:avLst/>
          </a:prstGeom>
          <a:noFill/>
        </p:spPr>
        <p:txBody>
          <a:bodyPr wrap="square" lIns="36576" rIns="36576">
            <a:spAutoFit/>
          </a:bodyPr>
          <a:lstStyle/>
          <a:p>
            <a:pPr algn="ctr">
              <a:spcAft>
                <a:spcPts val="600"/>
              </a:spcAft>
              <a:defRPr sz="1300" b="1">
                <a:solidFill>
                  <a:srgbClr val="2DD4E0"/>
                </a:solidFill>
                <a:latin typeface="Segoe UI"/>
              </a:defRPr>
            </a:pPr>
            <a:r>
              <a:t>NFA — active-state sets</a:t>
            </a:r>
          </a:p>
        </p:txBody>
      </p:sp>
      <p:sp>
        <p:nvSpPr>
          <p:cNvPr id="14" name="Rounded Rectangle 13"/>
          <p:cNvSpPr/>
          <p:nvPr/>
        </p:nvSpPr>
        <p:spPr>
          <a:xfrm>
            <a:off x="6126480" y="3566160"/>
            <a:ext cx="5577840" cy="210312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fig08_enfa_closure.png"/>
          <p:cNvPicPr>
            <a:picLocks noChangeAspect="1"/>
          </p:cNvPicPr>
          <p:nvPr/>
        </p:nvPicPr>
        <p:blipFill>
          <a:blip r:embed="rId5"/>
          <a:stretch>
            <a:fillRect/>
          </a:stretch>
        </p:blipFill>
        <p:spPr>
          <a:xfrm>
            <a:off x="6217920" y="4085819"/>
            <a:ext cx="5394960" cy="652320"/>
          </a:xfrm>
          <a:prstGeom prst="rect">
            <a:avLst/>
          </a:prstGeom>
        </p:spPr>
      </p:pic>
      <p:sp>
        <p:nvSpPr>
          <p:cNvPr id="16" name="TextBox 15"/>
          <p:cNvSpPr txBox="1"/>
          <p:nvPr/>
        </p:nvSpPr>
        <p:spPr>
          <a:xfrm>
            <a:off x="6217920" y="5212079"/>
            <a:ext cx="5394960" cy="365760"/>
          </a:xfrm>
          <a:prstGeom prst="rect">
            <a:avLst/>
          </a:prstGeom>
          <a:noFill/>
        </p:spPr>
        <p:txBody>
          <a:bodyPr wrap="square" lIns="36576" rIns="36576">
            <a:spAutoFit/>
          </a:bodyPr>
          <a:lstStyle/>
          <a:p>
            <a:pPr algn="ctr">
              <a:spcAft>
                <a:spcPts val="600"/>
              </a:spcAft>
              <a:defRPr sz="1300" b="1">
                <a:solidFill>
                  <a:srgbClr val="2DD4E0"/>
                </a:solidFill>
                <a:latin typeface="Segoe UI"/>
              </a:defRPr>
            </a:pPr>
            <a:r>
              <a:t>ε-NFA — ε-closure</a:t>
            </a:r>
          </a:p>
        </p:txBody>
      </p:sp>
      <p:sp>
        <p:nvSpPr>
          <p:cNvPr id="17" name="TextBox 16"/>
          <p:cNvSpPr txBox="1"/>
          <p:nvPr/>
        </p:nvSpPr>
        <p:spPr>
          <a:xfrm>
            <a:off x="548640" y="5852160"/>
            <a:ext cx="11064240" cy="548640"/>
          </a:xfrm>
          <a:prstGeom prst="rect">
            <a:avLst/>
          </a:prstGeom>
          <a:noFill/>
        </p:spPr>
        <p:txBody>
          <a:bodyPr wrap="square" lIns="36576" rIns="36576">
            <a:spAutoFit/>
          </a:bodyPr>
          <a:lstStyle/>
          <a:p>
            <a:pPr>
              <a:spcAft>
                <a:spcPts val="600"/>
              </a:spcAft>
              <a:defRPr sz="1300" b="0">
                <a:solidFill>
                  <a:srgbClr val="96A3BE"/>
                </a:solidFill>
                <a:latin typeface="Segoe UI"/>
              </a:defRPr>
            </a:pPr>
            <a:r>
              <a:t>Nondeterminism in an NFA is a formal device (“some path accepts”). LLM sampling randomness is probabilistic and belongs to the probabilistic automaton below.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MODELS OF COMPUTATION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Probabilistic automaton and labelled transition system</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14</a:t>
            </a:r>
          </a:p>
        </p:txBody>
      </p:sp>
      <p:pic>
        <p:nvPicPr>
          <p:cNvPr id="8" name="Picture 7" descr="fig09_probabilistic_automaton.png"/>
          <p:cNvPicPr>
            <a:picLocks noChangeAspect="1"/>
          </p:cNvPicPr>
          <p:nvPr/>
        </p:nvPicPr>
        <p:blipFill>
          <a:blip r:embed="rId3"/>
          <a:stretch>
            <a:fillRect/>
          </a:stretch>
        </p:blipFill>
        <p:spPr>
          <a:xfrm>
            <a:off x="457200" y="1982017"/>
            <a:ext cx="6766560" cy="3716925"/>
          </a:xfrm>
          <a:prstGeom prst="rect">
            <a:avLst/>
          </a:prstGeom>
        </p:spPr>
      </p:pic>
      <p:sp>
        <p:nvSpPr>
          <p:cNvPr id="9" name="Rounded Rectangle 8"/>
          <p:cNvSpPr/>
          <p:nvPr/>
        </p:nvSpPr>
        <p:spPr>
          <a:xfrm>
            <a:off x="7452360" y="1463040"/>
            <a:ext cx="425196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1600200"/>
            <a:ext cx="3931920" cy="365760"/>
          </a:xfrm>
          <a:prstGeom prst="rect">
            <a:avLst/>
          </a:prstGeom>
          <a:noFill/>
        </p:spPr>
        <p:txBody>
          <a:bodyPr wrap="square" lIns="36576" rIns="36576">
            <a:spAutoFit/>
          </a:bodyPr>
          <a:lstStyle/>
          <a:p>
            <a:pPr>
              <a:spcAft>
                <a:spcPts val="600"/>
              </a:spcAft>
              <a:defRPr sz="1600" b="1">
                <a:solidFill>
                  <a:srgbClr val="2DD4E0"/>
                </a:solidFill>
                <a:latin typeface="Segoe UI Semibold"/>
              </a:defRPr>
            </a:pPr>
            <a:r>
              <a:t>Why these two</a:t>
            </a:r>
          </a:p>
        </p:txBody>
      </p:sp>
      <p:sp>
        <p:nvSpPr>
          <p:cNvPr id="11" name="TextBox 10"/>
          <p:cNvSpPr txBox="1"/>
          <p:nvPr/>
        </p:nvSpPr>
        <p:spPr>
          <a:xfrm>
            <a:off x="7635240" y="2057400"/>
            <a:ext cx="3931920" cy="4023360"/>
          </a:xfrm>
          <a:prstGeom prst="rect">
            <a:avLst/>
          </a:prstGeom>
          <a:noFill/>
        </p:spPr>
        <p:txBody>
          <a:bodyPr wrap="square" lIns="36576" rIns="36576">
            <a:spAutoFit/>
          </a:bodyPr>
          <a:lstStyle/>
          <a:p>
            <a:pPr>
              <a:spcAft>
                <a:spcPts val="600"/>
              </a:spcAft>
              <a:defRPr sz="1400" b="0">
                <a:solidFill>
                  <a:srgbClr val="E8EDF7"/>
                </a:solidFill>
                <a:latin typeface="Segoe UI"/>
              </a:defRPr>
            </a:pPr>
            <a:r>
              <a:t>•  PA: P(w) = e_{q₀}ᵀ M_{a₁}…M_{aₙ} 1_F</a:t>
            </a:r>
          </a:p>
          <a:p>
            <a:pPr>
              <a:spcAft>
                <a:spcPts val="600"/>
              </a:spcAft>
              <a:defRPr sz="1400" b="0">
                <a:solidFill>
                  <a:srgbClr val="E8EDF7"/>
                </a:solidFill>
                <a:latin typeface="Segoe UI"/>
              </a:defRPr>
            </a:pPr>
            <a:r>
              <a:t>•  LTS: labelled actions, reachability, deadlocks</a:t>
            </a:r>
          </a:p>
          <a:p>
            <a:pPr>
              <a:spcAft>
                <a:spcPts val="600"/>
              </a:spcAft>
              <a:defRPr sz="1400" b="0">
                <a:solidFill>
                  <a:srgbClr val="E8EDF7"/>
                </a:solidFill>
                <a:latin typeface="Segoe UI"/>
              </a:defRPr>
            </a:pPr>
            <a:r>
              <a:t>•  Exact μ_t^rep = Σ P(q′|q,ρ(q)) V_t(q′)</a:t>
            </a:r>
          </a:p>
          <a:p>
            <a:pPr>
              <a:spcAft>
                <a:spcPts val="600"/>
              </a:spcAft>
              <a:defRPr sz="1400" b="0">
                <a:solidFill>
                  <a:srgbClr val="E8EDF7"/>
                </a:solidFill>
                <a:latin typeface="Segoe UI"/>
              </a:defRPr>
            </a:pPr>
            <a:r>
              <a:t>•  Exact μ_t^res = V_{t−1}(q_{t−1})</a:t>
            </a:r>
          </a:p>
          <a:p>
            <a:pPr>
              <a:spcAft>
                <a:spcPts val="600"/>
              </a:spcAft>
              <a:defRPr sz="1400" b="0">
                <a:solidFill>
                  <a:srgbClr val="E8EDF7"/>
                </a:solidFill>
                <a:latin typeface="Segoe UI"/>
              </a:defRPr>
            </a:pPr>
            <a:r>
              <a:t>•  Used as ground truth for every experiment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MODELS OF COMPUTATION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Beyond finite state: transducers, PDA, Turing machine</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15</a:t>
            </a:r>
          </a:p>
        </p:txBody>
      </p:sp>
      <p:graphicFrame>
        <p:nvGraphicFramePr>
          <p:cNvPr id="8" name="Table 7"/>
          <p:cNvGraphicFramePr>
            <a:graphicFrameLocks noGrp="1"/>
          </p:cNvGraphicFramePr>
          <p:nvPr/>
        </p:nvGraphicFramePr>
        <p:xfrm>
          <a:off x="548640" y="1508760"/>
          <a:ext cx="11064240" cy="3401568"/>
        </p:xfrm>
        <a:graphic>
          <a:graphicData uri="http://schemas.openxmlformats.org/drawingml/2006/table">
            <a:tbl>
              <a:tblPr firstRow="0" bandRow="0">
                <a:tableStyleId>{5C22544A-7EE6-4342-B048-85BDC9FD1C3A}</a:tableStyleId>
              </a:tblPr>
              <a:tblGrid>
                <a:gridCol w="2194560"/>
                <a:gridCol w="1554480"/>
                <a:gridCol w="2743200"/>
                <a:gridCol w="2468880"/>
                <a:gridCol w="2103120"/>
              </a:tblGrid>
              <a:tr h="566928">
                <a:tc>
                  <a:txBody>
                    <a:bodyPr/>
                    <a:lstStyle/>
                    <a:p>
                      <a:pPr algn="l">
                        <a:defRPr sz="1200" b="1">
                          <a:solidFill>
                            <a:srgbClr val="2DD4E0"/>
                          </a:solidFill>
                          <a:latin typeface="Segoe UI"/>
                        </a:defRPr>
                      </a:pPr>
                      <a:r>
                        <a:t>Model</a:t>
                      </a:r>
                    </a:p>
                  </a:txBody>
                  <a:tcPr marL="64008" marR="64008" marT="27432" marB="27432" anchor="ctr">
                    <a:solidFill>
                      <a:srgbClr val="1E2A42"/>
                    </a:solidFill>
                  </a:tcPr>
                </a:tc>
                <a:tc>
                  <a:txBody>
                    <a:bodyPr/>
                    <a:lstStyle/>
                    <a:p>
                      <a:pPr algn="ctr">
                        <a:defRPr sz="1200" b="1">
                          <a:solidFill>
                            <a:srgbClr val="2DD4E0"/>
                          </a:solidFill>
                          <a:latin typeface="Segoe UI"/>
                        </a:defRPr>
                      </a:pPr>
                      <a:r>
                        <a:t>Memory</a:t>
                      </a:r>
                    </a:p>
                  </a:txBody>
                  <a:tcPr marL="64008" marR="64008" marT="27432" marB="27432" anchor="ctr">
                    <a:solidFill>
                      <a:srgbClr val="1E2A42"/>
                    </a:solidFill>
                  </a:tcPr>
                </a:tc>
                <a:tc>
                  <a:txBody>
                    <a:bodyPr/>
                    <a:lstStyle/>
                    <a:p>
                      <a:pPr algn="ctr">
                        <a:defRPr sz="1200" b="1">
                          <a:solidFill>
                            <a:srgbClr val="2DD4E0"/>
                          </a:solidFill>
                          <a:latin typeface="Segoe UI"/>
                        </a:defRPr>
                      </a:pPr>
                      <a:r>
                        <a:t>Output / acceptance</a:t>
                      </a:r>
                    </a:p>
                  </a:txBody>
                  <a:tcPr marL="64008" marR="64008" marT="27432" marB="27432" anchor="ctr">
                    <a:solidFill>
                      <a:srgbClr val="1E2A42"/>
                    </a:solidFill>
                  </a:tcPr>
                </a:tc>
                <a:tc>
                  <a:txBody>
                    <a:bodyPr/>
                    <a:lstStyle/>
                    <a:p>
                      <a:pPr algn="ctr">
                        <a:defRPr sz="1200" b="1">
                          <a:solidFill>
                            <a:srgbClr val="2DD4E0"/>
                          </a:solidFill>
                          <a:latin typeface="Segoe UI"/>
                        </a:defRPr>
                      </a:pPr>
                      <a:r>
                        <a:t>Agent-trace use</a:t>
                      </a:r>
                    </a:p>
                  </a:txBody>
                  <a:tcPr marL="64008" marR="64008" marT="27432" marB="27432" anchor="ctr">
                    <a:solidFill>
                      <a:srgbClr val="1E2A42"/>
                    </a:solidFill>
                  </a:tcPr>
                </a:tc>
                <a:tc>
                  <a:txBody>
                    <a:bodyPr/>
                    <a:lstStyle/>
                    <a:p>
                      <a:pPr algn="ctr">
                        <a:defRPr sz="1200" b="1">
                          <a:solidFill>
                            <a:srgbClr val="2DD4E0"/>
                          </a:solidFill>
                          <a:latin typeface="Segoe UI"/>
                        </a:defRPr>
                      </a:pPr>
                      <a:r>
                        <a:t>Limit for attribution</a:t>
                      </a:r>
                    </a:p>
                  </a:txBody>
                  <a:tcPr marL="64008" marR="64008" marT="27432" marB="27432" anchor="ctr">
                    <a:solidFill>
                      <a:srgbClr val="1E2A42"/>
                    </a:solidFill>
                  </a:tcPr>
                </a:tc>
              </a:tr>
              <a:tr h="566928">
                <a:tc>
                  <a:txBody>
                    <a:bodyPr/>
                    <a:lstStyle/>
                    <a:p>
                      <a:pPr algn="l">
                        <a:defRPr sz="1200" b="0">
                          <a:solidFill>
                            <a:srgbClr val="E8EDF7"/>
                          </a:solidFill>
                          <a:latin typeface="Segoe UI"/>
                        </a:defRPr>
                      </a:pPr>
                      <a:r>
                        <a:t>Mealy</a:t>
                      </a:r>
                    </a:p>
                  </a:txBody>
                  <a:tcPr marL="64008" marR="64008" marT="27432" marB="27432" anchor="ctr">
                    <a:solidFill>
                      <a:srgbClr val="151D2E"/>
                    </a:solidFill>
                  </a:tcPr>
                </a:tc>
                <a:tc>
                  <a:txBody>
                    <a:bodyPr/>
                    <a:lstStyle/>
                    <a:p>
                      <a:pPr algn="ctr">
                        <a:defRPr sz="1200" b="0">
                          <a:solidFill>
                            <a:srgbClr val="E8EDF7"/>
                          </a:solidFill>
                          <a:latin typeface="Segoe UI"/>
                        </a:defRPr>
                      </a:pPr>
                      <a:r>
                        <a:t>finite</a:t>
                      </a:r>
                    </a:p>
                  </a:txBody>
                  <a:tcPr marL="64008" marR="64008" marT="27432" marB="27432" anchor="ctr">
                    <a:solidFill>
                      <a:srgbClr val="151D2E"/>
                    </a:solidFill>
                  </a:tcPr>
                </a:tc>
                <a:tc>
                  <a:txBody>
                    <a:bodyPr/>
                    <a:lstStyle/>
                    <a:p>
                      <a:pPr algn="ctr">
                        <a:defRPr sz="1200" b="0">
                          <a:solidFill>
                            <a:srgbClr val="E8EDF7"/>
                          </a:solidFill>
                          <a:latin typeface="Segoe UI"/>
                        </a:defRPr>
                      </a:pPr>
                      <a:r>
                        <a:t>output on transitions</a:t>
                      </a:r>
                    </a:p>
                  </a:txBody>
                  <a:tcPr marL="64008" marR="64008" marT="27432" marB="27432" anchor="ctr">
                    <a:solidFill>
                      <a:srgbClr val="151D2E"/>
                    </a:solidFill>
                  </a:tcPr>
                </a:tc>
                <a:tc>
                  <a:txBody>
                    <a:bodyPr/>
                    <a:lstStyle/>
                    <a:p>
                      <a:pPr algn="ctr">
                        <a:defRPr sz="1200" b="0">
                          <a:solidFill>
                            <a:srgbClr val="E8EDF7"/>
                          </a:solidFill>
                          <a:latin typeface="Segoe UI"/>
                        </a:defRPr>
                      </a:pPr>
                      <a:r>
                        <a:t>controller reacting to observations</a:t>
                      </a:r>
                    </a:p>
                  </a:txBody>
                  <a:tcPr marL="64008" marR="64008" marT="27432" marB="27432" anchor="ctr">
                    <a:solidFill>
                      <a:srgbClr val="151D2E"/>
                    </a:solidFill>
                  </a:tcPr>
                </a:tc>
                <a:tc>
                  <a:txBody>
                    <a:bodyPr/>
                    <a:lstStyle/>
                    <a:p>
                      <a:pPr algn="ctr">
                        <a:defRPr sz="1200" b="0">
                          <a:solidFill>
                            <a:srgbClr val="E8EDF7"/>
                          </a:solidFill>
                          <a:latin typeface="Segoe UI"/>
                        </a:defRPr>
                      </a:pPr>
                      <a:r>
                        <a:t>no acceptance notion</a:t>
                      </a:r>
                    </a:p>
                  </a:txBody>
                  <a:tcPr marL="64008" marR="64008" marT="27432" marB="27432" anchor="ctr">
                    <a:solidFill>
                      <a:srgbClr val="151D2E"/>
                    </a:solidFill>
                  </a:tcPr>
                </a:tc>
              </a:tr>
              <a:tr h="566928">
                <a:tc>
                  <a:txBody>
                    <a:bodyPr/>
                    <a:lstStyle/>
                    <a:p>
                      <a:pPr algn="l">
                        <a:defRPr sz="1200" b="0">
                          <a:solidFill>
                            <a:srgbClr val="E8EDF7"/>
                          </a:solidFill>
                          <a:latin typeface="Segoe UI"/>
                        </a:defRPr>
                      </a:pPr>
                      <a:r>
                        <a:t>Moore</a:t>
                      </a:r>
                    </a:p>
                  </a:txBody>
                  <a:tcPr marL="64008" marR="64008" marT="27432" marB="27432" anchor="ctr">
                    <a:solidFill>
                      <a:srgbClr val="151D2E"/>
                    </a:solidFill>
                  </a:tcPr>
                </a:tc>
                <a:tc>
                  <a:txBody>
                    <a:bodyPr/>
                    <a:lstStyle/>
                    <a:p>
                      <a:pPr algn="ctr">
                        <a:defRPr sz="1200" b="0">
                          <a:solidFill>
                            <a:srgbClr val="E8EDF7"/>
                          </a:solidFill>
                          <a:latin typeface="Segoe UI"/>
                        </a:defRPr>
                      </a:pPr>
                      <a:r>
                        <a:t>finite</a:t>
                      </a:r>
                    </a:p>
                  </a:txBody>
                  <a:tcPr marL="64008" marR="64008" marT="27432" marB="27432" anchor="ctr">
                    <a:solidFill>
                      <a:srgbClr val="151D2E"/>
                    </a:solidFill>
                  </a:tcPr>
                </a:tc>
                <a:tc>
                  <a:txBody>
                    <a:bodyPr/>
                    <a:lstStyle/>
                    <a:p>
                      <a:pPr algn="ctr">
                        <a:defRPr sz="1200" b="0">
                          <a:solidFill>
                            <a:srgbClr val="E8EDF7"/>
                          </a:solidFill>
                          <a:latin typeface="Segoe UI"/>
                        </a:defRPr>
                      </a:pPr>
                      <a:r>
                        <a:t>output on states (n+1 for n inputs)</a:t>
                      </a:r>
                    </a:p>
                  </a:txBody>
                  <a:tcPr marL="64008" marR="64008" marT="27432" marB="27432" anchor="ctr">
                    <a:solidFill>
                      <a:srgbClr val="151D2E"/>
                    </a:solidFill>
                  </a:tcPr>
                </a:tc>
                <a:tc>
                  <a:txBody>
                    <a:bodyPr/>
                    <a:lstStyle/>
                    <a:p>
                      <a:pPr algn="ctr">
                        <a:defRPr sz="1200" b="0">
                          <a:solidFill>
                            <a:srgbClr val="E8EDF7"/>
                          </a:solidFill>
                          <a:latin typeface="Segoe UI"/>
                        </a:defRPr>
                      </a:pPr>
                      <a:r>
                        <a:t>state = action being executed</a:t>
                      </a:r>
                    </a:p>
                  </a:txBody>
                  <a:tcPr marL="64008" marR="64008" marT="27432" marB="27432" anchor="ctr">
                    <a:solidFill>
                      <a:srgbClr val="151D2E"/>
                    </a:solidFill>
                  </a:tcPr>
                </a:tc>
                <a:tc>
                  <a:txBody>
                    <a:bodyPr/>
                    <a:lstStyle/>
                    <a:p>
                      <a:pPr algn="ctr">
                        <a:defRPr sz="1200" b="0">
                          <a:solidFill>
                            <a:srgbClr val="E8EDF7"/>
                          </a:solidFill>
                          <a:latin typeface="Segoe UI"/>
                        </a:defRPr>
                      </a:pPr>
                      <a:r>
                        <a:t>Mealy→Moore needs state expansion</a:t>
                      </a:r>
                    </a:p>
                  </a:txBody>
                  <a:tcPr marL="64008" marR="64008" marT="27432" marB="27432" anchor="ctr">
                    <a:solidFill>
                      <a:srgbClr val="151D2E"/>
                    </a:solidFill>
                  </a:tcPr>
                </a:tc>
              </a:tr>
              <a:tr h="566928">
                <a:tc>
                  <a:txBody>
                    <a:bodyPr/>
                    <a:lstStyle/>
                    <a:p>
                      <a:pPr algn="l">
                        <a:defRPr sz="1200" b="0">
                          <a:solidFill>
                            <a:srgbClr val="E8EDF7"/>
                          </a:solidFill>
                          <a:latin typeface="Segoe UI"/>
                        </a:defRPr>
                      </a:pPr>
                      <a:r>
                        <a:t>PDA</a:t>
                      </a:r>
                    </a:p>
                  </a:txBody>
                  <a:tcPr marL="64008" marR="64008" marT="27432" marB="27432" anchor="ctr">
                    <a:solidFill>
                      <a:srgbClr val="151D2E"/>
                    </a:solidFill>
                  </a:tcPr>
                </a:tc>
                <a:tc>
                  <a:txBody>
                    <a:bodyPr/>
                    <a:lstStyle/>
                    <a:p>
                      <a:pPr algn="ctr">
                        <a:defRPr sz="1200" b="0">
                          <a:solidFill>
                            <a:srgbClr val="E8EDF7"/>
                          </a:solidFill>
                          <a:latin typeface="Segoe UI"/>
                        </a:defRPr>
                      </a:pPr>
                      <a:r>
                        <a:t>unbounded stack</a:t>
                      </a:r>
                    </a:p>
                  </a:txBody>
                  <a:tcPr marL="64008" marR="64008" marT="27432" marB="27432" anchor="ctr">
                    <a:solidFill>
                      <a:srgbClr val="151D2E"/>
                    </a:solidFill>
                  </a:tcPr>
                </a:tc>
                <a:tc>
                  <a:txBody>
                    <a:bodyPr/>
                    <a:lstStyle/>
                    <a:p>
                      <a:pPr algn="ctr">
                        <a:defRPr sz="1200" b="0">
                          <a:solidFill>
                            <a:srgbClr val="E8EDF7"/>
                          </a:solidFill>
                          <a:latin typeface="Segoe UI"/>
                        </a:defRPr>
                      </a:pPr>
                      <a:r>
                        <a:t>final state / empty stack</a:t>
                      </a:r>
                    </a:p>
                  </a:txBody>
                  <a:tcPr marL="64008" marR="64008" marT="27432" marB="27432" anchor="ctr">
                    <a:solidFill>
                      <a:srgbClr val="151D2E"/>
                    </a:solidFill>
                  </a:tcPr>
                </a:tc>
                <a:tc>
                  <a:txBody>
                    <a:bodyPr/>
                    <a:lstStyle/>
                    <a:p>
                      <a:pPr algn="ctr">
                        <a:defRPr sz="1200" b="0">
                          <a:solidFill>
                            <a:srgbClr val="E8EDF7"/>
                          </a:solidFill>
                          <a:latin typeface="Segoe UI"/>
                        </a:defRPr>
                      </a:pPr>
                      <a:r>
                        <a:t>nested or recursive tool calls</a:t>
                      </a:r>
                    </a:p>
                  </a:txBody>
                  <a:tcPr marL="64008" marR="64008" marT="27432" marB="27432" anchor="ctr">
                    <a:solidFill>
                      <a:srgbClr val="151D2E"/>
                    </a:solidFill>
                  </a:tcPr>
                </a:tc>
                <a:tc>
                  <a:txBody>
                    <a:bodyPr/>
                    <a:lstStyle/>
                    <a:p>
                      <a:pPr algn="ctr">
                        <a:defRPr sz="1200" b="0">
                          <a:solidFill>
                            <a:srgbClr val="E8EDF7"/>
                          </a:solidFill>
                          <a:latin typeface="Segoe UI"/>
                        </a:defRPr>
                      </a:pPr>
                      <a:r>
                        <a:t>single stack, no probabilities</a:t>
                      </a:r>
                    </a:p>
                  </a:txBody>
                  <a:tcPr marL="64008" marR="64008" marT="27432" marB="27432" anchor="ctr">
                    <a:solidFill>
                      <a:srgbClr val="151D2E"/>
                    </a:solidFill>
                  </a:tcPr>
                </a:tc>
              </a:tr>
              <a:tr h="566928">
                <a:tc>
                  <a:txBody>
                    <a:bodyPr/>
                    <a:lstStyle/>
                    <a:p>
                      <a:pPr algn="l">
                        <a:defRPr sz="1200" b="0">
                          <a:solidFill>
                            <a:srgbClr val="E8EDF7"/>
                          </a:solidFill>
                          <a:latin typeface="Segoe UI"/>
                        </a:defRPr>
                      </a:pPr>
                      <a:r>
                        <a:t>Turing machine (bounded)</a:t>
                      </a:r>
                    </a:p>
                  </a:txBody>
                  <a:tcPr marL="64008" marR="64008" marT="27432" marB="27432" anchor="ctr">
                    <a:solidFill>
                      <a:srgbClr val="151D2E"/>
                    </a:solidFill>
                  </a:tcPr>
                </a:tc>
                <a:tc>
                  <a:txBody>
                    <a:bodyPr/>
                    <a:lstStyle/>
                    <a:p>
                      <a:pPr algn="ctr">
                        <a:defRPr sz="1200" b="0">
                          <a:solidFill>
                            <a:srgbClr val="E8EDF7"/>
                          </a:solidFill>
                          <a:latin typeface="Segoe UI"/>
                        </a:defRPr>
                      </a:pPr>
                      <a:r>
                        <a:t>tape (bounded here)</a:t>
                      </a:r>
                    </a:p>
                  </a:txBody>
                  <a:tcPr marL="64008" marR="64008" marT="27432" marB="27432" anchor="ctr">
                    <a:solidFill>
                      <a:srgbClr val="151D2E"/>
                    </a:solidFill>
                  </a:tcPr>
                </a:tc>
                <a:tc>
                  <a:txBody>
                    <a:bodyPr/>
                    <a:lstStyle/>
                    <a:p>
                      <a:pPr algn="ctr">
                        <a:defRPr sz="1200" b="0">
                          <a:solidFill>
                            <a:srgbClr val="E8EDF7"/>
                          </a:solidFill>
                          <a:latin typeface="Segoe UI"/>
                        </a:defRPr>
                      </a:pPr>
                      <a:r>
                        <a:t>accept / reject / step_limit / tape_bound</a:t>
                      </a:r>
                    </a:p>
                  </a:txBody>
                  <a:tcPr marL="64008" marR="64008" marT="27432" marB="27432" anchor="ctr">
                    <a:solidFill>
                      <a:srgbClr val="151D2E"/>
                    </a:solidFill>
                  </a:tcPr>
                </a:tc>
                <a:tc>
                  <a:txBody>
                    <a:bodyPr/>
                    <a:lstStyle/>
                    <a:p>
                      <a:pPr algn="ctr">
                        <a:defRPr sz="1200" b="0">
                          <a:solidFill>
                            <a:srgbClr val="E8EDF7"/>
                          </a:solidFill>
                          <a:latin typeface="Segoe UI"/>
                        </a:defRPr>
                      </a:pPr>
                      <a:r>
                        <a:t>general-computation demo</a:t>
                      </a:r>
                    </a:p>
                  </a:txBody>
                  <a:tcPr marL="64008" marR="64008" marT="27432" marB="27432" anchor="ctr">
                    <a:solidFill>
                      <a:srgbClr val="151D2E"/>
                    </a:solidFill>
                  </a:tcPr>
                </a:tc>
                <a:tc>
                  <a:txBody>
                    <a:bodyPr/>
                    <a:lstStyle/>
                    <a:p>
                      <a:pPr algn="ctr">
                        <a:defRPr sz="1200" b="0">
                          <a:solidFill>
                            <a:srgbClr val="E8EDF7"/>
                          </a:solidFill>
                          <a:latin typeface="Segoe UI"/>
                        </a:defRPr>
                      </a:pPr>
                      <a:r>
                        <a:t>bound hit ⇒ unknown, not reject</a:t>
                      </a:r>
                    </a:p>
                  </a:txBody>
                  <a:tcPr marL="64008" marR="64008" marT="27432" marB="27432" anchor="ctr">
                    <a:solidFill>
                      <a:srgbClr val="151D2E"/>
                    </a:solidFill>
                  </a:tcPr>
                </a:tc>
              </a:tr>
              <a:tr h="566928">
                <a:tc>
                  <a:txBody>
                    <a:bodyPr/>
                    <a:lstStyle/>
                    <a:p>
                      <a:pPr algn="l">
                        <a:defRPr sz="1200" b="0">
                          <a:solidFill>
                            <a:srgbClr val="E8EDF7"/>
                          </a:solidFill>
                          <a:latin typeface="Segoe UI"/>
                        </a:defRPr>
                      </a:pPr>
                      <a:r>
                        <a:t>PA</a:t>
                      </a:r>
                    </a:p>
                  </a:txBody>
                  <a:tcPr marL="64008" marR="64008" marT="27432" marB="27432" anchor="ctr">
                    <a:solidFill>
                      <a:srgbClr val="151D2E"/>
                    </a:solidFill>
                  </a:tcPr>
                </a:tc>
                <a:tc>
                  <a:txBody>
                    <a:bodyPr/>
                    <a:lstStyle/>
                    <a:p>
                      <a:pPr algn="ctr">
                        <a:defRPr sz="1200" b="0">
                          <a:solidFill>
                            <a:srgbClr val="E8EDF7"/>
                          </a:solidFill>
                          <a:latin typeface="Segoe UI"/>
                        </a:defRPr>
                      </a:pPr>
                      <a:r>
                        <a:t>finite</a:t>
                      </a:r>
                    </a:p>
                  </a:txBody>
                  <a:tcPr marL="64008" marR="64008" marT="27432" marB="27432" anchor="ctr">
                    <a:solidFill>
                      <a:srgbClr val="151D2E"/>
                    </a:solidFill>
                  </a:tcPr>
                </a:tc>
                <a:tc>
                  <a:txBody>
                    <a:bodyPr/>
                    <a:lstStyle/>
                    <a:p>
                      <a:pPr algn="ctr">
                        <a:defRPr sz="1200" b="0">
                          <a:solidFill>
                            <a:srgbClr val="E8EDF7"/>
                          </a:solidFill>
                          <a:latin typeface="Segoe UI"/>
                        </a:defRPr>
                      </a:pPr>
                      <a:r>
                        <a:t>P(w) over words</a:t>
                      </a:r>
                    </a:p>
                  </a:txBody>
                  <a:tcPr marL="64008" marR="64008" marT="27432" marB="27432" anchor="ctr">
                    <a:solidFill>
                      <a:srgbClr val="151D2E"/>
                    </a:solidFill>
                  </a:tcPr>
                </a:tc>
                <a:tc>
                  <a:txBody>
                    <a:bodyPr/>
                    <a:lstStyle/>
                    <a:p>
                      <a:pPr algn="ctr">
                        <a:defRPr sz="1200" b="0">
                          <a:solidFill>
                            <a:srgbClr val="E8EDF7"/>
                          </a:solidFill>
                          <a:latin typeface="Segoe UI"/>
                        </a:defRPr>
                      </a:pPr>
                      <a:r>
                        <a:t>stochastic agent</a:t>
                      </a:r>
                    </a:p>
                  </a:txBody>
                  <a:tcPr marL="64008" marR="64008" marT="27432" marB="27432" anchor="ctr">
                    <a:solidFill>
                      <a:srgbClr val="151D2E"/>
                    </a:solidFill>
                  </a:tcPr>
                </a:tc>
                <a:tc>
                  <a:txBody>
                    <a:bodyPr/>
                    <a:lstStyle/>
                    <a:p>
                      <a:pPr algn="ctr">
                        <a:defRPr sz="1200" b="0">
                          <a:solidFill>
                            <a:srgbClr val="E8EDF7"/>
                          </a:solidFill>
                          <a:latin typeface="Segoe UI"/>
                        </a:defRPr>
                      </a:pPr>
                      <a:r>
                        <a:t>Markov, finite memory</a:t>
                      </a:r>
                    </a:p>
                  </a:txBody>
                  <a:tcPr marL="64008" marR="64008" marT="27432" marB="27432" anchor="ctr">
                    <a:solidFill>
                      <a:srgbClr val="151D2E"/>
                    </a:solidFill>
                  </a:tcPr>
                </a:tc>
              </a:tr>
            </a:tbl>
          </a:graphicData>
        </a:graphic>
      </p:graphicFrame>
      <p:sp>
        <p:nvSpPr>
          <p:cNvPr id="9" name="TextBox 8"/>
          <p:cNvSpPr txBox="1"/>
          <p:nvPr/>
        </p:nvSpPr>
        <p:spPr>
          <a:xfrm>
            <a:off x="548640" y="5074920"/>
            <a:ext cx="11064240" cy="1188720"/>
          </a:xfrm>
          <a:prstGeom prst="rect">
            <a:avLst/>
          </a:prstGeom>
          <a:noFill/>
        </p:spPr>
        <p:txBody>
          <a:bodyPr wrap="square" lIns="36576" rIns="36576">
            <a:spAutoFit/>
          </a:bodyPr>
          <a:lstStyle/>
          <a:p>
            <a:pPr>
              <a:spcAft>
                <a:spcPts val="400"/>
              </a:spcAft>
              <a:defRPr sz="1400" b="0">
                <a:solidFill>
                  <a:srgbClr val="96A3BE"/>
                </a:solidFill>
                <a:latin typeface="Segoe UI"/>
              </a:defRPr>
            </a:pPr>
            <a:r>
              <a:t>Implemented in src/afcr/automata: dfa, nfa (+ε), pa, lts, transducers (Mealy/Moore), pda, turing, benchmark48.</a:t>
            </a:r>
          </a:p>
          <a:p>
            <a:pPr>
              <a:spcAft>
                <a:spcPts val="400"/>
              </a:spcAft>
              <a:defRPr sz="1400" b="0">
                <a:solidFill>
                  <a:srgbClr val="96A3BE"/>
                </a:solidFill>
                <a:latin typeface="Segoe UI"/>
              </a:defRPr>
            </a:pPr>
            <a:r>
              <a:t>Only the PA/LTS views carry the causal interpretation; the others are formal-language demonstrations of the same specification.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IMPLEMENTATION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Software architecture</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16</a:t>
            </a:r>
          </a:p>
        </p:txBody>
      </p:sp>
      <p:pic>
        <p:nvPicPr>
          <p:cNvPr id="8" name="Picture 7" descr="fig13_software_architecture.png"/>
          <p:cNvPicPr>
            <a:picLocks noChangeAspect="1"/>
          </p:cNvPicPr>
          <p:nvPr/>
        </p:nvPicPr>
        <p:blipFill>
          <a:blip r:embed="rId3"/>
          <a:stretch>
            <a:fillRect/>
          </a:stretch>
        </p:blipFill>
        <p:spPr>
          <a:xfrm>
            <a:off x="785750" y="1280160"/>
            <a:ext cx="10590018" cy="512064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EVALUATION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Evaluation pipeline and protocol</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17</a:t>
            </a:r>
          </a:p>
        </p:txBody>
      </p:sp>
      <p:pic>
        <p:nvPicPr>
          <p:cNvPr id="9" name="Picture 8" descr="fig14_evaluation_pipeline.png"/>
          <p:cNvPicPr>
            <a:picLocks noChangeAspect="1"/>
          </p:cNvPicPr>
          <p:nvPr/>
        </p:nvPicPr>
        <p:blipFill>
          <a:blip r:embed="rId3"/>
          <a:stretch>
            <a:fillRect/>
          </a:stretch>
        </p:blipFill>
        <p:spPr>
          <a:xfrm>
            <a:off x="3310344" y="4343400"/>
            <a:ext cx="5540832" cy="2011680"/>
          </a:xfrm>
          <a:prstGeom prst="rect">
            <a:avLst/>
          </a:prstGeom>
        </p:spPr>
      </p:pic>
      <p:graphicFrame>
        <p:nvGraphicFramePr>
          <p:cNvPr id="10" name="Table 9"/>
          <p:cNvGraphicFramePr>
            <a:graphicFrameLocks noGrp="1"/>
          </p:cNvGraphicFramePr>
          <p:nvPr/>
        </p:nvGraphicFramePr>
        <p:xfrm>
          <a:off x="548640" y="1371600"/>
          <a:ext cx="3657600" cy="2560320"/>
        </p:xfrm>
        <a:graphic>
          <a:graphicData uri="http://schemas.openxmlformats.org/drawingml/2006/table">
            <a:tbl>
              <a:tblPr firstRow="0" bandRow="0">
                <a:tableStyleId>{5C22544A-7EE6-4342-B048-85BDC9FD1C3A}</a:tableStyleId>
              </a:tblPr>
              <a:tblGrid>
                <a:gridCol w="2377440"/>
                <a:gridCol w="1280160"/>
              </a:tblGrid>
              <a:tr h="365760">
                <a:tc>
                  <a:txBody>
                    <a:bodyPr/>
                    <a:lstStyle/>
                    <a:p>
                      <a:pPr algn="l">
                        <a:defRPr sz="1100" b="1">
                          <a:solidFill>
                            <a:srgbClr val="2DD4E0"/>
                          </a:solidFill>
                          <a:latin typeface="Segoe UI"/>
                        </a:defRPr>
                      </a:pPr>
                      <a:r>
                        <a:t>group</a:t>
                      </a:r>
                    </a:p>
                  </a:txBody>
                  <a:tcPr marL="64008" marR="64008" marT="27432" marB="27432" anchor="ctr">
                    <a:solidFill>
                      <a:srgbClr val="1E2A42"/>
                    </a:solidFill>
                  </a:tcPr>
                </a:tc>
                <a:tc>
                  <a:txBody>
                    <a:bodyPr/>
                    <a:lstStyle/>
                    <a:p>
                      <a:pPr algn="ctr">
                        <a:defRPr sz="1100" b="1">
                          <a:solidFill>
                            <a:srgbClr val="2DD4E0"/>
                          </a:solidFill>
                          <a:latin typeface="Segoe UI"/>
                        </a:defRPr>
                      </a:pPr>
                      <a:r>
                        <a:t>rows</a:t>
                      </a:r>
                    </a:p>
                  </a:txBody>
                  <a:tcPr marL="64008" marR="64008" marT="27432" marB="27432" anchor="ctr">
                    <a:solidFill>
                      <a:srgbClr val="1E2A42"/>
                    </a:solidFill>
                  </a:tcPr>
                </a:tc>
              </a:tr>
              <a:tr h="365760">
                <a:tc>
                  <a:txBody>
                    <a:bodyPr/>
                    <a:lstStyle/>
                    <a:p>
                      <a:pPr algn="l">
                        <a:defRPr sz="1100" b="0">
                          <a:solidFill>
                            <a:srgbClr val="E8EDF7"/>
                          </a:solidFill>
                          <a:latin typeface="Segoe UI"/>
                        </a:defRPr>
                      </a:pPr>
                      <a:r>
                        <a:t>main</a:t>
                      </a:r>
                    </a:p>
                  </a:txBody>
                  <a:tcPr marL="64008" marR="64008" marT="27432" marB="27432" anchor="ctr">
                    <a:solidFill>
                      <a:srgbClr val="151D2E"/>
                    </a:solidFill>
                  </a:tcPr>
                </a:tc>
                <a:tc>
                  <a:txBody>
                    <a:bodyPr/>
                    <a:lstStyle/>
                    <a:p>
                      <a:pPr algn="ctr">
                        <a:defRPr sz="1100" b="0">
                          <a:solidFill>
                            <a:srgbClr val="E8EDF7"/>
                          </a:solidFill>
                          <a:latin typeface="Segoe UI"/>
                        </a:defRPr>
                      </a:pPr>
                      <a:r>
                        <a:t>990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gap_sweep</a:t>
                      </a:r>
                    </a:p>
                  </a:txBody>
                  <a:tcPr marL="64008" marR="64008" marT="27432" marB="27432" anchor="ctr">
                    <a:solidFill>
                      <a:srgbClr val="151D2E"/>
                    </a:solidFill>
                  </a:tcPr>
                </a:tc>
                <a:tc>
                  <a:txBody>
                    <a:bodyPr/>
                    <a:lstStyle/>
                    <a:p>
                      <a:pPr algn="ctr">
                        <a:defRPr sz="1100" b="0">
                          <a:solidFill>
                            <a:srgbClr val="E8EDF7"/>
                          </a:solidFill>
                          <a:latin typeface="Segoe UI"/>
                        </a:defRPr>
                      </a:pPr>
                      <a:r>
                        <a:t>450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K_sweep</a:t>
                      </a:r>
                    </a:p>
                  </a:txBody>
                  <a:tcPr marL="64008" marR="64008" marT="27432" marB="27432" anchor="ctr">
                    <a:solidFill>
                      <a:srgbClr val="151D2E"/>
                    </a:solidFill>
                  </a:tcPr>
                </a:tc>
                <a:tc>
                  <a:txBody>
                    <a:bodyPr/>
                    <a:lstStyle/>
                    <a:p>
                      <a:pPr algn="ctr">
                        <a:defRPr sz="1100" b="0">
                          <a:solidFill>
                            <a:srgbClr val="E8EDF7"/>
                          </a:solidFill>
                          <a:latin typeface="Segoe UI"/>
                        </a:defRPr>
                      </a:pPr>
                      <a:r>
                        <a:t>450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delta_sweep</a:t>
                      </a:r>
                    </a:p>
                  </a:txBody>
                  <a:tcPr marL="64008" marR="64008" marT="27432" marB="27432" anchor="ctr">
                    <a:solidFill>
                      <a:srgbClr val="151D2E"/>
                    </a:solidFill>
                  </a:tcPr>
                </a:tc>
                <a:tc>
                  <a:txBody>
                    <a:bodyPr/>
                    <a:lstStyle/>
                    <a:p>
                      <a:pPr algn="ctr">
                        <a:defRPr sz="1100" b="0">
                          <a:solidFill>
                            <a:srgbClr val="E8EDF7"/>
                          </a:solidFill>
                          <a:latin typeface="Segoe UI"/>
                        </a:defRPr>
                      </a:pPr>
                      <a:r>
                        <a:t>300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stress</a:t>
                      </a:r>
                    </a:p>
                  </a:txBody>
                  <a:tcPr marL="64008" marR="64008" marT="27432" marB="27432" anchor="ctr">
                    <a:solidFill>
                      <a:srgbClr val="151D2E"/>
                    </a:solidFill>
                  </a:tcPr>
                </a:tc>
                <a:tc>
                  <a:txBody>
                    <a:bodyPr/>
                    <a:lstStyle/>
                    <a:p>
                      <a:pPr algn="ctr">
                        <a:defRPr sz="1100" b="0">
                          <a:solidFill>
                            <a:srgbClr val="E8EDF7"/>
                          </a:solidFill>
                          <a:latin typeface="Segoe UI"/>
                        </a:defRPr>
                      </a:pPr>
                      <a:r>
                        <a:t>900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size_sweep</a:t>
                      </a:r>
                    </a:p>
                  </a:txBody>
                  <a:tcPr marL="64008" marR="64008" marT="27432" marB="27432" anchor="ctr">
                    <a:solidFill>
                      <a:srgbClr val="151D2E"/>
                    </a:solidFill>
                  </a:tcPr>
                </a:tc>
                <a:tc>
                  <a:txBody>
                    <a:bodyPr/>
                    <a:lstStyle/>
                    <a:p>
                      <a:pPr algn="ctr">
                        <a:defRPr sz="1100" b="0">
                          <a:solidFill>
                            <a:srgbClr val="E8EDF7"/>
                          </a:solidFill>
                          <a:latin typeface="Segoe UI"/>
                        </a:defRPr>
                      </a:pPr>
                      <a:r>
                        <a:t>270</a:t>
                      </a:r>
                    </a:p>
                  </a:txBody>
                  <a:tcPr marL="64008" marR="64008" marT="27432" marB="27432" anchor="ctr">
                    <a:solidFill>
                      <a:srgbClr val="151D2E"/>
                    </a:solidFill>
                  </a:tcPr>
                </a:tc>
              </a:tr>
            </a:tbl>
          </a:graphicData>
        </a:graphic>
      </p:graphicFrame>
      <p:graphicFrame>
        <p:nvGraphicFramePr>
          <p:cNvPr id="11" name="Table 10"/>
          <p:cNvGraphicFramePr>
            <a:graphicFrameLocks noGrp="1"/>
          </p:cNvGraphicFramePr>
          <p:nvPr/>
        </p:nvGraphicFramePr>
        <p:xfrm>
          <a:off x="4480559" y="1371600"/>
          <a:ext cx="3657600" cy="2560320"/>
        </p:xfrm>
        <a:graphic>
          <a:graphicData uri="http://schemas.openxmlformats.org/drawingml/2006/table">
            <a:tbl>
              <a:tblPr firstRow="0" bandRow="0">
                <a:tableStyleId>{5C22544A-7EE6-4342-B048-85BDC9FD1C3A}</a:tableStyleId>
              </a:tblPr>
              <a:tblGrid>
                <a:gridCol w="2377440"/>
                <a:gridCol w="1280160"/>
              </a:tblGrid>
              <a:tr h="365760">
                <a:tc>
                  <a:txBody>
                    <a:bodyPr/>
                    <a:lstStyle/>
                    <a:p>
                      <a:pPr algn="l">
                        <a:defRPr sz="1100" b="1">
                          <a:solidFill>
                            <a:srgbClr val="2DD4E0"/>
                          </a:solidFill>
                          <a:latin typeface="Segoe UI"/>
                        </a:defRPr>
                      </a:pPr>
                      <a:r>
                        <a:t>group</a:t>
                      </a:r>
                    </a:p>
                  </a:txBody>
                  <a:tcPr marL="64008" marR="64008" marT="27432" marB="27432" anchor="ctr">
                    <a:solidFill>
                      <a:srgbClr val="1E2A42"/>
                    </a:solidFill>
                  </a:tcPr>
                </a:tc>
                <a:tc>
                  <a:txBody>
                    <a:bodyPr/>
                    <a:lstStyle/>
                    <a:p>
                      <a:pPr algn="ctr">
                        <a:defRPr sz="1100" b="1">
                          <a:solidFill>
                            <a:srgbClr val="2DD4E0"/>
                          </a:solidFill>
                          <a:latin typeface="Segoe UI"/>
                        </a:defRPr>
                      </a:pPr>
                      <a:r>
                        <a:t>rows</a:t>
                      </a:r>
                    </a:p>
                  </a:txBody>
                  <a:tcPr marL="64008" marR="64008" marT="27432" marB="27432" anchor="ctr">
                    <a:solidFill>
                      <a:srgbClr val="1E2A42"/>
                    </a:solidFill>
                  </a:tcPr>
                </a:tc>
              </a:tr>
              <a:tr h="365760">
                <a:tc>
                  <a:txBody>
                    <a:bodyPr/>
                    <a:lstStyle/>
                    <a:p>
                      <a:pPr algn="l">
                        <a:defRPr sz="1100" b="0">
                          <a:solidFill>
                            <a:srgbClr val="E8EDF7"/>
                          </a:solidFill>
                          <a:latin typeface="Segoe UI"/>
                        </a:defRPr>
                      </a:pPr>
                      <a:r>
                        <a:t>eps_sweep</a:t>
                      </a:r>
                    </a:p>
                  </a:txBody>
                  <a:tcPr marL="64008" marR="64008" marT="27432" marB="27432" anchor="ctr">
                    <a:solidFill>
                      <a:srgbClr val="151D2E"/>
                    </a:solidFill>
                  </a:tcPr>
                </a:tc>
                <a:tc>
                  <a:txBody>
                    <a:bodyPr/>
                    <a:lstStyle/>
                    <a:p>
                      <a:pPr algn="ctr">
                        <a:defRPr sz="1100" b="0">
                          <a:solidFill>
                            <a:srgbClr val="E8EDF7"/>
                          </a:solidFill>
                          <a:latin typeface="Segoe UI"/>
                        </a:defRPr>
                      </a:pPr>
                      <a:r>
                        <a:t>360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noise_sweep</a:t>
                      </a:r>
                    </a:p>
                  </a:txBody>
                  <a:tcPr marL="64008" marR="64008" marT="27432" marB="27432" anchor="ctr">
                    <a:solidFill>
                      <a:srgbClr val="151D2E"/>
                    </a:solidFill>
                  </a:tcPr>
                </a:tc>
                <a:tc>
                  <a:txBody>
                    <a:bodyPr/>
                    <a:lstStyle/>
                    <a:p>
                      <a:pPr algn="ctr">
                        <a:defRPr sz="1100" b="0">
                          <a:solidFill>
                            <a:srgbClr val="E8EDF7"/>
                          </a:solidFill>
                          <a:latin typeface="Segoe UI"/>
                        </a:defRPr>
                      </a:pPr>
                      <a:r>
                        <a:t>120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ablation</a:t>
                      </a:r>
                    </a:p>
                  </a:txBody>
                  <a:tcPr marL="64008" marR="64008" marT="27432" marB="27432" anchor="ctr">
                    <a:solidFill>
                      <a:srgbClr val="151D2E"/>
                    </a:solidFill>
                  </a:tcPr>
                </a:tc>
                <a:tc>
                  <a:txBody>
                    <a:bodyPr/>
                    <a:lstStyle/>
                    <a:p>
                      <a:pPr algn="ctr">
                        <a:defRPr sz="1100" b="0">
                          <a:solidFill>
                            <a:srgbClr val="E8EDF7"/>
                          </a:solidFill>
                          <a:latin typeface="Segoe UI"/>
                        </a:defRPr>
                      </a:pPr>
                      <a:r>
                        <a:t>450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budget_curve</a:t>
                      </a:r>
                    </a:p>
                  </a:txBody>
                  <a:tcPr marL="64008" marR="64008" marT="27432" marB="27432" anchor="ctr">
                    <a:solidFill>
                      <a:srgbClr val="151D2E"/>
                    </a:solidFill>
                  </a:tcPr>
                </a:tc>
                <a:tc>
                  <a:txBody>
                    <a:bodyPr/>
                    <a:lstStyle/>
                    <a:p>
                      <a:pPr algn="ctr">
                        <a:defRPr sz="1100" b="0">
                          <a:solidFill>
                            <a:srgbClr val="E8EDF7"/>
                          </a:solidFill>
                          <a:latin typeface="Segoe UI"/>
                        </a:defRPr>
                      </a:pPr>
                      <a:r>
                        <a:t>1,920</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toolagent</a:t>
                      </a:r>
                    </a:p>
                  </a:txBody>
                  <a:tcPr marL="64008" marR="64008" marT="27432" marB="27432" anchor="ctr">
                    <a:solidFill>
                      <a:srgbClr val="151D2E"/>
                    </a:solidFill>
                  </a:tcPr>
                </a:tc>
                <a:tc>
                  <a:txBody>
                    <a:bodyPr/>
                    <a:lstStyle/>
                    <a:p>
                      <a:pPr algn="ctr">
                        <a:defRPr sz="1100" b="0">
                          <a:solidFill>
                            <a:srgbClr val="E8EDF7"/>
                          </a:solidFill>
                          <a:latin typeface="Segoe UI"/>
                        </a:defRPr>
                      </a:pPr>
                      <a:r>
                        <a:t>158</a:t>
                      </a:r>
                    </a:p>
                  </a:txBody>
                  <a:tcPr marL="64008" marR="64008" marT="27432" marB="27432" anchor="ctr">
                    <a:solidFill>
                      <a:srgbClr val="151D2E"/>
                    </a:solidFill>
                  </a:tcPr>
                </a:tc>
              </a:tr>
              <a:tr h="365760">
                <a:tc>
                  <a:txBody>
                    <a:bodyPr/>
                    <a:lstStyle/>
                    <a:p>
                      <a:pPr algn="l">
                        <a:defRPr sz="1100" b="0">
                          <a:solidFill>
                            <a:srgbClr val="E8EDF7"/>
                          </a:solidFill>
                          <a:latin typeface="Segoe UI"/>
                        </a:defRPr>
                      </a:pPr>
                      <a:r>
                        <a:t>targets</a:t>
                      </a:r>
                    </a:p>
                  </a:txBody>
                  <a:tcPr marL="64008" marR="64008" marT="27432" marB="27432" anchor="ctr">
                    <a:solidFill>
                      <a:srgbClr val="151D2E"/>
                    </a:solidFill>
                  </a:tcPr>
                </a:tc>
                <a:tc>
                  <a:txBody>
                    <a:bodyPr/>
                    <a:lstStyle/>
                    <a:p>
                      <a:pPr algn="ctr">
                        <a:defRPr sz="1100" b="0">
                          <a:solidFill>
                            <a:srgbClr val="E8EDF7"/>
                          </a:solidFill>
                          <a:latin typeface="Segoe UI"/>
                        </a:defRPr>
                      </a:pPr>
                      <a:r>
                        <a:t>150</a:t>
                      </a:r>
                    </a:p>
                  </a:txBody>
                  <a:tcPr marL="64008" marR="64008" marT="27432" marB="27432" anchor="ctr">
                    <a:solidFill>
                      <a:srgbClr val="151D2E"/>
                    </a:solidFill>
                  </a:tcPr>
                </a:tc>
              </a:tr>
            </a:tbl>
          </a:graphicData>
        </a:graphic>
      </p:graphicFrame>
      <p:sp>
        <p:nvSpPr>
          <p:cNvPr id="12" name="TextBox 11"/>
          <p:cNvSpPr txBox="1"/>
          <p:nvPr/>
        </p:nvSpPr>
        <p:spPr>
          <a:xfrm>
            <a:off x="8503920" y="1463040"/>
            <a:ext cx="3200400" cy="457200"/>
          </a:xfrm>
          <a:prstGeom prst="rect">
            <a:avLst/>
          </a:prstGeom>
          <a:noFill/>
        </p:spPr>
        <p:txBody>
          <a:bodyPr wrap="square" lIns="36576" rIns="36576">
            <a:spAutoFit/>
          </a:bodyPr>
          <a:lstStyle/>
          <a:p>
            <a:pPr>
              <a:spcAft>
                <a:spcPts val="600"/>
              </a:spcAft>
              <a:defRPr sz="1100" b="0">
                <a:solidFill>
                  <a:srgbClr val="96A3BE"/>
                </a:solidFill>
                <a:latin typeface="Segoe UI"/>
              </a:defRPr>
            </a:pPr>
            <a:r>
              <a:t>6,518 trial rows in total; δ = 0.1. SYNTHETIC only.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Main result: adaptive allocation needs fewer rollouts</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18</a:t>
            </a:r>
          </a:p>
        </p:txBody>
      </p:sp>
      <p:graphicFrame>
        <p:nvGraphicFramePr>
          <p:cNvPr id="9" name="Chart 8"/>
          <p:cNvGraphicFramePr>
            <a:graphicFrameLocks noGrp="1"/>
          </p:cNvGraphicFramePr>
          <p:nvPr/>
        </p:nvGraphicFramePr>
        <p:xfrm>
          <a:off x="457200" y="1371600"/>
          <a:ext cx="6492240" cy="4206240"/>
        </p:xfrm>
        <a:graphic>
          <a:graphicData uri="http://schemas.openxmlformats.org/drawingml/2006/chart">
            <c:chart xmlns:c="http://schemas.openxmlformats.org/drawingml/2006/chart" r:id="rId3"/>
          </a:graphicData>
        </a:graphic>
      </p:graphicFrame>
      <p:graphicFrame>
        <p:nvGraphicFramePr>
          <p:cNvPr id="10" name="Chart 9"/>
          <p:cNvGraphicFramePr>
            <a:graphicFrameLocks noGrp="1"/>
          </p:cNvGraphicFramePr>
          <p:nvPr/>
        </p:nvGraphicFramePr>
        <p:xfrm>
          <a:off x="7040880" y="1371600"/>
          <a:ext cx="4754880" cy="4206240"/>
        </p:xfrm>
        <a:graphic>
          <a:graphicData uri="http://schemas.openxmlformats.org/drawingml/2006/chart">
            <c:chart xmlns:c="http://schemas.openxmlformats.org/drawingml/2006/chart" r:id="rId4"/>
          </a:graphicData>
        </a:graphic>
      </p:graphicFrame>
      <p:sp>
        <p:nvSpPr>
          <p:cNvPr id="11" name="TextBox 10"/>
          <p:cNvSpPr txBox="1"/>
          <p:nvPr/>
        </p:nvSpPr>
        <p:spPr>
          <a:xfrm>
            <a:off x="548640" y="5669280"/>
            <a:ext cx="11155680" cy="731520"/>
          </a:xfrm>
          <a:prstGeom prst="rect">
            <a:avLst/>
          </a:prstGeom>
          <a:noFill/>
        </p:spPr>
        <p:txBody>
          <a:bodyPr wrap="square" lIns="36576" rIns="36576">
            <a:spAutoFit/>
          </a:bodyPr>
          <a:lstStyle/>
          <a:p>
            <a:pPr>
              <a:spcAft>
                <a:spcPts val="600"/>
              </a:spcAft>
              <a:defRPr sz="1200" b="0">
                <a:solidFill>
                  <a:srgbClr val="96A3BE"/>
                </a:solidFill>
                <a:latin typeface="Segoe UI"/>
              </a:defRPr>
            </a:pPr>
            <a:r>
              <a:t>Accuracy of the answer (vs exact argmax): LUCB+prefix 93 %, LUCB 93 %, successive elim. 93 %, uniform 93 %, random 97 %. Native charts: right-click → Edit Data.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Paired statistics with multiplicity control</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19</a:t>
            </a:r>
          </a:p>
        </p:txBody>
      </p:sp>
      <p:graphicFrame>
        <p:nvGraphicFramePr>
          <p:cNvPr id="9" name="Table 8"/>
          <p:cNvGraphicFramePr>
            <a:graphicFrameLocks noGrp="1"/>
          </p:cNvGraphicFramePr>
          <p:nvPr/>
        </p:nvGraphicFramePr>
        <p:xfrm>
          <a:off x="548640" y="1554480"/>
          <a:ext cx="11064240" cy="2743200"/>
        </p:xfrm>
        <a:graphic>
          <a:graphicData uri="http://schemas.openxmlformats.org/drawingml/2006/table">
            <a:tbl>
              <a:tblPr firstRow="0" bandRow="0">
                <a:tableStyleId>{5C22544A-7EE6-4342-B048-85BDC9FD1C3A}</a:tableStyleId>
              </a:tblPr>
              <a:tblGrid>
                <a:gridCol w="3017520"/>
                <a:gridCol w="548640"/>
                <a:gridCol w="1005840"/>
                <a:gridCol w="1005840"/>
                <a:gridCol w="1005840"/>
                <a:gridCol w="1005840"/>
                <a:gridCol w="2103120"/>
                <a:gridCol w="1371600"/>
              </a:tblGrid>
              <a:tr h="548640">
                <a:tc>
                  <a:txBody>
                    <a:bodyPr/>
                    <a:lstStyle/>
                    <a:p>
                      <a:pPr algn="l">
                        <a:defRPr sz="1300" b="1">
                          <a:solidFill>
                            <a:srgbClr val="2DD4E0"/>
                          </a:solidFill>
                          <a:latin typeface="Segoe UI"/>
                        </a:defRPr>
                      </a:pPr>
                      <a:r>
                        <a:t>comparison (A vs B)</a:t>
                      </a:r>
                    </a:p>
                  </a:txBody>
                  <a:tcPr marL="64008" marR="64008" marT="27432" marB="27432" anchor="ctr">
                    <a:solidFill>
                      <a:srgbClr val="1E2A42"/>
                    </a:solidFill>
                  </a:tcPr>
                </a:tc>
                <a:tc>
                  <a:txBody>
                    <a:bodyPr/>
                    <a:lstStyle/>
                    <a:p>
                      <a:pPr algn="ctr">
                        <a:defRPr sz="1300" b="1">
                          <a:solidFill>
                            <a:srgbClr val="2DD4E0"/>
                          </a:solidFill>
                          <a:latin typeface="Segoe UI"/>
                        </a:defRPr>
                      </a:pPr>
                      <a:r>
                        <a:t>n</a:t>
                      </a:r>
                    </a:p>
                  </a:txBody>
                  <a:tcPr marL="64008" marR="64008" marT="27432" marB="27432" anchor="ctr">
                    <a:solidFill>
                      <a:srgbClr val="1E2A42"/>
                    </a:solidFill>
                  </a:tcPr>
                </a:tc>
                <a:tc>
                  <a:txBody>
                    <a:bodyPr/>
                    <a:lstStyle/>
                    <a:p>
                      <a:pPr algn="ctr">
                        <a:defRPr sz="1300" b="1">
                          <a:solidFill>
                            <a:srgbClr val="2DD4E0"/>
                          </a:solidFill>
                          <a:latin typeface="Segoe UI"/>
                        </a:defRPr>
                      </a:pPr>
                      <a:r>
                        <a:t>mean A</a:t>
                      </a:r>
                    </a:p>
                  </a:txBody>
                  <a:tcPr marL="64008" marR="64008" marT="27432" marB="27432" anchor="ctr">
                    <a:solidFill>
                      <a:srgbClr val="1E2A42"/>
                    </a:solidFill>
                  </a:tcPr>
                </a:tc>
                <a:tc>
                  <a:txBody>
                    <a:bodyPr/>
                    <a:lstStyle/>
                    <a:p>
                      <a:pPr algn="ctr">
                        <a:defRPr sz="1300" b="1">
                          <a:solidFill>
                            <a:srgbClr val="2DD4E0"/>
                          </a:solidFill>
                          <a:latin typeface="Segoe UI"/>
                        </a:defRPr>
                      </a:pPr>
                      <a:r>
                        <a:t>mean B</a:t>
                      </a:r>
                    </a:p>
                  </a:txBody>
                  <a:tcPr marL="64008" marR="64008" marT="27432" marB="27432" anchor="ctr">
                    <a:solidFill>
                      <a:srgbClr val="1E2A42"/>
                    </a:solidFill>
                  </a:tcPr>
                </a:tc>
                <a:tc>
                  <a:txBody>
                    <a:bodyPr/>
                    <a:lstStyle/>
                    <a:p>
                      <a:pPr algn="ctr">
                        <a:defRPr sz="1300" b="1">
                          <a:solidFill>
                            <a:srgbClr val="2DD4E0"/>
                          </a:solidFill>
                          <a:latin typeface="Segoe UI"/>
                        </a:defRPr>
                      </a:pPr>
                      <a:r>
                        <a:t>saving</a:t>
                      </a:r>
                    </a:p>
                  </a:txBody>
                  <a:tcPr marL="64008" marR="64008" marT="27432" marB="27432" anchor="ctr">
                    <a:solidFill>
                      <a:srgbClr val="1E2A42"/>
                    </a:solidFill>
                  </a:tcPr>
                </a:tc>
                <a:tc>
                  <a:txBody>
                    <a:bodyPr/>
                    <a:lstStyle/>
                    <a:p>
                      <a:pPr algn="ctr">
                        <a:defRPr sz="1300" b="1">
                          <a:solidFill>
                            <a:srgbClr val="2DD4E0"/>
                          </a:solidFill>
                          <a:latin typeface="Segoe UI"/>
                        </a:defRPr>
                      </a:pPr>
                      <a:r>
                        <a:t>× cheaper</a:t>
                      </a:r>
                    </a:p>
                  </a:txBody>
                  <a:tcPr marL="64008" marR="64008" marT="27432" marB="27432" anchor="ctr">
                    <a:solidFill>
                      <a:srgbClr val="1E2A42"/>
                    </a:solidFill>
                  </a:tcPr>
                </a:tc>
                <a:tc>
                  <a:txBody>
                    <a:bodyPr/>
                    <a:lstStyle/>
                    <a:p>
                      <a:pPr algn="ctr">
                        <a:defRPr sz="1300" b="1">
                          <a:solidFill>
                            <a:srgbClr val="2DD4E0"/>
                          </a:solidFill>
                          <a:latin typeface="Segoe UI"/>
                        </a:defRPr>
                      </a:pPr>
                      <a:r>
                        <a:t>95 % CI of diff</a:t>
                      </a:r>
                    </a:p>
                  </a:txBody>
                  <a:tcPr marL="64008" marR="64008" marT="27432" marB="27432" anchor="ctr">
                    <a:solidFill>
                      <a:srgbClr val="1E2A42"/>
                    </a:solidFill>
                  </a:tcPr>
                </a:tc>
                <a:tc>
                  <a:txBody>
                    <a:bodyPr/>
                    <a:lstStyle/>
                    <a:p>
                      <a:pPr algn="ctr">
                        <a:defRPr sz="1300" b="1">
                          <a:solidFill>
                            <a:srgbClr val="2DD4E0"/>
                          </a:solidFill>
                          <a:latin typeface="Segoe UI"/>
                        </a:defRPr>
                      </a:pPr>
                      <a:r>
                        <a:t>p (Holm)</a:t>
                      </a:r>
                    </a:p>
                  </a:txBody>
                  <a:tcPr marL="64008" marR="64008" marT="27432" marB="27432" anchor="ctr">
                    <a:solidFill>
                      <a:srgbClr val="1E2A42"/>
                    </a:solidFill>
                  </a:tcPr>
                </a:tc>
              </a:tr>
              <a:tr h="548640">
                <a:tc>
                  <a:txBody>
                    <a:bodyPr/>
                    <a:lstStyle/>
                    <a:p>
                      <a:pPr algn="l">
                        <a:defRPr sz="1300" b="0">
                          <a:solidFill>
                            <a:srgbClr val="E8EDF7"/>
                          </a:solidFill>
                          <a:latin typeface="Segoe UI"/>
                        </a:defRPr>
                      </a:pPr>
                      <a:r>
                        <a:t>LUCB vs Uniform</a:t>
                      </a:r>
                    </a:p>
                  </a:txBody>
                  <a:tcPr marL="64008" marR="64008" marT="27432" marB="27432" anchor="ctr">
                    <a:solidFill>
                      <a:srgbClr val="151D2E"/>
                    </a:solidFill>
                  </a:tcPr>
                </a:tc>
                <a:tc>
                  <a:txBody>
                    <a:bodyPr/>
                    <a:lstStyle/>
                    <a:p>
                      <a:pPr algn="ctr">
                        <a:defRPr sz="1300" b="0">
                          <a:solidFill>
                            <a:srgbClr val="E8EDF7"/>
                          </a:solidFill>
                          <a:latin typeface="Segoe UI"/>
                        </a:defRPr>
                      </a:pPr>
                      <a:r>
                        <a:t>30</a:t>
                      </a:r>
                    </a:p>
                  </a:txBody>
                  <a:tcPr marL="64008" marR="64008" marT="27432" marB="27432" anchor="ctr">
                    <a:solidFill>
                      <a:srgbClr val="151D2E"/>
                    </a:solidFill>
                  </a:tcPr>
                </a:tc>
                <a:tc>
                  <a:txBody>
                    <a:bodyPr/>
                    <a:lstStyle/>
                    <a:p>
                      <a:pPr algn="ctr">
                        <a:defRPr sz="1300" b="0">
                          <a:solidFill>
                            <a:srgbClr val="E8EDF7"/>
                          </a:solidFill>
                          <a:latin typeface="Segoe UI"/>
                        </a:defRPr>
                      </a:pPr>
                      <a:r>
                        <a:t>20,637</a:t>
                      </a:r>
                    </a:p>
                  </a:txBody>
                  <a:tcPr marL="64008" marR="64008" marT="27432" marB="27432" anchor="ctr">
                    <a:solidFill>
                      <a:srgbClr val="151D2E"/>
                    </a:solidFill>
                  </a:tcPr>
                </a:tc>
                <a:tc>
                  <a:txBody>
                    <a:bodyPr/>
                    <a:lstStyle/>
                    <a:p>
                      <a:pPr algn="ctr">
                        <a:defRPr sz="1300" b="0">
                          <a:solidFill>
                            <a:srgbClr val="E8EDF7"/>
                          </a:solidFill>
                          <a:latin typeface="Segoe UI"/>
                        </a:defRPr>
                      </a:pPr>
                      <a:r>
                        <a:t>36,929</a:t>
                      </a:r>
                    </a:p>
                  </a:txBody>
                  <a:tcPr marL="64008" marR="64008" marT="27432" marB="27432" anchor="ctr">
                    <a:solidFill>
                      <a:srgbClr val="151D2E"/>
                    </a:solidFill>
                  </a:tcPr>
                </a:tc>
                <a:tc>
                  <a:txBody>
                    <a:bodyPr/>
                    <a:lstStyle/>
                    <a:p>
                      <a:pPr algn="ctr">
                        <a:defRPr sz="1300" b="0">
                          <a:solidFill>
                            <a:srgbClr val="E8EDF7"/>
                          </a:solidFill>
                          <a:latin typeface="Segoe UI"/>
                        </a:defRPr>
                      </a:pPr>
                      <a:r>
                        <a:t>16,292</a:t>
                      </a:r>
                    </a:p>
                  </a:txBody>
                  <a:tcPr marL="64008" marR="64008" marT="27432" marB="27432" anchor="ctr">
                    <a:solidFill>
                      <a:srgbClr val="151D2E"/>
                    </a:solidFill>
                  </a:tcPr>
                </a:tc>
                <a:tc>
                  <a:txBody>
                    <a:bodyPr/>
                    <a:lstStyle/>
                    <a:p>
                      <a:pPr algn="ctr">
                        <a:defRPr sz="1300" b="0">
                          <a:solidFill>
                            <a:srgbClr val="E8EDF7"/>
                          </a:solidFill>
                          <a:latin typeface="Segoe UI"/>
                        </a:defRPr>
                      </a:pPr>
                      <a:r>
                        <a:t>1.79</a:t>
                      </a:r>
                    </a:p>
                  </a:txBody>
                  <a:tcPr marL="64008" marR="64008" marT="27432" marB="27432" anchor="ctr">
                    <a:solidFill>
                      <a:srgbClr val="151D2E"/>
                    </a:solidFill>
                  </a:tcPr>
                </a:tc>
                <a:tc>
                  <a:txBody>
                    <a:bodyPr/>
                    <a:lstStyle/>
                    <a:p>
                      <a:pPr algn="ctr">
                        <a:defRPr sz="1300" b="0">
                          <a:solidFill>
                            <a:srgbClr val="E8EDF7"/>
                          </a:solidFill>
                          <a:latin typeface="Segoe UI"/>
                        </a:defRPr>
                      </a:pPr>
                      <a:r>
                        <a:t>[11,060, 22,096]</a:t>
                      </a:r>
                    </a:p>
                  </a:txBody>
                  <a:tcPr marL="64008" marR="64008" marT="27432" marB="27432" anchor="ctr">
                    <a:solidFill>
                      <a:srgbClr val="151D2E"/>
                    </a:solidFill>
                  </a:tcPr>
                </a:tc>
                <a:tc>
                  <a:txBody>
                    <a:bodyPr/>
                    <a:lstStyle/>
                    <a:p>
                      <a:pPr algn="ctr">
                        <a:defRPr sz="1300" b="0">
                          <a:solidFill>
                            <a:srgbClr val="E8EDF7"/>
                          </a:solidFill>
                          <a:latin typeface="Segoe UI"/>
                        </a:defRPr>
                      </a:pPr>
                      <a:r>
                        <a:t>4.2e-05</a:t>
                      </a:r>
                    </a:p>
                  </a:txBody>
                  <a:tcPr marL="64008" marR="64008" marT="27432" marB="27432" anchor="ctr">
                    <a:solidFill>
                      <a:srgbClr val="151D2E"/>
                    </a:solidFill>
                  </a:tcPr>
                </a:tc>
              </a:tr>
              <a:tr h="548640">
                <a:tc>
                  <a:txBody>
                    <a:bodyPr/>
                    <a:lstStyle/>
                    <a:p>
                      <a:pPr algn="l">
                        <a:defRPr sz="1300" b="0">
                          <a:solidFill>
                            <a:srgbClr val="E8EDF7"/>
                          </a:solidFill>
                          <a:latin typeface="Segoe UI"/>
                        </a:defRPr>
                      </a:pPr>
                      <a:r>
                        <a:t>LUCB vs Random</a:t>
                      </a:r>
                    </a:p>
                  </a:txBody>
                  <a:tcPr marL="64008" marR="64008" marT="27432" marB="27432" anchor="ctr">
                    <a:solidFill>
                      <a:srgbClr val="151D2E"/>
                    </a:solidFill>
                  </a:tcPr>
                </a:tc>
                <a:tc>
                  <a:txBody>
                    <a:bodyPr/>
                    <a:lstStyle/>
                    <a:p>
                      <a:pPr algn="ctr">
                        <a:defRPr sz="1300" b="0">
                          <a:solidFill>
                            <a:srgbClr val="E8EDF7"/>
                          </a:solidFill>
                          <a:latin typeface="Segoe UI"/>
                        </a:defRPr>
                      </a:pPr>
                      <a:r>
                        <a:t>30</a:t>
                      </a:r>
                    </a:p>
                  </a:txBody>
                  <a:tcPr marL="64008" marR="64008" marT="27432" marB="27432" anchor="ctr">
                    <a:solidFill>
                      <a:srgbClr val="151D2E"/>
                    </a:solidFill>
                  </a:tcPr>
                </a:tc>
                <a:tc>
                  <a:txBody>
                    <a:bodyPr/>
                    <a:lstStyle/>
                    <a:p>
                      <a:pPr algn="ctr">
                        <a:defRPr sz="1300" b="0">
                          <a:solidFill>
                            <a:srgbClr val="E8EDF7"/>
                          </a:solidFill>
                          <a:latin typeface="Segoe UI"/>
                        </a:defRPr>
                      </a:pPr>
                      <a:r>
                        <a:t>20,637</a:t>
                      </a:r>
                    </a:p>
                  </a:txBody>
                  <a:tcPr marL="64008" marR="64008" marT="27432" marB="27432" anchor="ctr">
                    <a:solidFill>
                      <a:srgbClr val="151D2E"/>
                    </a:solidFill>
                  </a:tcPr>
                </a:tc>
                <a:tc>
                  <a:txBody>
                    <a:bodyPr/>
                    <a:lstStyle/>
                    <a:p>
                      <a:pPr algn="ctr">
                        <a:defRPr sz="1300" b="0">
                          <a:solidFill>
                            <a:srgbClr val="E8EDF7"/>
                          </a:solidFill>
                          <a:latin typeface="Segoe UI"/>
                        </a:defRPr>
                      </a:pPr>
                      <a:r>
                        <a:t>37,911</a:t>
                      </a:r>
                    </a:p>
                  </a:txBody>
                  <a:tcPr marL="64008" marR="64008" marT="27432" marB="27432" anchor="ctr">
                    <a:solidFill>
                      <a:srgbClr val="151D2E"/>
                    </a:solidFill>
                  </a:tcPr>
                </a:tc>
                <a:tc>
                  <a:txBody>
                    <a:bodyPr/>
                    <a:lstStyle/>
                    <a:p>
                      <a:pPr algn="ctr">
                        <a:defRPr sz="1300" b="0">
                          <a:solidFill>
                            <a:srgbClr val="E8EDF7"/>
                          </a:solidFill>
                          <a:latin typeface="Segoe UI"/>
                        </a:defRPr>
                      </a:pPr>
                      <a:r>
                        <a:t>17,275</a:t>
                      </a:r>
                    </a:p>
                  </a:txBody>
                  <a:tcPr marL="64008" marR="64008" marT="27432" marB="27432" anchor="ctr">
                    <a:solidFill>
                      <a:srgbClr val="151D2E"/>
                    </a:solidFill>
                  </a:tcPr>
                </a:tc>
                <a:tc>
                  <a:txBody>
                    <a:bodyPr/>
                    <a:lstStyle/>
                    <a:p>
                      <a:pPr algn="ctr">
                        <a:defRPr sz="1300" b="0">
                          <a:solidFill>
                            <a:srgbClr val="E8EDF7"/>
                          </a:solidFill>
                          <a:latin typeface="Segoe UI"/>
                        </a:defRPr>
                      </a:pPr>
                      <a:r>
                        <a:t>1.84</a:t>
                      </a:r>
                    </a:p>
                  </a:txBody>
                  <a:tcPr marL="64008" marR="64008" marT="27432" marB="27432" anchor="ctr">
                    <a:solidFill>
                      <a:srgbClr val="151D2E"/>
                    </a:solidFill>
                  </a:tcPr>
                </a:tc>
                <a:tc>
                  <a:txBody>
                    <a:bodyPr/>
                    <a:lstStyle/>
                    <a:p>
                      <a:pPr algn="ctr">
                        <a:defRPr sz="1300" b="0">
                          <a:solidFill>
                            <a:srgbClr val="E8EDF7"/>
                          </a:solidFill>
                          <a:latin typeface="Segoe UI"/>
                        </a:defRPr>
                      </a:pPr>
                      <a:r>
                        <a:t>[11,536, 23,887]</a:t>
                      </a:r>
                    </a:p>
                  </a:txBody>
                  <a:tcPr marL="64008" marR="64008" marT="27432" marB="27432" anchor="ctr">
                    <a:solidFill>
                      <a:srgbClr val="151D2E"/>
                    </a:solidFill>
                  </a:tcPr>
                </a:tc>
                <a:tc>
                  <a:txBody>
                    <a:bodyPr/>
                    <a:lstStyle/>
                    <a:p>
                      <a:pPr algn="ctr">
                        <a:defRPr sz="1300" b="0">
                          <a:solidFill>
                            <a:srgbClr val="E8EDF7"/>
                          </a:solidFill>
                          <a:latin typeface="Segoe UI"/>
                        </a:defRPr>
                      </a:pPr>
                      <a:r>
                        <a:t>4.2e-05</a:t>
                      </a:r>
                    </a:p>
                  </a:txBody>
                  <a:tcPr marL="64008" marR="64008" marT="27432" marB="27432" anchor="ctr">
                    <a:solidFill>
                      <a:srgbClr val="151D2E"/>
                    </a:solidFill>
                  </a:tcPr>
                </a:tc>
              </a:tr>
              <a:tr h="548640">
                <a:tc>
                  <a:txBody>
                    <a:bodyPr/>
                    <a:lstStyle/>
                    <a:p>
                      <a:pPr algn="l">
                        <a:defRPr sz="1300" b="0">
                          <a:solidFill>
                            <a:srgbClr val="E8EDF7"/>
                          </a:solidFill>
                          <a:latin typeface="Segoe UI"/>
                        </a:defRPr>
                      </a:pPr>
                      <a:r>
                        <a:t>LUCB vs Succ. elim.</a:t>
                      </a:r>
                    </a:p>
                  </a:txBody>
                  <a:tcPr marL="64008" marR="64008" marT="27432" marB="27432" anchor="ctr">
                    <a:solidFill>
                      <a:srgbClr val="151D2E"/>
                    </a:solidFill>
                  </a:tcPr>
                </a:tc>
                <a:tc>
                  <a:txBody>
                    <a:bodyPr/>
                    <a:lstStyle/>
                    <a:p>
                      <a:pPr algn="ctr">
                        <a:defRPr sz="1300" b="0">
                          <a:solidFill>
                            <a:srgbClr val="E8EDF7"/>
                          </a:solidFill>
                          <a:latin typeface="Segoe UI"/>
                        </a:defRPr>
                      </a:pPr>
                      <a:r>
                        <a:t>30</a:t>
                      </a:r>
                    </a:p>
                  </a:txBody>
                  <a:tcPr marL="64008" marR="64008" marT="27432" marB="27432" anchor="ctr">
                    <a:solidFill>
                      <a:srgbClr val="151D2E"/>
                    </a:solidFill>
                  </a:tcPr>
                </a:tc>
                <a:tc>
                  <a:txBody>
                    <a:bodyPr/>
                    <a:lstStyle/>
                    <a:p>
                      <a:pPr algn="ctr">
                        <a:defRPr sz="1300" b="0">
                          <a:solidFill>
                            <a:srgbClr val="E8EDF7"/>
                          </a:solidFill>
                          <a:latin typeface="Segoe UI"/>
                        </a:defRPr>
                      </a:pPr>
                      <a:r>
                        <a:t>20,637</a:t>
                      </a:r>
                    </a:p>
                  </a:txBody>
                  <a:tcPr marL="64008" marR="64008" marT="27432" marB="27432" anchor="ctr">
                    <a:solidFill>
                      <a:srgbClr val="151D2E"/>
                    </a:solidFill>
                  </a:tcPr>
                </a:tc>
                <a:tc>
                  <a:txBody>
                    <a:bodyPr/>
                    <a:lstStyle/>
                    <a:p>
                      <a:pPr algn="ctr">
                        <a:defRPr sz="1300" b="0">
                          <a:solidFill>
                            <a:srgbClr val="E8EDF7"/>
                          </a:solidFill>
                          <a:latin typeface="Segoe UI"/>
                        </a:defRPr>
                      </a:pPr>
                      <a:r>
                        <a:t>24,528</a:t>
                      </a:r>
                    </a:p>
                  </a:txBody>
                  <a:tcPr marL="64008" marR="64008" marT="27432" marB="27432" anchor="ctr">
                    <a:solidFill>
                      <a:srgbClr val="151D2E"/>
                    </a:solidFill>
                  </a:tcPr>
                </a:tc>
                <a:tc>
                  <a:txBody>
                    <a:bodyPr/>
                    <a:lstStyle/>
                    <a:p>
                      <a:pPr algn="ctr">
                        <a:defRPr sz="1300" b="0">
                          <a:solidFill>
                            <a:srgbClr val="E8EDF7"/>
                          </a:solidFill>
                          <a:latin typeface="Segoe UI"/>
                        </a:defRPr>
                      </a:pPr>
                      <a:r>
                        <a:t>3,891</a:t>
                      </a:r>
                    </a:p>
                  </a:txBody>
                  <a:tcPr marL="64008" marR="64008" marT="27432" marB="27432" anchor="ctr">
                    <a:solidFill>
                      <a:srgbClr val="151D2E"/>
                    </a:solidFill>
                  </a:tcPr>
                </a:tc>
                <a:tc>
                  <a:txBody>
                    <a:bodyPr/>
                    <a:lstStyle/>
                    <a:p>
                      <a:pPr algn="ctr">
                        <a:defRPr sz="1300" b="0">
                          <a:solidFill>
                            <a:srgbClr val="E8EDF7"/>
                          </a:solidFill>
                          <a:latin typeface="Segoe UI"/>
                        </a:defRPr>
                      </a:pPr>
                      <a:r>
                        <a:t>1.19</a:t>
                      </a:r>
                    </a:p>
                  </a:txBody>
                  <a:tcPr marL="64008" marR="64008" marT="27432" marB="27432" anchor="ctr">
                    <a:solidFill>
                      <a:srgbClr val="151D2E"/>
                    </a:solidFill>
                  </a:tcPr>
                </a:tc>
                <a:tc>
                  <a:txBody>
                    <a:bodyPr/>
                    <a:lstStyle/>
                    <a:p>
                      <a:pPr algn="ctr">
                        <a:defRPr sz="1300" b="0">
                          <a:solidFill>
                            <a:srgbClr val="E8EDF7"/>
                          </a:solidFill>
                          <a:latin typeface="Segoe UI"/>
                        </a:defRPr>
                      </a:pPr>
                      <a:r>
                        <a:t>[1,908, 6,404]</a:t>
                      </a:r>
                    </a:p>
                  </a:txBody>
                  <a:tcPr marL="64008" marR="64008" marT="27432" marB="27432" anchor="ctr">
                    <a:solidFill>
                      <a:srgbClr val="151D2E"/>
                    </a:solidFill>
                  </a:tcPr>
                </a:tc>
                <a:tc>
                  <a:txBody>
                    <a:bodyPr/>
                    <a:lstStyle/>
                    <a:p>
                      <a:pPr algn="ctr">
                        <a:defRPr sz="1300" b="0">
                          <a:solidFill>
                            <a:srgbClr val="E8EDF7"/>
                          </a:solidFill>
                          <a:latin typeface="Segoe UI"/>
                        </a:defRPr>
                      </a:pPr>
                      <a:r>
                        <a:t>7.3e-04</a:t>
                      </a:r>
                    </a:p>
                  </a:txBody>
                  <a:tcPr marL="64008" marR="64008" marT="27432" marB="27432" anchor="ctr">
                    <a:solidFill>
                      <a:srgbClr val="151D2E"/>
                    </a:solidFill>
                  </a:tcPr>
                </a:tc>
              </a:tr>
              <a:tr h="548640">
                <a:tc>
                  <a:txBody>
                    <a:bodyPr/>
                    <a:lstStyle/>
                    <a:p>
                      <a:pPr algn="l">
                        <a:defRPr sz="1300" b="0">
                          <a:solidFill>
                            <a:srgbClr val="E8EDF7"/>
                          </a:solidFill>
                          <a:latin typeface="Segoe UI"/>
                        </a:defRPr>
                      </a:pPr>
                      <a:r>
                        <a:t>LUCB + prefix vs LUCB</a:t>
                      </a:r>
                    </a:p>
                  </a:txBody>
                  <a:tcPr marL="64008" marR="64008" marT="27432" marB="27432" anchor="ctr">
                    <a:solidFill>
                      <a:srgbClr val="151D2E"/>
                    </a:solidFill>
                  </a:tcPr>
                </a:tc>
                <a:tc>
                  <a:txBody>
                    <a:bodyPr/>
                    <a:lstStyle/>
                    <a:p>
                      <a:pPr algn="ctr">
                        <a:defRPr sz="1300" b="0">
                          <a:solidFill>
                            <a:srgbClr val="E8EDF7"/>
                          </a:solidFill>
                          <a:latin typeface="Segoe UI"/>
                        </a:defRPr>
                      </a:pPr>
                      <a:r>
                        <a:t>30</a:t>
                      </a:r>
                    </a:p>
                  </a:txBody>
                  <a:tcPr marL="64008" marR="64008" marT="27432" marB="27432" anchor="ctr">
                    <a:solidFill>
                      <a:srgbClr val="151D2E"/>
                    </a:solidFill>
                  </a:tcPr>
                </a:tc>
                <a:tc>
                  <a:txBody>
                    <a:bodyPr/>
                    <a:lstStyle/>
                    <a:p>
                      <a:pPr algn="ctr">
                        <a:defRPr sz="1300" b="0">
                          <a:solidFill>
                            <a:srgbClr val="E8EDF7"/>
                          </a:solidFill>
                          <a:latin typeface="Segoe UI"/>
                        </a:defRPr>
                      </a:pPr>
                      <a:r>
                        <a:t>14,530</a:t>
                      </a:r>
                    </a:p>
                  </a:txBody>
                  <a:tcPr marL="64008" marR="64008" marT="27432" marB="27432" anchor="ctr">
                    <a:solidFill>
                      <a:srgbClr val="151D2E"/>
                    </a:solidFill>
                  </a:tcPr>
                </a:tc>
                <a:tc>
                  <a:txBody>
                    <a:bodyPr/>
                    <a:lstStyle/>
                    <a:p>
                      <a:pPr algn="ctr">
                        <a:defRPr sz="1300" b="0">
                          <a:solidFill>
                            <a:srgbClr val="E8EDF7"/>
                          </a:solidFill>
                          <a:latin typeface="Segoe UI"/>
                        </a:defRPr>
                      </a:pPr>
                      <a:r>
                        <a:t>20,637</a:t>
                      </a:r>
                    </a:p>
                  </a:txBody>
                  <a:tcPr marL="64008" marR="64008" marT="27432" marB="27432" anchor="ctr">
                    <a:solidFill>
                      <a:srgbClr val="151D2E"/>
                    </a:solidFill>
                  </a:tcPr>
                </a:tc>
                <a:tc>
                  <a:txBody>
                    <a:bodyPr/>
                    <a:lstStyle/>
                    <a:p>
                      <a:pPr algn="ctr">
                        <a:defRPr sz="1300" b="0">
                          <a:solidFill>
                            <a:srgbClr val="E8EDF7"/>
                          </a:solidFill>
                          <a:latin typeface="Segoe UI"/>
                        </a:defRPr>
                      </a:pPr>
                      <a:r>
                        <a:t>6,106</a:t>
                      </a:r>
                    </a:p>
                  </a:txBody>
                  <a:tcPr marL="64008" marR="64008" marT="27432" marB="27432" anchor="ctr">
                    <a:solidFill>
                      <a:srgbClr val="151D2E"/>
                    </a:solidFill>
                  </a:tcPr>
                </a:tc>
                <a:tc>
                  <a:txBody>
                    <a:bodyPr/>
                    <a:lstStyle/>
                    <a:p>
                      <a:pPr algn="ctr">
                        <a:defRPr sz="1300" b="0">
                          <a:solidFill>
                            <a:srgbClr val="E8EDF7"/>
                          </a:solidFill>
                          <a:latin typeface="Segoe UI"/>
                        </a:defRPr>
                      </a:pPr>
                      <a:r>
                        <a:t>1.42</a:t>
                      </a:r>
                    </a:p>
                  </a:txBody>
                  <a:tcPr marL="64008" marR="64008" marT="27432" marB="27432" anchor="ctr">
                    <a:solidFill>
                      <a:srgbClr val="151D2E"/>
                    </a:solidFill>
                  </a:tcPr>
                </a:tc>
                <a:tc>
                  <a:txBody>
                    <a:bodyPr/>
                    <a:lstStyle/>
                    <a:p>
                      <a:pPr algn="ctr">
                        <a:defRPr sz="1300" b="0">
                          <a:solidFill>
                            <a:srgbClr val="E8EDF7"/>
                          </a:solidFill>
                          <a:latin typeface="Segoe UI"/>
                        </a:defRPr>
                      </a:pPr>
                      <a:r>
                        <a:t>[4,185, 8,177]</a:t>
                      </a:r>
                    </a:p>
                  </a:txBody>
                  <a:tcPr marL="64008" marR="64008" marT="27432" marB="27432" anchor="ctr">
                    <a:solidFill>
                      <a:srgbClr val="151D2E"/>
                    </a:solidFill>
                  </a:tcPr>
                </a:tc>
                <a:tc>
                  <a:txBody>
                    <a:bodyPr/>
                    <a:lstStyle/>
                    <a:p>
                      <a:pPr algn="ctr">
                        <a:defRPr sz="1300" b="0">
                          <a:solidFill>
                            <a:srgbClr val="E8EDF7"/>
                          </a:solidFill>
                          <a:latin typeface="Segoe UI"/>
                        </a:defRPr>
                      </a:pPr>
                      <a:r>
                        <a:t>3.1e-05</a:t>
                      </a:r>
                    </a:p>
                  </a:txBody>
                  <a:tcPr marL="64008" marR="64008" marT="27432" marB="27432" anchor="ctr">
                    <a:solidFill>
                      <a:srgbClr val="151D2E"/>
                    </a:solidFill>
                  </a:tcPr>
                </a:tc>
              </a:tr>
            </a:tbl>
          </a:graphicData>
        </a:graphic>
      </p:graphicFrame>
      <p:sp>
        <p:nvSpPr>
          <p:cNvPr id="10" name="TextBox 9"/>
          <p:cNvSpPr txBox="1"/>
          <p:nvPr/>
        </p:nvSpPr>
        <p:spPr>
          <a:xfrm>
            <a:off x="548640" y="4572000"/>
            <a:ext cx="11064240" cy="1645920"/>
          </a:xfrm>
          <a:prstGeom prst="rect">
            <a:avLst/>
          </a:prstGeom>
          <a:noFill/>
        </p:spPr>
        <p:txBody>
          <a:bodyPr wrap="square" lIns="36576" rIns="36576">
            <a:spAutoFit/>
          </a:bodyPr>
          <a:lstStyle/>
          <a:p>
            <a:pPr>
              <a:spcAft>
                <a:spcPts val="600"/>
              </a:spcAft>
              <a:defRPr sz="1500" b="0">
                <a:solidFill>
                  <a:srgbClr val="E8EDF7"/>
                </a:solidFill>
                <a:latin typeface="Segoe UI"/>
              </a:defRPr>
            </a:pPr>
            <a:r>
              <a:t>•  Adaptive allocation (LUCB) vs uniform: 1.79× fewer rollouts on average.</a:t>
            </a:r>
          </a:p>
          <a:p>
            <a:pPr>
              <a:spcAft>
                <a:spcPts val="600"/>
              </a:spcAft>
              <a:defRPr sz="1500" b="0">
                <a:solidFill>
                  <a:srgbClr val="E8EDF7"/>
                </a:solidFill>
                <a:latin typeface="Segoe UI"/>
              </a:defRPr>
            </a:pPr>
            <a:r>
              <a:t>•  Valid prefix sharing on top of LUCB: 1.42× fewer again.</a:t>
            </a:r>
          </a:p>
          <a:p>
            <a:pPr>
              <a:spcAft>
                <a:spcPts val="600"/>
              </a:spcAft>
              <a:defRPr sz="1500" b="0">
                <a:solidFill>
                  <a:srgbClr val="E8EDF7"/>
                </a:solidFill>
                <a:latin typeface="Segoe UI"/>
              </a:defRPr>
            </a:pPr>
            <a:r>
              <a:t>•  All comparisons censored at the budget cap → the true savings are at least as large as shown.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Cost versus gap and the lower bound</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20</a:t>
            </a:r>
          </a:p>
        </p:txBody>
      </p:sp>
      <p:pic>
        <p:nvPicPr>
          <p:cNvPr id="9" name="Picture 8" descr="fig19_gap_sweep_lower_bound.png"/>
          <p:cNvPicPr>
            <a:picLocks noChangeAspect="1"/>
          </p:cNvPicPr>
          <p:nvPr/>
        </p:nvPicPr>
        <p:blipFill>
          <a:blip r:embed="rId3"/>
          <a:stretch>
            <a:fillRect/>
          </a:stretch>
        </p:blipFill>
        <p:spPr>
          <a:xfrm>
            <a:off x="457200" y="1732108"/>
            <a:ext cx="7132320" cy="4216743"/>
          </a:xfrm>
          <a:prstGeom prst="rect">
            <a:avLst/>
          </a:prstGeom>
        </p:spPr>
      </p:pic>
      <p:graphicFrame>
        <p:nvGraphicFramePr>
          <p:cNvPr id="10" name="Table 9"/>
          <p:cNvGraphicFramePr>
            <a:graphicFrameLocks noGrp="1"/>
          </p:cNvGraphicFramePr>
          <p:nvPr/>
        </p:nvGraphicFramePr>
        <p:xfrm>
          <a:off x="7863840" y="1554480"/>
          <a:ext cx="3840480" cy="2743200"/>
        </p:xfrm>
        <a:graphic>
          <a:graphicData uri="http://schemas.openxmlformats.org/drawingml/2006/table">
            <a:tbl>
              <a:tblPr firstRow="0" bandRow="0">
                <a:tableStyleId>{5C22544A-7EE6-4342-B048-85BDC9FD1C3A}</a:tableStyleId>
              </a:tblPr>
              <a:tblGrid>
                <a:gridCol w="822960"/>
                <a:gridCol w="1005840"/>
                <a:gridCol w="1097280"/>
                <a:gridCol w="914400"/>
              </a:tblGrid>
              <a:tr h="457200">
                <a:tc>
                  <a:txBody>
                    <a:bodyPr/>
                    <a:lstStyle/>
                    <a:p>
                      <a:pPr algn="l">
                        <a:defRPr sz="1300" b="1">
                          <a:solidFill>
                            <a:srgbClr val="2DD4E0"/>
                          </a:solidFill>
                          <a:latin typeface="Segoe UI"/>
                        </a:defRPr>
                      </a:pPr>
                      <a:r>
                        <a:t>gap</a:t>
                      </a:r>
                    </a:p>
                  </a:txBody>
                  <a:tcPr marL="64008" marR="64008" marT="27432" marB="27432" anchor="ctr">
                    <a:solidFill>
                      <a:srgbClr val="1E2A42"/>
                    </a:solidFill>
                  </a:tcPr>
                </a:tc>
                <a:tc>
                  <a:txBody>
                    <a:bodyPr/>
                    <a:lstStyle/>
                    <a:p>
                      <a:pPr algn="ctr">
                        <a:defRPr sz="1300" b="1">
                          <a:solidFill>
                            <a:srgbClr val="2DD4E0"/>
                          </a:solidFill>
                          <a:latin typeface="Segoe UI"/>
                        </a:defRPr>
                      </a:pPr>
                      <a:r>
                        <a:t>LUCB</a:t>
                      </a:r>
                    </a:p>
                  </a:txBody>
                  <a:tcPr marL="64008" marR="64008" marT="27432" marB="27432" anchor="ctr">
                    <a:solidFill>
                      <a:srgbClr val="1E2A42"/>
                    </a:solidFill>
                  </a:tcPr>
                </a:tc>
                <a:tc>
                  <a:txBody>
                    <a:bodyPr/>
                    <a:lstStyle/>
                    <a:p>
                      <a:pPr algn="ctr">
                        <a:defRPr sz="1300" b="1">
                          <a:solidFill>
                            <a:srgbClr val="2DD4E0"/>
                          </a:solidFill>
                          <a:latin typeface="Segoe UI"/>
                        </a:defRPr>
                      </a:pPr>
                      <a:r>
                        <a:t>Uniform</a:t>
                      </a:r>
                    </a:p>
                  </a:txBody>
                  <a:tcPr marL="64008" marR="64008" marT="27432" marB="27432" anchor="ctr">
                    <a:solidFill>
                      <a:srgbClr val="1E2A42"/>
                    </a:solidFill>
                  </a:tcPr>
                </a:tc>
                <a:tc>
                  <a:txBody>
                    <a:bodyPr/>
                    <a:lstStyle/>
                    <a:p>
                      <a:pPr algn="ctr">
                        <a:defRPr sz="1300" b="1">
                          <a:solidFill>
                            <a:srgbClr val="2DD4E0"/>
                          </a:solidFill>
                          <a:latin typeface="Segoe UI"/>
                        </a:defRPr>
                      </a:pPr>
                      <a:r>
                        <a:t>ratio</a:t>
                      </a:r>
                    </a:p>
                  </a:txBody>
                  <a:tcPr marL="64008" marR="64008" marT="27432" marB="27432" anchor="ctr">
                    <a:solidFill>
                      <a:srgbClr val="1E2A42"/>
                    </a:solidFill>
                  </a:tcPr>
                </a:tc>
              </a:tr>
              <a:tr h="457200">
                <a:tc>
                  <a:txBody>
                    <a:bodyPr/>
                    <a:lstStyle/>
                    <a:p>
                      <a:pPr algn="l">
                        <a:defRPr sz="1300" b="0">
                          <a:solidFill>
                            <a:srgbClr val="E8EDF7"/>
                          </a:solidFill>
                          <a:latin typeface="Segoe UI"/>
                        </a:defRPr>
                      </a:pPr>
                      <a:r>
                        <a:t>0.05</a:t>
                      </a:r>
                    </a:p>
                  </a:txBody>
                  <a:tcPr marL="64008" marR="64008" marT="27432" marB="27432" anchor="ctr">
                    <a:solidFill>
                      <a:srgbClr val="151D2E"/>
                    </a:solidFill>
                  </a:tcPr>
                </a:tc>
                <a:tc>
                  <a:txBody>
                    <a:bodyPr/>
                    <a:lstStyle/>
                    <a:p>
                      <a:pPr algn="ctr">
                        <a:defRPr sz="1300" b="0">
                          <a:solidFill>
                            <a:srgbClr val="E8EDF7"/>
                          </a:solidFill>
                          <a:latin typeface="Segoe UI"/>
                        </a:defRPr>
                      </a:pPr>
                      <a:r>
                        <a:t>27,515</a:t>
                      </a:r>
                    </a:p>
                  </a:txBody>
                  <a:tcPr marL="64008" marR="64008" marT="27432" marB="27432" anchor="ctr">
                    <a:solidFill>
                      <a:srgbClr val="151D2E"/>
                    </a:solidFill>
                  </a:tcPr>
                </a:tc>
                <a:tc>
                  <a:txBody>
                    <a:bodyPr/>
                    <a:lstStyle/>
                    <a:p>
                      <a:pPr algn="ctr">
                        <a:defRPr sz="1300" b="0">
                          <a:solidFill>
                            <a:srgbClr val="E8EDF7"/>
                          </a:solidFill>
                          <a:latin typeface="Segoe UI"/>
                        </a:defRPr>
                      </a:pPr>
                      <a:r>
                        <a:t>100,600</a:t>
                      </a:r>
                    </a:p>
                  </a:txBody>
                  <a:tcPr marL="64008" marR="64008" marT="27432" marB="27432" anchor="ctr">
                    <a:solidFill>
                      <a:srgbClr val="151D2E"/>
                    </a:solidFill>
                  </a:tcPr>
                </a:tc>
                <a:tc>
                  <a:txBody>
                    <a:bodyPr/>
                    <a:lstStyle/>
                    <a:p>
                      <a:pPr algn="ctr">
                        <a:defRPr sz="1300" b="0">
                          <a:solidFill>
                            <a:srgbClr val="E8EDF7"/>
                          </a:solidFill>
                          <a:latin typeface="Segoe UI"/>
                        </a:defRPr>
                      </a:pPr>
                      <a:r>
                        <a:t>3.7×</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0.10</a:t>
                      </a:r>
                    </a:p>
                  </a:txBody>
                  <a:tcPr marL="64008" marR="64008" marT="27432" marB="27432" anchor="ctr">
                    <a:solidFill>
                      <a:srgbClr val="151D2E"/>
                    </a:solidFill>
                  </a:tcPr>
                </a:tc>
                <a:tc>
                  <a:txBody>
                    <a:bodyPr/>
                    <a:lstStyle/>
                    <a:p>
                      <a:pPr algn="ctr">
                        <a:defRPr sz="1300" b="0">
                          <a:solidFill>
                            <a:srgbClr val="E8EDF7"/>
                          </a:solidFill>
                          <a:latin typeface="Segoe UI"/>
                        </a:defRPr>
                      </a:pPr>
                      <a:r>
                        <a:t>6,609</a:t>
                      </a:r>
                    </a:p>
                  </a:txBody>
                  <a:tcPr marL="64008" marR="64008" marT="27432" marB="27432" anchor="ctr">
                    <a:solidFill>
                      <a:srgbClr val="151D2E"/>
                    </a:solidFill>
                  </a:tcPr>
                </a:tc>
                <a:tc>
                  <a:txBody>
                    <a:bodyPr/>
                    <a:lstStyle/>
                    <a:p>
                      <a:pPr algn="ctr">
                        <a:defRPr sz="1300" b="0">
                          <a:solidFill>
                            <a:srgbClr val="E8EDF7"/>
                          </a:solidFill>
                          <a:latin typeface="Segoe UI"/>
                        </a:defRPr>
                      </a:pPr>
                      <a:r>
                        <a:t>25,481</a:t>
                      </a:r>
                    </a:p>
                  </a:txBody>
                  <a:tcPr marL="64008" marR="64008" marT="27432" marB="27432" anchor="ctr">
                    <a:solidFill>
                      <a:srgbClr val="151D2E"/>
                    </a:solidFill>
                  </a:tcPr>
                </a:tc>
                <a:tc>
                  <a:txBody>
                    <a:bodyPr/>
                    <a:lstStyle/>
                    <a:p>
                      <a:pPr algn="ctr">
                        <a:defRPr sz="1300" b="0">
                          <a:solidFill>
                            <a:srgbClr val="E8EDF7"/>
                          </a:solidFill>
                          <a:latin typeface="Segoe UI"/>
                        </a:defRPr>
                      </a:pPr>
                      <a:r>
                        <a:t>3.9×</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0.15</a:t>
                      </a:r>
                    </a:p>
                  </a:txBody>
                  <a:tcPr marL="64008" marR="64008" marT="27432" marB="27432" anchor="ctr">
                    <a:solidFill>
                      <a:srgbClr val="151D2E"/>
                    </a:solidFill>
                  </a:tcPr>
                </a:tc>
                <a:tc>
                  <a:txBody>
                    <a:bodyPr/>
                    <a:lstStyle/>
                    <a:p>
                      <a:pPr algn="ctr">
                        <a:defRPr sz="1300" b="0">
                          <a:solidFill>
                            <a:srgbClr val="E8EDF7"/>
                          </a:solidFill>
                          <a:latin typeface="Segoe UI"/>
                        </a:defRPr>
                      </a:pPr>
                      <a:r>
                        <a:t>2,769</a:t>
                      </a:r>
                    </a:p>
                  </a:txBody>
                  <a:tcPr marL="64008" marR="64008" marT="27432" marB="27432" anchor="ctr">
                    <a:solidFill>
                      <a:srgbClr val="151D2E"/>
                    </a:solidFill>
                  </a:tcPr>
                </a:tc>
                <a:tc>
                  <a:txBody>
                    <a:bodyPr/>
                    <a:lstStyle/>
                    <a:p>
                      <a:pPr algn="ctr">
                        <a:defRPr sz="1300" b="0">
                          <a:solidFill>
                            <a:srgbClr val="E8EDF7"/>
                          </a:solidFill>
                          <a:latin typeface="Segoe UI"/>
                        </a:defRPr>
                      </a:pPr>
                      <a:r>
                        <a:t>10,660</a:t>
                      </a:r>
                    </a:p>
                  </a:txBody>
                  <a:tcPr marL="64008" marR="64008" marT="27432" marB="27432" anchor="ctr">
                    <a:solidFill>
                      <a:srgbClr val="151D2E"/>
                    </a:solidFill>
                  </a:tcPr>
                </a:tc>
                <a:tc>
                  <a:txBody>
                    <a:bodyPr/>
                    <a:lstStyle/>
                    <a:p>
                      <a:pPr algn="ctr">
                        <a:defRPr sz="1300" b="0">
                          <a:solidFill>
                            <a:srgbClr val="E8EDF7"/>
                          </a:solidFill>
                          <a:latin typeface="Segoe UI"/>
                        </a:defRPr>
                      </a:pPr>
                      <a:r>
                        <a:t>3.9×</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0.20</a:t>
                      </a:r>
                    </a:p>
                  </a:txBody>
                  <a:tcPr marL="64008" marR="64008" marT="27432" marB="27432" anchor="ctr">
                    <a:solidFill>
                      <a:srgbClr val="151D2E"/>
                    </a:solidFill>
                  </a:tcPr>
                </a:tc>
                <a:tc>
                  <a:txBody>
                    <a:bodyPr/>
                    <a:lstStyle/>
                    <a:p>
                      <a:pPr algn="ctr">
                        <a:defRPr sz="1300" b="0">
                          <a:solidFill>
                            <a:srgbClr val="E8EDF7"/>
                          </a:solidFill>
                          <a:latin typeface="Segoe UI"/>
                        </a:defRPr>
                      </a:pPr>
                      <a:r>
                        <a:t>1,537</a:t>
                      </a:r>
                    </a:p>
                  </a:txBody>
                  <a:tcPr marL="64008" marR="64008" marT="27432" marB="27432" anchor="ctr">
                    <a:solidFill>
                      <a:srgbClr val="151D2E"/>
                    </a:solidFill>
                  </a:tcPr>
                </a:tc>
                <a:tc>
                  <a:txBody>
                    <a:bodyPr/>
                    <a:lstStyle/>
                    <a:p>
                      <a:pPr algn="ctr">
                        <a:defRPr sz="1300" b="0">
                          <a:solidFill>
                            <a:srgbClr val="E8EDF7"/>
                          </a:solidFill>
                          <a:latin typeface="Segoe UI"/>
                        </a:defRPr>
                      </a:pPr>
                      <a:r>
                        <a:t>5,781</a:t>
                      </a:r>
                    </a:p>
                  </a:txBody>
                  <a:tcPr marL="64008" marR="64008" marT="27432" marB="27432" anchor="ctr">
                    <a:solidFill>
                      <a:srgbClr val="151D2E"/>
                    </a:solidFill>
                  </a:tcPr>
                </a:tc>
                <a:tc>
                  <a:txBody>
                    <a:bodyPr/>
                    <a:lstStyle/>
                    <a:p>
                      <a:pPr algn="ctr">
                        <a:defRPr sz="1300" b="0">
                          <a:solidFill>
                            <a:srgbClr val="E8EDF7"/>
                          </a:solidFill>
                          <a:latin typeface="Segoe UI"/>
                        </a:defRPr>
                      </a:pPr>
                      <a:r>
                        <a:t>3.8×</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0.30</a:t>
                      </a:r>
                    </a:p>
                  </a:txBody>
                  <a:tcPr marL="64008" marR="64008" marT="27432" marB="27432" anchor="ctr">
                    <a:solidFill>
                      <a:srgbClr val="151D2E"/>
                    </a:solidFill>
                  </a:tcPr>
                </a:tc>
                <a:tc>
                  <a:txBody>
                    <a:bodyPr/>
                    <a:lstStyle/>
                    <a:p>
                      <a:pPr algn="ctr">
                        <a:defRPr sz="1300" b="0">
                          <a:solidFill>
                            <a:srgbClr val="E8EDF7"/>
                          </a:solidFill>
                          <a:latin typeface="Segoe UI"/>
                        </a:defRPr>
                      </a:pPr>
                      <a:r>
                        <a:t>648</a:t>
                      </a:r>
                    </a:p>
                  </a:txBody>
                  <a:tcPr marL="64008" marR="64008" marT="27432" marB="27432" anchor="ctr">
                    <a:solidFill>
                      <a:srgbClr val="151D2E"/>
                    </a:solidFill>
                  </a:tcPr>
                </a:tc>
                <a:tc>
                  <a:txBody>
                    <a:bodyPr/>
                    <a:lstStyle/>
                    <a:p>
                      <a:pPr algn="ctr">
                        <a:defRPr sz="1300" b="0">
                          <a:solidFill>
                            <a:srgbClr val="E8EDF7"/>
                          </a:solidFill>
                          <a:latin typeface="Segoe UI"/>
                        </a:defRPr>
                      </a:pPr>
                      <a:r>
                        <a:t>2,471</a:t>
                      </a:r>
                    </a:p>
                  </a:txBody>
                  <a:tcPr marL="64008" marR="64008" marT="27432" marB="27432" anchor="ctr">
                    <a:solidFill>
                      <a:srgbClr val="151D2E"/>
                    </a:solidFill>
                  </a:tcPr>
                </a:tc>
                <a:tc>
                  <a:txBody>
                    <a:bodyPr/>
                    <a:lstStyle/>
                    <a:p>
                      <a:pPr algn="ctr">
                        <a:defRPr sz="1300" b="0">
                          <a:solidFill>
                            <a:srgbClr val="E8EDF7"/>
                          </a:solidFill>
                          <a:latin typeface="Segoe UI"/>
                        </a:defRPr>
                      </a:pPr>
                      <a:r>
                        <a:t>3.8×</a:t>
                      </a:r>
                    </a:p>
                  </a:txBody>
                  <a:tcPr marL="64008" marR="64008" marT="27432" marB="27432" anchor="ctr">
                    <a:solidFill>
                      <a:srgbClr val="151D2E"/>
                    </a:solidFill>
                  </a:tcPr>
                </a:tc>
              </a:tr>
            </a:tbl>
          </a:graphicData>
        </a:graphic>
      </p:graphicFrame>
      <p:sp>
        <p:nvSpPr>
          <p:cNvPr id="11" name="TextBox 10"/>
          <p:cNvSpPr txBox="1"/>
          <p:nvPr/>
        </p:nvSpPr>
        <p:spPr>
          <a:xfrm>
            <a:off x="7863840" y="4480560"/>
            <a:ext cx="3840480" cy="457200"/>
          </a:xfrm>
          <a:prstGeom prst="rect">
            <a:avLst/>
          </a:prstGeom>
          <a:noFill/>
        </p:spPr>
        <p:txBody>
          <a:bodyPr wrap="square" lIns="36576" rIns="36576">
            <a:spAutoFit/>
          </a:bodyPr>
          <a:lstStyle/>
          <a:p>
            <a:pPr>
              <a:spcAft>
                <a:spcPts val="600"/>
              </a:spcAft>
              <a:defRPr sz="1100" b="0">
                <a:solidFill>
                  <a:srgbClr val="96A3BE"/>
                </a:solidFill>
                <a:latin typeface="Segoe UI"/>
              </a:defRPr>
            </a:pPr>
            <a:r>
              <a:t>Mean rollouts, 30 trials per cell, K = 8. Synthetic.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Scaling with the number of candidates and with δ</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21</a:t>
            </a:r>
          </a:p>
        </p:txBody>
      </p:sp>
      <p:graphicFrame>
        <p:nvGraphicFramePr>
          <p:cNvPr id="9" name="Chart 8"/>
          <p:cNvGraphicFramePr>
            <a:graphicFrameLocks noGrp="1"/>
          </p:cNvGraphicFramePr>
          <p:nvPr/>
        </p:nvGraphicFramePr>
        <p:xfrm>
          <a:off x="457200" y="1371600"/>
          <a:ext cx="5760720" cy="4297680"/>
        </p:xfrm>
        <a:graphic>
          <a:graphicData uri="http://schemas.openxmlformats.org/drawingml/2006/chart">
            <c:chart xmlns:c="http://schemas.openxmlformats.org/drawingml/2006/chart" r:id="rId3"/>
          </a:graphicData>
        </a:graphic>
      </p:graphicFrame>
      <p:graphicFrame>
        <p:nvGraphicFramePr>
          <p:cNvPr id="10" name="Table 9"/>
          <p:cNvGraphicFramePr>
            <a:graphicFrameLocks noGrp="1"/>
          </p:cNvGraphicFramePr>
          <p:nvPr/>
        </p:nvGraphicFramePr>
        <p:xfrm>
          <a:off x="6492240" y="1554480"/>
          <a:ext cx="5212080" cy="2743200"/>
        </p:xfrm>
        <a:graphic>
          <a:graphicData uri="http://schemas.openxmlformats.org/drawingml/2006/table">
            <a:tbl>
              <a:tblPr firstRow="0" bandRow="0">
                <a:tableStyleId>{5C22544A-7EE6-4342-B048-85BDC9FD1C3A}</a:tableStyleId>
              </a:tblPr>
              <a:tblGrid>
                <a:gridCol w="822960"/>
                <a:gridCol w="1554480"/>
                <a:gridCol w="1188720"/>
                <a:gridCol w="1645920"/>
              </a:tblGrid>
              <a:tr h="457200">
                <a:tc>
                  <a:txBody>
                    <a:bodyPr/>
                    <a:lstStyle/>
                    <a:p>
                      <a:pPr algn="l">
                        <a:defRPr sz="1300" b="1">
                          <a:solidFill>
                            <a:srgbClr val="2DD4E0"/>
                          </a:solidFill>
                          <a:latin typeface="Segoe UI"/>
                        </a:defRPr>
                      </a:pPr>
                      <a:r>
                        <a:t>δ</a:t>
                      </a:r>
                    </a:p>
                  </a:txBody>
                  <a:tcPr marL="64008" marR="64008" marT="27432" marB="27432" anchor="ctr">
                    <a:solidFill>
                      <a:srgbClr val="1E2A42"/>
                    </a:solidFill>
                  </a:tcPr>
                </a:tc>
                <a:tc>
                  <a:txBody>
                    <a:bodyPr/>
                    <a:lstStyle/>
                    <a:p>
                      <a:pPr algn="ctr">
                        <a:defRPr sz="1300" b="1">
                          <a:solidFill>
                            <a:srgbClr val="2DD4E0"/>
                          </a:solidFill>
                          <a:latin typeface="Segoe UI"/>
                        </a:defRPr>
                      </a:pPr>
                      <a:r>
                        <a:t>mean rollouts</a:t>
                      </a:r>
                    </a:p>
                  </a:txBody>
                  <a:tcPr marL="64008" marR="64008" marT="27432" marB="27432" anchor="ctr">
                    <a:solidFill>
                      <a:srgbClr val="1E2A42"/>
                    </a:solidFill>
                  </a:tcPr>
                </a:tc>
                <a:tc>
                  <a:txBody>
                    <a:bodyPr/>
                    <a:lstStyle/>
                    <a:p>
                      <a:pPr algn="ctr">
                        <a:defRPr sz="1300" b="1">
                          <a:solidFill>
                            <a:srgbClr val="2DD4E0"/>
                          </a:solidFill>
                          <a:latin typeface="Segoe UI"/>
                        </a:defRPr>
                      </a:pPr>
                      <a:r>
                        <a:t>accuracy</a:t>
                      </a:r>
                    </a:p>
                  </a:txBody>
                  <a:tcPr marL="64008" marR="64008" marT="27432" marB="27432" anchor="ctr">
                    <a:solidFill>
                      <a:srgbClr val="1E2A42"/>
                    </a:solidFill>
                  </a:tcPr>
                </a:tc>
                <a:tc>
                  <a:txBody>
                    <a:bodyPr/>
                    <a:lstStyle/>
                    <a:p>
                      <a:pPr algn="ctr">
                        <a:defRPr sz="1300" b="1">
                          <a:solidFill>
                            <a:srgbClr val="2DD4E0"/>
                          </a:solidFill>
                          <a:latin typeface="Segoe UI"/>
                        </a:defRPr>
                      </a:pPr>
                      <a:r>
                        <a:t>wrong certified</a:t>
                      </a:r>
                    </a:p>
                  </a:txBody>
                  <a:tcPr marL="64008" marR="64008" marT="27432" marB="27432" anchor="ctr">
                    <a:solidFill>
                      <a:srgbClr val="1E2A42"/>
                    </a:solidFill>
                  </a:tcPr>
                </a:tc>
              </a:tr>
              <a:tr h="457200">
                <a:tc>
                  <a:txBody>
                    <a:bodyPr/>
                    <a:lstStyle/>
                    <a:p>
                      <a:pPr algn="l">
                        <a:defRPr sz="1300" b="0">
                          <a:solidFill>
                            <a:srgbClr val="E8EDF7"/>
                          </a:solidFill>
                          <a:latin typeface="Segoe UI"/>
                        </a:defRPr>
                      </a:pPr>
                      <a:r>
                        <a:t>0.01</a:t>
                      </a:r>
                    </a:p>
                  </a:txBody>
                  <a:tcPr marL="64008" marR="64008" marT="27432" marB="27432" anchor="ctr">
                    <a:solidFill>
                      <a:srgbClr val="151D2E"/>
                    </a:solidFill>
                  </a:tcPr>
                </a:tc>
                <a:tc>
                  <a:txBody>
                    <a:bodyPr/>
                    <a:lstStyle/>
                    <a:p>
                      <a:pPr algn="ctr">
                        <a:defRPr sz="1300" b="0">
                          <a:solidFill>
                            <a:srgbClr val="E8EDF7"/>
                          </a:solidFill>
                          <a:latin typeface="Segoe UI"/>
                        </a:defRPr>
                      </a:pPr>
                      <a:r>
                        <a:t>3,221</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0 %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0.05</a:t>
                      </a:r>
                    </a:p>
                  </a:txBody>
                  <a:tcPr marL="64008" marR="64008" marT="27432" marB="27432" anchor="ctr">
                    <a:solidFill>
                      <a:srgbClr val="151D2E"/>
                    </a:solidFill>
                  </a:tcPr>
                </a:tc>
                <a:tc>
                  <a:txBody>
                    <a:bodyPr/>
                    <a:lstStyle/>
                    <a:p>
                      <a:pPr algn="ctr">
                        <a:defRPr sz="1300" b="0">
                          <a:solidFill>
                            <a:srgbClr val="E8EDF7"/>
                          </a:solidFill>
                          <a:latin typeface="Segoe UI"/>
                        </a:defRPr>
                      </a:pPr>
                      <a:r>
                        <a:t>2,935</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0 %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0.1</a:t>
                      </a:r>
                    </a:p>
                  </a:txBody>
                  <a:tcPr marL="64008" marR="64008" marT="27432" marB="27432" anchor="ctr">
                    <a:solidFill>
                      <a:srgbClr val="151D2E"/>
                    </a:solidFill>
                  </a:tcPr>
                </a:tc>
                <a:tc>
                  <a:txBody>
                    <a:bodyPr/>
                    <a:lstStyle/>
                    <a:p>
                      <a:pPr algn="ctr">
                        <a:defRPr sz="1300" b="0">
                          <a:solidFill>
                            <a:srgbClr val="E8EDF7"/>
                          </a:solidFill>
                          <a:latin typeface="Segoe UI"/>
                        </a:defRPr>
                      </a:pPr>
                      <a:r>
                        <a:t>2,784</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0 %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0.2</a:t>
                      </a:r>
                    </a:p>
                  </a:txBody>
                  <a:tcPr marL="64008" marR="64008" marT="27432" marB="27432" anchor="ctr">
                    <a:solidFill>
                      <a:srgbClr val="151D2E"/>
                    </a:solidFill>
                  </a:tcPr>
                </a:tc>
                <a:tc>
                  <a:txBody>
                    <a:bodyPr/>
                    <a:lstStyle/>
                    <a:p>
                      <a:pPr algn="ctr">
                        <a:defRPr sz="1300" b="0">
                          <a:solidFill>
                            <a:srgbClr val="E8EDF7"/>
                          </a:solidFill>
                          <a:latin typeface="Segoe UI"/>
                        </a:defRPr>
                      </a:pPr>
                      <a:r>
                        <a:t>2,688</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0 %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0.4</a:t>
                      </a:r>
                    </a:p>
                  </a:txBody>
                  <a:tcPr marL="64008" marR="64008" marT="27432" marB="27432" anchor="ctr">
                    <a:solidFill>
                      <a:srgbClr val="151D2E"/>
                    </a:solidFill>
                  </a:tcPr>
                </a:tc>
                <a:tc>
                  <a:txBody>
                    <a:bodyPr/>
                    <a:lstStyle/>
                    <a:p>
                      <a:pPr algn="ctr">
                        <a:defRPr sz="1300" b="0">
                          <a:solidFill>
                            <a:srgbClr val="E8EDF7"/>
                          </a:solidFill>
                          <a:latin typeface="Segoe UI"/>
                        </a:defRPr>
                      </a:pPr>
                      <a:r>
                        <a:t>2,531</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0 %</a:t>
                      </a:r>
                    </a:p>
                  </a:txBody>
                  <a:tcPr marL="64008" marR="64008" marT="27432" marB="27432" anchor="ctr">
                    <a:solidFill>
                      <a:srgbClr val="151D2E"/>
                    </a:solidFill>
                  </a:tcPr>
                </a:tc>
              </a:tr>
            </a:tbl>
          </a:graphicData>
        </a:graphic>
      </p:graphicFrame>
      <p:sp>
        <p:nvSpPr>
          <p:cNvPr id="11" name="TextBox 10"/>
          <p:cNvSpPr txBox="1"/>
          <p:nvPr/>
        </p:nvSpPr>
        <p:spPr>
          <a:xfrm>
            <a:off x="6492240" y="4389120"/>
            <a:ext cx="5212080" cy="457200"/>
          </a:xfrm>
          <a:prstGeom prst="rect">
            <a:avLst/>
          </a:prstGeom>
          <a:noFill/>
        </p:spPr>
        <p:txBody>
          <a:bodyPr wrap="square" lIns="36576" rIns="36576">
            <a:spAutoFit/>
          </a:bodyPr>
          <a:lstStyle/>
          <a:p>
            <a:pPr>
              <a:spcAft>
                <a:spcPts val="600"/>
              </a:spcAft>
              <a:defRPr sz="1100" b="0">
                <a:solidFill>
                  <a:srgbClr val="96A3BE"/>
                </a:solidFill>
                <a:latin typeface="Segoe UI"/>
              </a:defRPr>
            </a:pPr>
            <a:r>
              <a:t>δ sweep: 60 trials per δ. 0 wrong certified answers in 300 trials is consistent with — not a proof of — δ-correctness.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Ablations: which design choices matter</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22</a:t>
            </a:r>
          </a:p>
        </p:txBody>
      </p:sp>
      <p:graphicFrame>
        <p:nvGraphicFramePr>
          <p:cNvPr id="9" name="Table 8"/>
          <p:cNvGraphicFramePr>
            <a:graphicFrameLocks noGrp="1"/>
          </p:cNvGraphicFramePr>
          <p:nvPr/>
        </p:nvGraphicFramePr>
        <p:xfrm>
          <a:off x="548640" y="1508760"/>
          <a:ext cx="7315200" cy="3950208"/>
        </p:xfrm>
        <a:graphic>
          <a:graphicData uri="http://schemas.openxmlformats.org/drawingml/2006/table">
            <a:tbl>
              <a:tblPr firstRow="0" bandRow="0">
                <a:tableStyleId>{5C22544A-7EE6-4342-B048-85BDC9FD1C3A}</a:tableStyleId>
              </a:tblPr>
              <a:tblGrid>
                <a:gridCol w="3200400"/>
                <a:gridCol w="1554480"/>
                <a:gridCol w="1280160"/>
                <a:gridCol w="1280160"/>
              </a:tblGrid>
              <a:tr h="438912">
                <a:tc>
                  <a:txBody>
                    <a:bodyPr/>
                    <a:lstStyle/>
                    <a:p>
                      <a:pPr algn="l">
                        <a:defRPr sz="1300" b="1">
                          <a:solidFill>
                            <a:srgbClr val="2DD4E0"/>
                          </a:solidFill>
                          <a:latin typeface="Segoe UI"/>
                        </a:defRPr>
                      </a:pPr>
                      <a:r>
                        <a:t>factor</a:t>
                      </a:r>
                    </a:p>
                  </a:txBody>
                  <a:tcPr marL="64008" marR="64008" marT="27432" marB="27432" anchor="ctr">
                    <a:solidFill>
                      <a:srgbClr val="1E2A42"/>
                    </a:solidFill>
                  </a:tcPr>
                </a:tc>
                <a:tc>
                  <a:txBody>
                    <a:bodyPr/>
                    <a:lstStyle/>
                    <a:p>
                      <a:pPr algn="ctr">
                        <a:defRPr sz="1300" b="1">
                          <a:solidFill>
                            <a:srgbClr val="2DD4E0"/>
                          </a:solidFill>
                          <a:latin typeface="Segoe UI"/>
                        </a:defRPr>
                      </a:pPr>
                      <a:r>
                        <a:t>mean rollouts</a:t>
                      </a:r>
                    </a:p>
                  </a:txBody>
                  <a:tcPr marL="64008" marR="64008" marT="27432" marB="27432" anchor="ctr">
                    <a:solidFill>
                      <a:srgbClr val="1E2A42"/>
                    </a:solidFill>
                  </a:tcPr>
                </a:tc>
                <a:tc>
                  <a:txBody>
                    <a:bodyPr/>
                    <a:lstStyle/>
                    <a:p>
                      <a:pPr algn="ctr">
                        <a:defRPr sz="1300" b="1">
                          <a:solidFill>
                            <a:srgbClr val="2DD4E0"/>
                          </a:solidFill>
                          <a:latin typeface="Segoe UI"/>
                        </a:defRPr>
                      </a:pPr>
                      <a:r>
                        <a:t>accuracy</a:t>
                      </a:r>
                    </a:p>
                  </a:txBody>
                  <a:tcPr marL="64008" marR="64008" marT="27432" marB="27432" anchor="ctr">
                    <a:solidFill>
                      <a:srgbClr val="1E2A42"/>
                    </a:solidFill>
                  </a:tcPr>
                </a:tc>
                <a:tc>
                  <a:txBody>
                    <a:bodyPr/>
                    <a:lstStyle/>
                    <a:p>
                      <a:pPr algn="ctr">
                        <a:defRPr sz="1300" b="1">
                          <a:solidFill>
                            <a:srgbClr val="2DD4E0"/>
                          </a:solidFill>
                          <a:latin typeface="Segoe UI"/>
                        </a:defRPr>
                      </a:pPr>
                      <a:r>
                        <a:t>abstained</a:t>
                      </a:r>
                    </a:p>
                  </a:txBody>
                  <a:tcPr marL="64008" marR="64008" marT="27432" marB="27432" anchor="ctr">
                    <a:solidFill>
                      <a:srgbClr val="1E2A42"/>
                    </a:solidFill>
                  </a:tcPr>
                </a:tc>
              </a:tr>
              <a:tr h="438912">
                <a:tc>
                  <a:txBody>
                    <a:bodyPr/>
                    <a:lstStyle/>
                    <a:p>
                      <a:pPr algn="l">
                        <a:defRPr sz="1300" b="0">
                          <a:solidFill>
                            <a:srgbClr val="E8EDF7"/>
                          </a:solidFill>
                          <a:latin typeface="Segoe UI"/>
                        </a:defRPr>
                      </a:pPr>
                      <a:r>
                        <a:t>allocation = LUCB</a:t>
                      </a:r>
                    </a:p>
                  </a:txBody>
                  <a:tcPr marL="64008" marR="64008" marT="27432" marB="27432" anchor="ctr">
                    <a:solidFill>
                      <a:srgbClr val="151D2E"/>
                    </a:solidFill>
                  </a:tcPr>
                </a:tc>
                <a:tc>
                  <a:txBody>
                    <a:bodyPr/>
                    <a:lstStyle/>
                    <a:p>
                      <a:pPr algn="ctr">
                        <a:defRPr sz="1300" b="0">
                          <a:solidFill>
                            <a:srgbClr val="E8EDF7"/>
                          </a:solidFill>
                          <a:latin typeface="Segoe UI"/>
                        </a:defRPr>
                      </a:pPr>
                      <a:r>
                        <a:t>18,448</a:t>
                      </a:r>
                    </a:p>
                  </a:txBody>
                  <a:tcPr marL="64008" marR="64008" marT="27432" marB="27432" anchor="ctr">
                    <a:solidFill>
                      <a:srgbClr val="151D2E"/>
                    </a:solidFill>
                  </a:tcPr>
                </a:tc>
                <a:tc>
                  <a:txBody>
                    <a:bodyPr/>
                    <a:lstStyle/>
                    <a:p>
                      <a:pPr algn="ctr">
                        <a:defRPr sz="1300" b="0">
                          <a:solidFill>
                            <a:srgbClr val="E8EDF7"/>
                          </a:solidFill>
                          <a:latin typeface="Segoe UI"/>
                        </a:defRPr>
                      </a:pPr>
                      <a:r>
                        <a:t>93 %</a:t>
                      </a:r>
                    </a:p>
                  </a:txBody>
                  <a:tcPr marL="64008" marR="64008" marT="27432" marB="27432" anchor="ctr">
                    <a:solidFill>
                      <a:srgbClr val="151D2E"/>
                    </a:solidFill>
                  </a:tcPr>
                </a:tc>
                <a:tc>
                  <a:txBody>
                    <a:bodyPr/>
                    <a:lstStyle/>
                    <a:p>
                      <a:pPr algn="ctr">
                        <a:defRPr sz="1300" b="0">
                          <a:solidFill>
                            <a:srgbClr val="E8EDF7"/>
                          </a:solidFill>
                          <a:latin typeface="Segoe UI"/>
                        </a:defRPr>
                      </a:pPr>
                      <a:r>
                        <a:t>17 %</a:t>
                      </a:r>
                    </a:p>
                  </a:txBody>
                  <a:tcPr marL="64008" marR="64008" marT="27432" marB="27432" anchor="ctr">
                    <a:solidFill>
                      <a:srgbClr val="151D2E"/>
                    </a:solidFill>
                  </a:tcPr>
                </a:tc>
              </a:tr>
              <a:tr h="438912">
                <a:tc>
                  <a:txBody>
                    <a:bodyPr/>
                    <a:lstStyle/>
                    <a:p>
                      <a:pPr algn="l">
                        <a:defRPr sz="1300" b="0">
                          <a:solidFill>
                            <a:srgbClr val="E8EDF7"/>
                          </a:solidFill>
                          <a:latin typeface="Segoe UI"/>
                        </a:defRPr>
                      </a:pPr>
                      <a:r>
                        <a:t>allocation = succ. elim.</a:t>
                      </a:r>
                    </a:p>
                  </a:txBody>
                  <a:tcPr marL="64008" marR="64008" marT="27432" marB="27432" anchor="ctr">
                    <a:solidFill>
                      <a:srgbClr val="151D2E"/>
                    </a:solidFill>
                  </a:tcPr>
                </a:tc>
                <a:tc>
                  <a:txBody>
                    <a:bodyPr/>
                    <a:lstStyle/>
                    <a:p>
                      <a:pPr algn="ctr">
                        <a:defRPr sz="1300" b="0">
                          <a:solidFill>
                            <a:srgbClr val="E8EDF7"/>
                          </a:solidFill>
                          <a:latin typeface="Segoe UI"/>
                        </a:defRPr>
                      </a:pPr>
                      <a:r>
                        <a:t>20,944</a:t>
                      </a:r>
                    </a:p>
                  </a:txBody>
                  <a:tcPr marL="64008" marR="64008" marT="27432" marB="27432" anchor="ctr">
                    <a:solidFill>
                      <a:srgbClr val="151D2E"/>
                    </a:solidFill>
                  </a:tcPr>
                </a:tc>
                <a:tc>
                  <a:txBody>
                    <a:bodyPr/>
                    <a:lstStyle/>
                    <a:p>
                      <a:pPr algn="ctr">
                        <a:defRPr sz="1300" b="0">
                          <a:solidFill>
                            <a:srgbClr val="E8EDF7"/>
                          </a:solidFill>
                          <a:latin typeface="Segoe UI"/>
                        </a:defRPr>
                      </a:pPr>
                      <a:r>
                        <a:t>93 %</a:t>
                      </a:r>
                    </a:p>
                  </a:txBody>
                  <a:tcPr marL="64008" marR="64008" marT="27432" marB="27432" anchor="ctr">
                    <a:solidFill>
                      <a:srgbClr val="151D2E"/>
                    </a:solidFill>
                  </a:tcPr>
                </a:tc>
                <a:tc>
                  <a:txBody>
                    <a:bodyPr/>
                    <a:lstStyle/>
                    <a:p>
                      <a:pPr algn="ctr">
                        <a:defRPr sz="1300" b="0">
                          <a:solidFill>
                            <a:srgbClr val="E8EDF7"/>
                          </a:solidFill>
                          <a:latin typeface="Segoe UI"/>
                        </a:defRPr>
                      </a:pPr>
                      <a:r>
                        <a:t>17 %</a:t>
                      </a:r>
                    </a:p>
                  </a:txBody>
                  <a:tcPr marL="64008" marR="64008" marT="27432" marB="27432" anchor="ctr">
                    <a:solidFill>
                      <a:srgbClr val="151D2E"/>
                    </a:solidFill>
                  </a:tcPr>
                </a:tc>
              </a:tr>
              <a:tr h="438912">
                <a:tc>
                  <a:txBody>
                    <a:bodyPr/>
                    <a:lstStyle/>
                    <a:p>
                      <a:pPr algn="l">
                        <a:defRPr sz="1300" b="0">
                          <a:solidFill>
                            <a:srgbClr val="E8EDF7"/>
                          </a:solidFill>
                          <a:latin typeface="Segoe UI"/>
                        </a:defRPr>
                      </a:pPr>
                      <a:r>
                        <a:t>allocation = uniform</a:t>
                      </a:r>
                    </a:p>
                  </a:txBody>
                  <a:tcPr marL="64008" marR="64008" marT="27432" marB="27432" anchor="ctr">
                    <a:solidFill>
                      <a:srgbClr val="151D2E"/>
                    </a:solidFill>
                  </a:tcPr>
                </a:tc>
                <a:tc>
                  <a:txBody>
                    <a:bodyPr/>
                    <a:lstStyle/>
                    <a:p>
                      <a:pPr algn="ctr">
                        <a:defRPr sz="1300" b="0">
                          <a:solidFill>
                            <a:srgbClr val="E8EDF7"/>
                          </a:solidFill>
                          <a:latin typeface="Segoe UI"/>
                        </a:defRPr>
                      </a:pPr>
                      <a:r>
                        <a:t>36,493</a:t>
                      </a:r>
                    </a:p>
                  </a:txBody>
                  <a:tcPr marL="64008" marR="64008" marT="27432" marB="27432" anchor="ctr">
                    <a:solidFill>
                      <a:srgbClr val="151D2E"/>
                    </a:solidFill>
                  </a:tcPr>
                </a:tc>
                <a:tc>
                  <a:txBody>
                    <a:bodyPr/>
                    <a:lstStyle/>
                    <a:p>
                      <a:pPr algn="ctr">
                        <a:defRPr sz="1300" b="0">
                          <a:solidFill>
                            <a:srgbClr val="E8EDF7"/>
                          </a:solidFill>
                          <a:latin typeface="Segoe UI"/>
                        </a:defRPr>
                      </a:pPr>
                      <a:r>
                        <a:t>97 %</a:t>
                      </a:r>
                    </a:p>
                  </a:txBody>
                  <a:tcPr marL="64008" marR="64008" marT="27432" marB="27432" anchor="ctr">
                    <a:solidFill>
                      <a:srgbClr val="151D2E"/>
                    </a:solidFill>
                  </a:tcPr>
                </a:tc>
                <a:tc>
                  <a:txBody>
                    <a:bodyPr/>
                    <a:lstStyle/>
                    <a:p>
                      <a:pPr algn="ctr">
                        <a:defRPr sz="1300" b="0">
                          <a:solidFill>
                            <a:srgbClr val="E8EDF7"/>
                          </a:solidFill>
                          <a:latin typeface="Segoe UI"/>
                        </a:defRPr>
                      </a:pPr>
                      <a:r>
                        <a:t>33 %</a:t>
                      </a:r>
                    </a:p>
                  </a:txBody>
                  <a:tcPr marL="64008" marR="64008" marT="27432" marB="27432" anchor="ctr">
                    <a:solidFill>
                      <a:srgbClr val="151D2E"/>
                    </a:solidFill>
                  </a:tcPr>
                </a:tc>
              </a:tr>
              <a:tr h="438912">
                <a:tc>
                  <a:txBody>
                    <a:bodyPr/>
                    <a:lstStyle/>
                    <a:p>
                      <a:pPr algn="l">
                        <a:defRPr sz="1300" b="0">
                          <a:solidFill>
                            <a:srgbClr val="E8EDF7"/>
                          </a:solidFill>
                          <a:latin typeface="Segoe UI"/>
                        </a:defRPr>
                      </a:pPr>
                      <a:r>
                        <a:t>prefix sharing = valid</a:t>
                      </a:r>
                    </a:p>
                  </a:txBody>
                  <a:tcPr marL="64008" marR="64008" marT="27432" marB="27432" anchor="ctr">
                    <a:solidFill>
                      <a:srgbClr val="151D2E"/>
                    </a:solidFill>
                  </a:tcPr>
                </a:tc>
                <a:tc>
                  <a:txBody>
                    <a:bodyPr/>
                    <a:lstStyle/>
                    <a:p>
                      <a:pPr algn="ctr">
                        <a:defRPr sz="1300" b="0">
                          <a:solidFill>
                            <a:srgbClr val="E8EDF7"/>
                          </a:solidFill>
                          <a:latin typeface="Segoe UI"/>
                        </a:defRPr>
                      </a:pPr>
                      <a:r>
                        <a:t>12,693</a:t>
                      </a:r>
                    </a:p>
                  </a:txBody>
                  <a:tcPr marL="64008" marR="64008" marT="27432" marB="27432" anchor="ctr">
                    <a:solidFill>
                      <a:srgbClr val="151D2E"/>
                    </a:solidFill>
                  </a:tcPr>
                </a:tc>
                <a:tc>
                  <a:txBody>
                    <a:bodyPr/>
                    <a:lstStyle/>
                    <a:p>
                      <a:pPr algn="ctr">
                        <a:defRPr sz="1300" b="0">
                          <a:solidFill>
                            <a:srgbClr val="E8EDF7"/>
                          </a:solidFill>
                          <a:latin typeface="Segoe UI"/>
                        </a:defRPr>
                      </a:pPr>
                      <a:r>
                        <a:t>97 %</a:t>
                      </a:r>
                    </a:p>
                  </a:txBody>
                  <a:tcPr marL="64008" marR="64008" marT="27432" marB="27432" anchor="ctr">
                    <a:solidFill>
                      <a:srgbClr val="151D2E"/>
                    </a:solidFill>
                  </a:tcPr>
                </a:tc>
                <a:tc>
                  <a:txBody>
                    <a:bodyPr/>
                    <a:lstStyle/>
                    <a:p>
                      <a:pPr algn="ctr">
                        <a:defRPr sz="1300" b="0">
                          <a:solidFill>
                            <a:srgbClr val="E8EDF7"/>
                          </a:solidFill>
                          <a:latin typeface="Segoe UI"/>
                        </a:defRPr>
                      </a:pPr>
                      <a:r>
                        <a:t>13 %</a:t>
                      </a:r>
                    </a:p>
                  </a:txBody>
                  <a:tcPr marL="64008" marR="64008" marT="27432" marB="27432" anchor="ctr">
                    <a:solidFill>
                      <a:srgbClr val="151D2E"/>
                    </a:solidFill>
                  </a:tcPr>
                </a:tc>
              </a:tr>
              <a:tr h="438912">
                <a:tc>
                  <a:txBody>
                    <a:bodyPr/>
                    <a:lstStyle/>
                    <a:p>
                      <a:pPr algn="l">
                        <a:defRPr sz="1300" b="0">
                          <a:solidFill>
                            <a:srgbClr val="E8EDF7"/>
                          </a:solidFill>
                          <a:latin typeface="Segoe UI"/>
                        </a:defRPr>
                      </a:pPr>
                      <a:r>
                        <a:t>prefix sharing = naive ✗</a:t>
                      </a:r>
                    </a:p>
                  </a:txBody>
                  <a:tcPr marL="64008" marR="64008" marT="27432" marB="27432" anchor="ctr">
                    <a:solidFill>
                      <a:srgbClr val="1A263C"/>
                    </a:solidFill>
                  </a:tcPr>
                </a:tc>
                <a:tc>
                  <a:txBody>
                    <a:bodyPr/>
                    <a:lstStyle/>
                    <a:p>
                      <a:pPr algn="ctr">
                        <a:defRPr sz="1300" b="0">
                          <a:solidFill>
                            <a:srgbClr val="E8EDF7"/>
                          </a:solidFill>
                          <a:latin typeface="Segoe UI"/>
                        </a:defRPr>
                      </a:pPr>
                      <a:r>
                        <a:t>5,355</a:t>
                      </a:r>
                    </a:p>
                  </a:txBody>
                  <a:tcPr marL="64008" marR="64008" marT="27432" marB="27432" anchor="ctr">
                    <a:solidFill>
                      <a:srgbClr val="1A263C"/>
                    </a:solidFill>
                  </a:tcPr>
                </a:tc>
                <a:tc>
                  <a:txBody>
                    <a:bodyPr/>
                    <a:lstStyle/>
                    <a:p>
                      <a:pPr algn="ctr">
                        <a:defRPr sz="1300" b="0">
                          <a:solidFill>
                            <a:srgbClr val="E8EDF7"/>
                          </a:solidFill>
                          <a:latin typeface="Segoe UI"/>
                        </a:defRPr>
                      </a:pPr>
                      <a:r>
                        <a:t>47 %</a:t>
                      </a:r>
                    </a:p>
                  </a:txBody>
                  <a:tcPr marL="64008" marR="64008" marT="27432" marB="27432" anchor="ctr">
                    <a:solidFill>
                      <a:srgbClr val="1A263C"/>
                    </a:solidFill>
                  </a:tcPr>
                </a:tc>
                <a:tc>
                  <a:txBody>
                    <a:bodyPr/>
                    <a:lstStyle/>
                    <a:p>
                      <a:pPr algn="ctr">
                        <a:defRPr sz="1300" b="0">
                          <a:solidFill>
                            <a:srgbClr val="E8EDF7"/>
                          </a:solidFill>
                          <a:latin typeface="Segoe UI"/>
                        </a:defRPr>
                      </a:pPr>
                      <a:r>
                        <a:t>80 %</a:t>
                      </a:r>
                    </a:p>
                  </a:txBody>
                  <a:tcPr marL="64008" marR="64008" marT="27432" marB="27432" anchor="ctr">
                    <a:solidFill>
                      <a:srgbClr val="1A263C"/>
                    </a:solidFill>
                  </a:tcPr>
                </a:tc>
              </a:tr>
              <a:tr h="438912">
                <a:tc>
                  <a:txBody>
                    <a:bodyPr/>
                    <a:lstStyle/>
                    <a:p>
                      <a:pPr algn="l">
                        <a:defRPr sz="1300" b="0">
                          <a:solidFill>
                            <a:srgbClr val="E8EDF7"/>
                          </a:solidFill>
                          <a:latin typeface="Segoe UI"/>
                        </a:defRPr>
                      </a:pPr>
                      <a:r>
                        <a:t>candidates = decision states only</a:t>
                      </a:r>
                    </a:p>
                  </a:txBody>
                  <a:tcPr marL="64008" marR="64008" marT="27432" marB="27432" anchor="ctr">
                    <a:solidFill>
                      <a:srgbClr val="151D2E"/>
                    </a:solidFill>
                  </a:tcPr>
                </a:tc>
                <a:tc>
                  <a:txBody>
                    <a:bodyPr/>
                    <a:lstStyle/>
                    <a:p>
                      <a:pPr algn="ctr">
                        <a:defRPr sz="1300" b="0">
                          <a:solidFill>
                            <a:srgbClr val="E8EDF7"/>
                          </a:solidFill>
                          <a:latin typeface="Segoe UI"/>
                        </a:defRPr>
                      </a:pPr>
                      <a:r>
                        <a:t>6,578</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3 %</a:t>
                      </a:r>
                    </a:p>
                  </a:txBody>
                  <a:tcPr marL="64008" marR="64008" marT="27432" marB="27432" anchor="ctr">
                    <a:solidFill>
                      <a:srgbClr val="151D2E"/>
                    </a:solidFill>
                  </a:tcPr>
                </a:tc>
              </a:tr>
              <a:tr h="438912">
                <a:tc>
                  <a:txBody>
                    <a:bodyPr/>
                    <a:lstStyle/>
                    <a:p>
                      <a:pPr algn="l">
                        <a:defRPr sz="1300" b="0">
                          <a:solidFill>
                            <a:srgbClr val="E8EDF7"/>
                          </a:solidFill>
                          <a:latin typeface="Segoe UI"/>
                        </a:defRPr>
                      </a:pPr>
                      <a:r>
                        <a:t>ε = 0.02</a:t>
                      </a:r>
                    </a:p>
                  </a:txBody>
                  <a:tcPr marL="64008" marR="64008" marT="27432" marB="27432" anchor="ctr">
                    <a:solidFill>
                      <a:srgbClr val="151D2E"/>
                    </a:solidFill>
                  </a:tcPr>
                </a:tc>
                <a:tc>
                  <a:txBody>
                    <a:bodyPr/>
                    <a:lstStyle/>
                    <a:p>
                      <a:pPr algn="ctr">
                        <a:defRPr sz="1300" b="0">
                          <a:solidFill>
                            <a:srgbClr val="E8EDF7"/>
                          </a:solidFill>
                          <a:latin typeface="Segoe UI"/>
                        </a:defRPr>
                      </a:pPr>
                      <a:r>
                        <a:t>14,222</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3 %</a:t>
                      </a:r>
                    </a:p>
                  </a:txBody>
                  <a:tcPr marL="64008" marR="64008" marT="27432" marB="27432" anchor="ctr">
                    <a:solidFill>
                      <a:srgbClr val="151D2E"/>
                    </a:solidFill>
                  </a:tcPr>
                </a:tc>
              </a:tr>
              <a:tr h="438912">
                <a:tc>
                  <a:txBody>
                    <a:bodyPr/>
                    <a:lstStyle/>
                    <a:p>
                      <a:pPr algn="l">
                        <a:defRPr sz="1300" b="0">
                          <a:solidFill>
                            <a:srgbClr val="E8EDF7"/>
                          </a:solidFill>
                          <a:latin typeface="Segoe UI"/>
                        </a:defRPr>
                      </a:pPr>
                      <a:r>
                        <a:t>ε = 0.05</a:t>
                      </a:r>
                    </a:p>
                  </a:txBody>
                  <a:tcPr marL="64008" marR="64008" marT="27432" marB="27432" anchor="ctr">
                    <a:solidFill>
                      <a:srgbClr val="151D2E"/>
                    </a:solidFill>
                  </a:tcPr>
                </a:tc>
                <a:tc>
                  <a:txBody>
                    <a:bodyPr/>
                    <a:lstStyle/>
                    <a:p>
                      <a:pPr algn="ctr">
                        <a:defRPr sz="1300" b="0">
                          <a:solidFill>
                            <a:srgbClr val="E8EDF7"/>
                          </a:solidFill>
                          <a:latin typeface="Segoe UI"/>
                        </a:defRPr>
                      </a:pPr>
                      <a:r>
                        <a:t>7,203</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c>
                  <a:txBody>
                    <a:bodyPr/>
                    <a:lstStyle/>
                    <a:p>
                      <a:pPr algn="ctr">
                        <a:defRPr sz="1300" b="0">
                          <a:solidFill>
                            <a:srgbClr val="E8EDF7"/>
                          </a:solidFill>
                          <a:latin typeface="Segoe UI"/>
                        </a:defRPr>
                      </a:pPr>
                      <a:r>
                        <a:t>0 %</a:t>
                      </a:r>
                    </a:p>
                  </a:txBody>
                  <a:tcPr marL="64008" marR="64008" marT="27432" marB="27432" anchor="ctr">
                    <a:solidFill>
                      <a:srgbClr val="151D2E"/>
                    </a:solidFill>
                  </a:tcPr>
                </a:tc>
              </a:tr>
            </a:tbl>
          </a:graphicData>
        </a:graphic>
      </p:graphicFrame>
      <p:sp>
        <p:nvSpPr>
          <p:cNvPr id="10" name="Rounded Rectangle 9"/>
          <p:cNvSpPr/>
          <p:nvPr/>
        </p:nvSpPr>
        <p:spPr>
          <a:xfrm>
            <a:off x="8138160" y="1508760"/>
            <a:ext cx="3566160" cy="40233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0" y="1645920"/>
            <a:ext cx="3200400" cy="365760"/>
          </a:xfrm>
          <a:prstGeom prst="rect">
            <a:avLst/>
          </a:prstGeom>
          <a:noFill/>
        </p:spPr>
        <p:txBody>
          <a:bodyPr wrap="square" lIns="36576" rIns="36576">
            <a:spAutoFit/>
          </a:bodyPr>
          <a:lstStyle/>
          <a:p>
            <a:pPr>
              <a:spcAft>
                <a:spcPts val="600"/>
              </a:spcAft>
              <a:defRPr sz="1500" b="1">
                <a:solidFill>
                  <a:srgbClr val="2DD4E0"/>
                </a:solidFill>
                <a:latin typeface="Segoe UI Semibold"/>
              </a:defRPr>
            </a:pPr>
            <a:r>
              <a:t>Reading it</a:t>
            </a:r>
          </a:p>
        </p:txBody>
      </p:sp>
      <p:sp>
        <p:nvSpPr>
          <p:cNvPr id="12" name="TextBox 11"/>
          <p:cNvSpPr txBox="1"/>
          <p:nvPr/>
        </p:nvSpPr>
        <p:spPr>
          <a:xfrm>
            <a:off x="8321040" y="2103120"/>
            <a:ext cx="3200400" cy="3383280"/>
          </a:xfrm>
          <a:prstGeom prst="rect">
            <a:avLst/>
          </a:prstGeom>
          <a:noFill/>
        </p:spPr>
        <p:txBody>
          <a:bodyPr wrap="square" lIns="36576" rIns="36576">
            <a:spAutoFit/>
          </a:bodyPr>
          <a:lstStyle/>
          <a:p>
            <a:pPr>
              <a:spcAft>
                <a:spcPts val="600"/>
              </a:spcAft>
              <a:defRPr sz="1300" b="0">
                <a:solidFill>
                  <a:srgbClr val="E8EDF7"/>
                </a:solidFill>
                <a:latin typeface="Segoe UI"/>
              </a:defRPr>
            </a:pPr>
            <a:r>
              <a:t>•  Baseline (LUCB, stack-KL, all steps, ε = 0): 18,448 rollouts</a:t>
            </a:r>
          </a:p>
          <a:p>
            <a:pPr>
              <a:spcAft>
                <a:spcPts val="600"/>
              </a:spcAft>
              <a:defRPr sz="1300" b="0">
                <a:solidFill>
                  <a:srgbClr val="E8EDF7"/>
                </a:solidFill>
                <a:latin typeface="Segoe UI"/>
              </a:defRPr>
            </a:pPr>
            <a:r>
              <a:t>•  Naive sharing is fast because it is wrong</a:t>
            </a:r>
          </a:p>
          <a:p>
            <a:pPr>
              <a:spcAft>
                <a:spcPts val="600"/>
              </a:spcAft>
              <a:defRPr sz="1300" b="0">
                <a:solidFill>
                  <a:srgbClr val="E8EDF7"/>
                </a:solidFill>
                <a:latin typeface="Segoe UI"/>
              </a:defRPr>
            </a:pPr>
            <a:r>
              <a:t>•  ε &gt; 0 trades exactness for cost; the guarantee becomes “within ε”</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Larger automata and violated assumptions</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23</a:t>
            </a:r>
          </a:p>
        </p:txBody>
      </p:sp>
      <p:graphicFrame>
        <p:nvGraphicFramePr>
          <p:cNvPr id="9" name="Chart 8"/>
          <p:cNvGraphicFramePr>
            <a:graphicFrameLocks noGrp="1"/>
          </p:cNvGraphicFramePr>
          <p:nvPr/>
        </p:nvGraphicFramePr>
        <p:xfrm>
          <a:off x="457200" y="1371600"/>
          <a:ext cx="5852160" cy="4206240"/>
        </p:xfrm>
        <a:graphic>
          <a:graphicData uri="http://schemas.openxmlformats.org/drawingml/2006/chart">
            <c:chart xmlns:c="http://schemas.openxmlformats.org/drawingml/2006/chart" r:id="rId3"/>
          </a:graphicData>
        </a:graphic>
      </p:graphicFrame>
      <p:graphicFrame>
        <p:nvGraphicFramePr>
          <p:cNvPr id="10" name="Table 9"/>
          <p:cNvGraphicFramePr>
            <a:graphicFrameLocks noGrp="1"/>
          </p:cNvGraphicFramePr>
          <p:nvPr/>
        </p:nvGraphicFramePr>
        <p:xfrm>
          <a:off x="6583680" y="1554480"/>
          <a:ext cx="5120640" cy="2286000"/>
        </p:xfrm>
        <a:graphic>
          <a:graphicData uri="http://schemas.openxmlformats.org/drawingml/2006/table">
            <a:tbl>
              <a:tblPr firstRow="0" bandRow="0">
                <a:tableStyleId>{5C22544A-7EE6-4342-B048-85BDC9FD1C3A}</a:tableStyleId>
              </a:tblPr>
              <a:tblGrid>
                <a:gridCol w="1737360"/>
                <a:gridCol w="1371600"/>
                <a:gridCol w="1005840"/>
                <a:gridCol w="1005840"/>
              </a:tblGrid>
              <a:tr h="457200">
                <a:tc>
                  <a:txBody>
                    <a:bodyPr/>
                    <a:lstStyle/>
                    <a:p>
                      <a:pPr algn="l">
                        <a:defRPr sz="1300" b="1">
                          <a:solidFill>
                            <a:srgbClr val="2DD4E0"/>
                          </a:solidFill>
                          <a:latin typeface="Segoe UI"/>
                        </a:defRPr>
                      </a:pPr>
                      <a:r>
                        <a:t>reconstruction noise</a:t>
                      </a:r>
                    </a:p>
                  </a:txBody>
                  <a:tcPr marL="64008" marR="64008" marT="27432" marB="27432" anchor="ctr">
                    <a:solidFill>
                      <a:srgbClr val="1E2A42"/>
                    </a:solidFill>
                  </a:tcPr>
                </a:tc>
                <a:tc>
                  <a:txBody>
                    <a:bodyPr/>
                    <a:lstStyle/>
                    <a:p>
                      <a:pPr algn="ctr">
                        <a:defRPr sz="1300" b="1">
                          <a:solidFill>
                            <a:srgbClr val="2DD4E0"/>
                          </a:solidFill>
                          <a:latin typeface="Segoe UI"/>
                        </a:defRPr>
                      </a:pPr>
                      <a:r>
                        <a:t>mean rollouts</a:t>
                      </a:r>
                    </a:p>
                  </a:txBody>
                  <a:tcPr marL="64008" marR="64008" marT="27432" marB="27432" anchor="ctr">
                    <a:solidFill>
                      <a:srgbClr val="1E2A42"/>
                    </a:solidFill>
                  </a:tcPr>
                </a:tc>
                <a:tc>
                  <a:txBody>
                    <a:bodyPr/>
                    <a:lstStyle/>
                    <a:p>
                      <a:pPr algn="ctr">
                        <a:defRPr sz="1300" b="1">
                          <a:solidFill>
                            <a:srgbClr val="2DD4E0"/>
                          </a:solidFill>
                          <a:latin typeface="Segoe UI"/>
                        </a:defRPr>
                      </a:pPr>
                      <a:r>
                        <a:t>abstained</a:t>
                      </a:r>
                    </a:p>
                  </a:txBody>
                  <a:tcPr marL="64008" marR="64008" marT="27432" marB="27432" anchor="ctr">
                    <a:solidFill>
                      <a:srgbClr val="1E2A42"/>
                    </a:solidFill>
                  </a:tcPr>
                </a:tc>
                <a:tc>
                  <a:txBody>
                    <a:bodyPr/>
                    <a:lstStyle/>
                    <a:p>
                      <a:pPr algn="ctr">
                        <a:defRPr sz="1300" b="1">
                          <a:solidFill>
                            <a:srgbClr val="2DD4E0"/>
                          </a:solidFill>
                          <a:latin typeface="Segoe UI"/>
                        </a:defRPr>
                      </a:pPr>
                      <a:r>
                        <a:t>accuracy*</a:t>
                      </a:r>
                    </a:p>
                  </a:txBody>
                  <a:tcPr marL="64008" marR="64008" marT="27432" marB="27432" anchor="ctr">
                    <a:solidFill>
                      <a:srgbClr val="1E2A42"/>
                    </a:solidFill>
                  </a:tcPr>
                </a:tc>
              </a:tr>
              <a:tr h="457200">
                <a:tc>
                  <a:txBody>
                    <a:bodyPr/>
                    <a:lstStyle/>
                    <a:p>
                      <a:pPr algn="l">
                        <a:defRPr sz="1300" b="0">
                          <a:solidFill>
                            <a:srgbClr val="E8EDF7"/>
                          </a:solidFill>
                          <a:latin typeface="Segoe UI"/>
                        </a:defRPr>
                      </a:pPr>
                      <a:r>
                        <a:t>0.00</a:t>
                      </a:r>
                    </a:p>
                  </a:txBody>
                  <a:tcPr marL="64008" marR="64008" marT="27432" marB="27432" anchor="ctr">
                    <a:solidFill>
                      <a:srgbClr val="151D2E"/>
                    </a:solidFill>
                  </a:tcPr>
                </a:tc>
                <a:tc>
                  <a:txBody>
                    <a:bodyPr/>
                    <a:lstStyle/>
                    <a:p>
                      <a:pPr algn="ctr">
                        <a:defRPr sz="1300" b="0">
                          <a:solidFill>
                            <a:srgbClr val="E8EDF7"/>
                          </a:solidFill>
                          <a:latin typeface="Segoe UI"/>
                        </a:defRPr>
                      </a:pPr>
                      <a:r>
                        <a:t>11,908</a:t>
                      </a:r>
                    </a:p>
                  </a:txBody>
                  <a:tcPr marL="64008" marR="64008" marT="27432" marB="27432" anchor="ctr">
                    <a:solidFill>
                      <a:srgbClr val="151D2E"/>
                    </a:solidFill>
                  </a:tcPr>
                </a:tc>
                <a:tc>
                  <a:txBody>
                    <a:bodyPr/>
                    <a:lstStyle/>
                    <a:p>
                      <a:pPr algn="ctr">
                        <a:defRPr sz="1300" b="0">
                          <a:solidFill>
                            <a:srgbClr val="E8EDF7"/>
                          </a:solidFill>
                          <a:latin typeface="Segoe UI"/>
                        </a:defRPr>
                      </a:pPr>
                      <a:r>
                        <a:t>3 %</a:t>
                      </a:r>
                    </a:p>
                  </a:txBody>
                  <a:tcPr marL="64008" marR="64008" marT="27432" marB="27432" anchor="ctr">
                    <a:solidFill>
                      <a:srgbClr val="151D2E"/>
                    </a:solidFill>
                  </a:tcPr>
                </a:tc>
                <a:tc>
                  <a:txBody>
                    <a:bodyPr/>
                    <a:lstStyle/>
                    <a:p>
                      <a:pPr algn="ctr">
                        <a:defRPr sz="1300" b="0">
                          <a:solidFill>
                            <a:srgbClr val="E8EDF7"/>
                          </a:solidFill>
                          <a:latin typeface="Segoe UI"/>
                        </a:defRPr>
                      </a:pPr>
                      <a:r>
                        <a:t>97 %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0.10</a:t>
                      </a:r>
                    </a:p>
                  </a:txBody>
                  <a:tcPr marL="64008" marR="64008" marT="27432" marB="27432" anchor="ctr">
                    <a:solidFill>
                      <a:srgbClr val="151D2E"/>
                    </a:solidFill>
                  </a:tcPr>
                </a:tc>
                <a:tc>
                  <a:txBody>
                    <a:bodyPr/>
                    <a:lstStyle/>
                    <a:p>
                      <a:pPr algn="ctr">
                        <a:defRPr sz="1300" b="0">
                          <a:solidFill>
                            <a:srgbClr val="E8EDF7"/>
                          </a:solidFill>
                          <a:latin typeface="Segoe UI"/>
                        </a:defRPr>
                      </a:pPr>
                      <a:r>
                        <a:t>23,514</a:t>
                      </a:r>
                    </a:p>
                  </a:txBody>
                  <a:tcPr marL="64008" marR="64008" marT="27432" marB="27432" anchor="ctr">
                    <a:solidFill>
                      <a:srgbClr val="151D2E"/>
                    </a:solidFill>
                  </a:tcPr>
                </a:tc>
                <a:tc>
                  <a:txBody>
                    <a:bodyPr/>
                    <a:lstStyle/>
                    <a:p>
                      <a:pPr algn="ctr">
                        <a:defRPr sz="1300" b="0">
                          <a:solidFill>
                            <a:srgbClr val="E8EDF7"/>
                          </a:solidFill>
                          <a:latin typeface="Segoe UI"/>
                        </a:defRPr>
                      </a:pPr>
                      <a:r>
                        <a:t>23 %</a:t>
                      </a:r>
                    </a:p>
                  </a:txBody>
                  <a:tcPr marL="64008" marR="64008" marT="27432" marB="27432" anchor="ctr">
                    <a:solidFill>
                      <a:srgbClr val="151D2E"/>
                    </a:solidFill>
                  </a:tcPr>
                </a:tc>
                <a:tc>
                  <a:txBody>
                    <a:bodyPr/>
                    <a:lstStyle/>
                    <a:p>
                      <a:pPr algn="ctr">
                        <a:defRPr sz="1300" b="0">
                          <a:solidFill>
                            <a:srgbClr val="E8EDF7"/>
                          </a:solidFill>
                          <a:latin typeface="Segoe UI"/>
                        </a:defRPr>
                      </a:pPr>
                      <a:r>
                        <a:t>97 %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0.25</a:t>
                      </a:r>
                    </a:p>
                  </a:txBody>
                  <a:tcPr marL="64008" marR="64008" marT="27432" marB="27432" anchor="ctr">
                    <a:solidFill>
                      <a:srgbClr val="151D2E"/>
                    </a:solidFill>
                  </a:tcPr>
                </a:tc>
                <a:tc>
                  <a:txBody>
                    <a:bodyPr/>
                    <a:lstStyle/>
                    <a:p>
                      <a:pPr algn="ctr">
                        <a:defRPr sz="1300" b="0">
                          <a:solidFill>
                            <a:srgbClr val="E8EDF7"/>
                          </a:solidFill>
                          <a:latin typeface="Segoe UI"/>
                        </a:defRPr>
                      </a:pPr>
                      <a:r>
                        <a:t>31,055</a:t>
                      </a:r>
                    </a:p>
                  </a:txBody>
                  <a:tcPr marL="64008" marR="64008" marT="27432" marB="27432" anchor="ctr">
                    <a:solidFill>
                      <a:srgbClr val="151D2E"/>
                    </a:solidFill>
                  </a:tcPr>
                </a:tc>
                <a:tc>
                  <a:txBody>
                    <a:bodyPr/>
                    <a:lstStyle/>
                    <a:p>
                      <a:pPr algn="ctr">
                        <a:defRPr sz="1300" b="0">
                          <a:solidFill>
                            <a:srgbClr val="E8EDF7"/>
                          </a:solidFill>
                          <a:latin typeface="Segoe UI"/>
                        </a:defRPr>
                      </a:pPr>
                      <a:r>
                        <a:t>30 %</a:t>
                      </a:r>
                    </a:p>
                  </a:txBody>
                  <a:tcPr marL="64008" marR="64008" marT="27432" marB="27432" anchor="ctr">
                    <a:solidFill>
                      <a:srgbClr val="151D2E"/>
                    </a:solidFill>
                  </a:tcPr>
                </a:tc>
                <a:tc>
                  <a:txBody>
                    <a:bodyPr/>
                    <a:lstStyle/>
                    <a:p>
                      <a:pPr algn="ctr">
                        <a:defRPr sz="1300" b="0">
                          <a:solidFill>
                            <a:srgbClr val="E8EDF7"/>
                          </a:solidFill>
                          <a:latin typeface="Segoe UI"/>
                        </a:defRPr>
                      </a:pPr>
                      <a:r>
                        <a:t>100 %</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0.50</a:t>
                      </a:r>
                    </a:p>
                  </a:txBody>
                  <a:tcPr marL="64008" marR="64008" marT="27432" marB="27432" anchor="ctr">
                    <a:solidFill>
                      <a:srgbClr val="151D2E"/>
                    </a:solidFill>
                  </a:tcPr>
                </a:tc>
                <a:tc>
                  <a:txBody>
                    <a:bodyPr/>
                    <a:lstStyle/>
                    <a:p>
                      <a:pPr algn="ctr">
                        <a:defRPr sz="1300" b="0">
                          <a:solidFill>
                            <a:srgbClr val="E8EDF7"/>
                          </a:solidFill>
                          <a:latin typeface="Segoe UI"/>
                        </a:defRPr>
                      </a:pPr>
                      <a:r>
                        <a:t>54,780</a:t>
                      </a:r>
                    </a:p>
                  </a:txBody>
                  <a:tcPr marL="64008" marR="64008" marT="27432" marB="27432" anchor="ctr">
                    <a:solidFill>
                      <a:srgbClr val="151D2E"/>
                    </a:solidFill>
                  </a:tcPr>
                </a:tc>
                <a:tc>
                  <a:txBody>
                    <a:bodyPr/>
                    <a:lstStyle/>
                    <a:p>
                      <a:pPr algn="ctr">
                        <a:defRPr sz="1300" b="0">
                          <a:solidFill>
                            <a:srgbClr val="E8EDF7"/>
                          </a:solidFill>
                          <a:latin typeface="Segoe UI"/>
                        </a:defRPr>
                      </a:pPr>
                      <a:r>
                        <a:t>70 %</a:t>
                      </a:r>
                    </a:p>
                  </a:txBody>
                  <a:tcPr marL="64008" marR="64008" marT="27432" marB="27432" anchor="ctr">
                    <a:solidFill>
                      <a:srgbClr val="151D2E"/>
                    </a:solidFill>
                  </a:tcPr>
                </a:tc>
                <a:tc>
                  <a:txBody>
                    <a:bodyPr/>
                    <a:lstStyle/>
                    <a:p>
                      <a:pPr algn="ctr">
                        <a:defRPr sz="1300" b="0">
                          <a:solidFill>
                            <a:srgbClr val="E8EDF7"/>
                          </a:solidFill>
                          <a:latin typeface="Segoe UI"/>
                        </a:defRPr>
                      </a:pPr>
                      <a:r>
                        <a:t>80 %</a:t>
                      </a:r>
                    </a:p>
                  </a:txBody>
                  <a:tcPr marL="64008" marR="64008" marT="27432" marB="27432" anchor="ctr">
                    <a:solidFill>
                      <a:srgbClr val="151D2E"/>
                    </a:solidFill>
                  </a:tcPr>
                </a:tc>
              </a:tr>
            </a:tbl>
          </a:graphicData>
        </a:graphic>
      </p:graphicFrame>
      <p:sp>
        <p:nvSpPr>
          <p:cNvPr id="11" name="TextBox 10"/>
          <p:cNvSpPr txBox="1"/>
          <p:nvPr/>
        </p:nvSpPr>
        <p:spPr>
          <a:xfrm>
            <a:off x="6583680" y="4114800"/>
            <a:ext cx="5120640" cy="457200"/>
          </a:xfrm>
          <a:prstGeom prst="rect">
            <a:avLst/>
          </a:prstGeom>
          <a:noFill/>
        </p:spPr>
        <p:txBody>
          <a:bodyPr wrap="square" lIns="36576" rIns="36576">
            <a:spAutoFit/>
          </a:bodyPr>
          <a:lstStyle/>
          <a:p>
            <a:pPr>
              <a:spcAft>
                <a:spcPts val="600"/>
              </a:spcAft>
              <a:defRPr sz="1100" b="0">
                <a:solidFill>
                  <a:srgbClr val="96A3BE"/>
                </a:solidFill>
                <a:latin typeface="Segoe UI"/>
              </a:defRPr>
            </a:pPr>
            <a:r>
              <a:t>*accuracy against the argmax of the noisy replay context (the estimand actually sampled). Censored at the budget cap.</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Negative controls and failure modes</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24</a:t>
            </a:r>
          </a:p>
        </p:txBody>
      </p:sp>
      <p:pic>
        <p:nvPicPr>
          <p:cNvPr id="9" name="Picture 8" descr="fig18_error_analysis.png"/>
          <p:cNvPicPr>
            <a:picLocks noChangeAspect="1"/>
          </p:cNvPicPr>
          <p:nvPr/>
        </p:nvPicPr>
        <p:blipFill>
          <a:blip r:embed="rId3"/>
          <a:stretch>
            <a:fillRect/>
          </a:stretch>
        </p:blipFill>
        <p:spPr>
          <a:xfrm>
            <a:off x="457200" y="2329767"/>
            <a:ext cx="6766560" cy="3021424"/>
          </a:xfrm>
          <a:prstGeom prst="rect">
            <a:avLst/>
          </a:prstGeom>
        </p:spPr>
      </p:pic>
      <p:sp>
        <p:nvSpPr>
          <p:cNvPr id="10" name="Rounded Rectangle 9"/>
          <p:cNvSpPr/>
          <p:nvPr/>
        </p:nvSpPr>
        <p:spPr>
          <a:xfrm>
            <a:off x="7452360" y="1463040"/>
            <a:ext cx="425196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35240" y="1600200"/>
            <a:ext cx="3931920" cy="365760"/>
          </a:xfrm>
          <a:prstGeom prst="rect">
            <a:avLst/>
          </a:prstGeom>
          <a:noFill/>
        </p:spPr>
        <p:txBody>
          <a:bodyPr wrap="square" lIns="36576" rIns="36576">
            <a:spAutoFit/>
          </a:bodyPr>
          <a:lstStyle/>
          <a:p>
            <a:pPr>
              <a:spcAft>
                <a:spcPts val="600"/>
              </a:spcAft>
              <a:defRPr sz="1500" b="1">
                <a:solidFill>
                  <a:srgbClr val="2DD4E0"/>
                </a:solidFill>
                <a:latin typeface="Segoe UI Semibold"/>
              </a:defRPr>
            </a:pPr>
            <a:r>
              <a:t>What to take from it</a:t>
            </a:r>
          </a:p>
        </p:txBody>
      </p:sp>
      <p:sp>
        <p:nvSpPr>
          <p:cNvPr id="12" name="TextBox 11"/>
          <p:cNvSpPr txBox="1"/>
          <p:nvPr/>
        </p:nvSpPr>
        <p:spPr>
          <a:xfrm>
            <a:off x="7635240" y="2057400"/>
            <a:ext cx="3931920" cy="4114800"/>
          </a:xfrm>
          <a:prstGeom prst="rect">
            <a:avLst/>
          </a:prstGeom>
          <a:noFill/>
        </p:spPr>
        <p:txBody>
          <a:bodyPr wrap="square" lIns="36576" rIns="36576">
            <a:spAutoFit/>
          </a:bodyPr>
          <a:lstStyle/>
          <a:p>
            <a:pPr>
              <a:spcAft>
                <a:spcPts val="600"/>
              </a:spcAft>
              <a:defRPr sz="1300" b="0">
                <a:solidFill>
                  <a:srgbClr val="E8EDF7"/>
                </a:solidFill>
                <a:latin typeface="Segoe UI"/>
              </a:defRPr>
            </a:pPr>
            <a:r>
              <a:t>•  Naive sharing: 47 % accuracy, 87 % abstained — invalid by construction</a:t>
            </a:r>
          </a:p>
          <a:p>
            <a:pPr>
              <a:spcAft>
                <a:spcPts val="600"/>
              </a:spcAft>
              <a:defRPr sz="1300" b="0">
                <a:solidFill>
                  <a:srgbClr val="E8EDF7"/>
                </a:solidFill>
                <a:latin typeface="Segoe UI"/>
              </a:defRPr>
            </a:pPr>
            <a:r>
              <a:t>•  CAR-style fixed K: 0 % vs the argmax target — a different estimand (see notes)</a:t>
            </a:r>
          </a:p>
          <a:p>
            <a:pPr>
              <a:spcAft>
                <a:spcPts val="600"/>
              </a:spcAft>
              <a:defRPr sz="1300" b="0">
                <a:solidFill>
                  <a:srgbClr val="E8EDF7"/>
                </a:solidFill>
                <a:latin typeface="Segoe UI"/>
              </a:defRPr>
            </a:pPr>
            <a:r>
              <a:t>•  Uniform/random abstain most often at the cap</a:t>
            </a:r>
          </a:p>
          <a:p>
            <a:pPr>
              <a:spcAft>
                <a:spcPts val="600"/>
              </a:spcAft>
              <a:defRPr sz="1300" b="0">
                <a:solidFill>
                  <a:srgbClr val="E8EDF7"/>
                </a:solidFill>
                <a:latin typeface="Segoe UI"/>
              </a:defRPr>
            </a:pPr>
            <a:r>
              <a:t>•  Never certified a wrong answer in guaranteed runs (see consistency test)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RESULTS</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Stage B tool agent and alternative targets</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Rounded Rectangle 5"/>
          <p:cNvSpPr/>
          <p:nvPr/>
        </p:nvSpPr>
        <p:spPr>
          <a:xfrm>
            <a:off x="951433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25</a:t>
            </a:r>
          </a:p>
        </p:txBody>
      </p:sp>
      <p:graphicFrame>
        <p:nvGraphicFramePr>
          <p:cNvPr id="9" name="Table 8"/>
          <p:cNvGraphicFramePr>
            <a:graphicFrameLocks noGrp="1"/>
          </p:cNvGraphicFramePr>
          <p:nvPr/>
        </p:nvGraphicFramePr>
        <p:xfrm>
          <a:off x="548640" y="1508760"/>
          <a:ext cx="5943600" cy="3072384"/>
        </p:xfrm>
        <a:graphic>
          <a:graphicData uri="http://schemas.openxmlformats.org/drawingml/2006/table">
            <a:tbl>
              <a:tblPr firstRow="0" bandRow="0">
                <a:tableStyleId>{5C22544A-7EE6-4342-B048-85BDC9FD1C3A}</a:tableStyleId>
              </a:tblPr>
              <a:tblGrid>
                <a:gridCol w="1645920"/>
                <a:gridCol w="1188720"/>
                <a:gridCol w="1097280"/>
                <a:gridCol w="914400"/>
                <a:gridCol w="1097280"/>
              </a:tblGrid>
              <a:tr h="384048">
                <a:tc>
                  <a:txBody>
                    <a:bodyPr/>
                    <a:lstStyle/>
                    <a:p>
                      <a:pPr algn="l">
                        <a:defRPr sz="1100" b="1">
                          <a:solidFill>
                            <a:srgbClr val="2DD4E0"/>
                          </a:solidFill>
                          <a:latin typeface="Segoe UI"/>
                        </a:defRPr>
                      </a:pPr>
                      <a:r>
                        <a:t>Stage B variant</a:t>
                      </a:r>
                    </a:p>
                  </a:txBody>
                  <a:tcPr marL="64008" marR="64008" marT="27432" marB="27432" anchor="ctr">
                    <a:solidFill>
                      <a:srgbClr val="1E2A42"/>
                    </a:solidFill>
                  </a:tcPr>
                </a:tc>
                <a:tc>
                  <a:txBody>
                    <a:bodyPr/>
                    <a:lstStyle/>
                    <a:p>
                      <a:pPr algn="ctr">
                        <a:defRPr sz="1100" b="1">
                          <a:solidFill>
                            <a:srgbClr val="2DD4E0"/>
                          </a:solidFill>
                          <a:latin typeface="Segoe UI"/>
                        </a:defRPr>
                      </a:pPr>
                      <a:r>
                        <a:t>method</a:t>
                      </a:r>
                    </a:p>
                  </a:txBody>
                  <a:tcPr marL="64008" marR="64008" marT="27432" marB="27432" anchor="ctr">
                    <a:solidFill>
                      <a:srgbClr val="1E2A42"/>
                    </a:solidFill>
                  </a:tcPr>
                </a:tc>
                <a:tc>
                  <a:txBody>
                    <a:bodyPr/>
                    <a:lstStyle/>
                    <a:p>
                      <a:pPr algn="ctr">
                        <a:defRPr sz="1100" b="1">
                          <a:solidFill>
                            <a:srgbClr val="2DD4E0"/>
                          </a:solidFill>
                          <a:latin typeface="Segoe UI"/>
                        </a:defRPr>
                      </a:pPr>
                      <a:r>
                        <a:t>mean rollouts</a:t>
                      </a:r>
                    </a:p>
                  </a:txBody>
                  <a:tcPr marL="64008" marR="64008" marT="27432" marB="27432" anchor="ctr">
                    <a:solidFill>
                      <a:srgbClr val="1E2A42"/>
                    </a:solidFill>
                  </a:tcPr>
                </a:tc>
                <a:tc>
                  <a:txBody>
                    <a:bodyPr/>
                    <a:lstStyle/>
                    <a:p>
                      <a:pPr algn="ctr">
                        <a:defRPr sz="1100" b="1">
                          <a:solidFill>
                            <a:srgbClr val="2DD4E0"/>
                          </a:solidFill>
                          <a:latin typeface="Segoe UI"/>
                        </a:defRPr>
                      </a:pPr>
                      <a:r>
                        <a:t>accuracy</a:t>
                      </a:r>
                    </a:p>
                  </a:txBody>
                  <a:tcPr marL="64008" marR="64008" marT="27432" marB="27432" anchor="ctr">
                    <a:solidFill>
                      <a:srgbClr val="1E2A42"/>
                    </a:solidFill>
                  </a:tcPr>
                </a:tc>
                <a:tc>
                  <a:txBody>
                    <a:bodyPr/>
                    <a:lstStyle/>
                    <a:p>
                      <a:pPr algn="ctr">
                        <a:defRPr sz="1100" b="1">
                          <a:solidFill>
                            <a:srgbClr val="2DD4E0"/>
                          </a:solidFill>
                          <a:latin typeface="Segoe UI"/>
                        </a:defRPr>
                      </a:pPr>
                      <a:r>
                        <a:t>abstained</a:t>
                      </a:r>
                    </a:p>
                  </a:txBody>
                  <a:tcPr marL="64008" marR="64008" marT="27432" marB="27432" anchor="ctr">
                    <a:solidFill>
                      <a:srgbClr val="1E2A42"/>
                    </a:solidFill>
                  </a:tcPr>
                </a:tc>
              </a:tr>
              <a:tr h="384048">
                <a:tc>
                  <a:txBody>
                    <a:bodyPr/>
                    <a:lstStyle/>
                    <a:p>
                      <a:pPr algn="l">
                        <a:defRPr sz="1100" b="0">
                          <a:solidFill>
                            <a:srgbClr val="E8EDF7"/>
                          </a:solidFill>
                          <a:latin typeface="Segoe UI"/>
                        </a:defRPr>
                      </a:pPr>
                      <a:r>
                        <a:t>stochastic</a:t>
                      </a:r>
                    </a:p>
                  </a:txBody>
                  <a:tcPr marL="64008" marR="64008" marT="27432" marB="27432" anchor="ctr">
                    <a:solidFill>
                      <a:srgbClr val="151D2E"/>
                    </a:solidFill>
                  </a:tcPr>
                </a:tc>
                <a:tc>
                  <a:txBody>
                    <a:bodyPr/>
                    <a:lstStyle/>
                    <a:p>
                      <a:pPr algn="ctr">
                        <a:defRPr sz="1100" b="0">
                          <a:solidFill>
                            <a:srgbClr val="E8EDF7"/>
                          </a:solidFill>
                          <a:latin typeface="Segoe UI"/>
                        </a:defRPr>
                      </a:pPr>
                      <a:r>
                        <a:t>LUCB</a:t>
                      </a:r>
                    </a:p>
                  </a:txBody>
                  <a:tcPr marL="64008" marR="64008" marT="27432" marB="27432" anchor="ctr">
                    <a:solidFill>
                      <a:srgbClr val="151D2E"/>
                    </a:solidFill>
                  </a:tcPr>
                </a:tc>
                <a:tc>
                  <a:txBody>
                    <a:bodyPr/>
                    <a:lstStyle/>
                    <a:p>
                      <a:pPr algn="ctr">
                        <a:defRPr sz="1100" b="0">
                          <a:solidFill>
                            <a:srgbClr val="E8EDF7"/>
                          </a:solidFill>
                          <a:latin typeface="Segoe UI"/>
                        </a:defRPr>
                      </a:pPr>
                      <a:r>
                        <a:t>6,623</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17 %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stochastic</a:t>
                      </a:r>
                    </a:p>
                  </a:txBody>
                  <a:tcPr marL="64008" marR="64008" marT="27432" marB="27432" anchor="ctr">
                    <a:solidFill>
                      <a:srgbClr val="151D2E"/>
                    </a:solidFill>
                  </a:tcPr>
                </a:tc>
                <a:tc>
                  <a:txBody>
                    <a:bodyPr/>
                    <a:lstStyle/>
                    <a:p>
                      <a:pPr algn="ctr">
                        <a:defRPr sz="1100" b="0">
                          <a:solidFill>
                            <a:srgbClr val="E8EDF7"/>
                          </a:solidFill>
                          <a:latin typeface="Segoe UI"/>
                        </a:defRPr>
                      </a:pPr>
                      <a:r>
                        <a:t>LUCB + prefix</a:t>
                      </a:r>
                    </a:p>
                  </a:txBody>
                  <a:tcPr marL="64008" marR="64008" marT="27432" marB="27432" anchor="ctr">
                    <a:solidFill>
                      <a:srgbClr val="151D2E"/>
                    </a:solidFill>
                  </a:tcPr>
                </a:tc>
                <a:tc>
                  <a:txBody>
                    <a:bodyPr/>
                    <a:lstStyle/>
                    <a:p>
                      <a:pPr algn="ctr">
                        <a:defRPr sz="1100" b="0">
                          <a:solidFill>
                            <a:srgbClr val="E8EDF7"/>
                          </a:solidFill>
                          <a:latin typeface="Segoe UI"/>
                        </a:defRPr>
                      </a:pPr>
                      <a:r>
                        <a:t>5,578</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17 %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stochastic</a:t>
                      </a:r>
                    </a:p>
                  </a:txBody>
                  <a:tcPr marL="64008" marR="64008" marT="27432" marB="27432" anchor="ctr">
                    <a:solidFill>
                      <a:srgbClr val="151D2E"/>
                    </a:solidFill>
                  </a:tcPr>
                </a:tc>
                <a:tc>
                  <a:txBody>
                    <a:bodyPr/>
                    <a:lstStyle/>
                    <a:p>
                      <a:pPr algn="ctr">
                        <a:defRPr sz="1100" b="0">
                          <a:solidFill>
                            <a:srgbClr val="E8EDF7"/>
                          </a:solidFill>
                          <a:latin typeface="Segoe UI"/>
                        </a:defRPr>
                      </a:pPr>
                      <a:r>
                        <a:t>Uniform</a:t>
                      </a:r>
                    </a:p>
                  </a:txBody>
                  <a:tcPr marL="64008" marR="64008" marT="27432" marB="27432" anchor="ctr">
                    <a:solidFill>
                      <a:srgbClr val="151D2E"/>
                    </a:solidFill>
                  </a:tcPr>
                </a:tc>
                <a:tc>
                  <a:txBody>
                    <a:bodyPr/>
                    <a:lstStyle/>
                    <a:p>
                      <a:pPr algn="ctr">
                        <a:defRPr sz="1100" b="0">
                          <a:solidFill>
                            <a:srgbClr val="E8EDF7"/>
                          </a:solidFill>
                          <a:latin typeface="Segoe UI"/>
                        </a:defRPr>
                      </a:pPr>
                      <a:r>
                        <a:t>11,612</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53 %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deterministic_phase0</a:t>
                      </a:r>
                    </a:p>
                  </a:txBody>
                  <a:tcPr marL="64008" marR="64008" marT="27432" marB="27432" anchor="ctr">
                    <a:solidFill>
                      <a:srgbClr val="151D2E"/>
                    </a:solidFill>
                  </a:tcPr>
                </a:tc>
                <a:tc>
                  <a:txBody>
                    <a:bodyPr/>
                    <a:lstStyle/>
                    <a:p>
                      <a:pPr algn="ctr">
                        <a:defRPr sz="1100" b="0">
                          <a:solidFill>
                            <a:srgbClr val="E8EDF7"/>
                          </a:solidFill>
                          <a:latin typeface="Segoe UI"/>
                        </a:defRPr>
                      </a:pPr>
                      <a:r>
                        <a:t>LUCB</a:t>
                      </a:r>
                    </a:p>
                  </a:txBody>
                  <a:tcPr marL="64008" marR="64008" marT="27432" marB="27432" anchor="ctr">
                    <a:solidFill>
                      <a:srgbClr val="151D2E"/>
                    </a:solidFill>
                  </a:tcPr>
                </a:tc>
                <a:tc>
                  <a:txBody>
                    <a:bodyPr/>
                    <a:lstStyle/>
                    <a:p>
                      <a:pPr algn="ctr">
                        <a:defRPr sz="1100" b="0">
                          <a:solidFill>
                            <a:srgbClr val="E8EDF7"/>
                          </a:solidFill>
                          <a:latin typeface="Segoe UI"/>
                        </a:defRPr>
                      </a:pPr>
                      <a:r>
                        <a:t>92</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deterministic_phase0</a:t>
                      </a:r>
                    </a:p>
                  </a:txBody>
                  <a:tcPr marL="64008" marR="64008" marT="27432" marB="27432" anchor="ctr">
                    <a:solidFill>
                      <a:srgbClr val="151D2E"/>
                    </a:solidFill>
                  </a:tcPr>
                </a:tc>
                <a:tc>
                  <a:txBody>
                    <a:bodyPr/>
                    <a:lstStyle/>
                    <a:p>
                      <a:pPr algn="ctr">
                        <a:defRPr sz="1100" b="0">
                          <a:solidFill>
                            <a:srgbClr val="E8EDF7"/>
                          </a:solidFill>
                          <a:latin typeface="Segoe UI"/>
                        </a:defRPr>
                      </a:pPr>
                      <a:r>
                        <a:t>Uniform</a:t>
                      </a:r>
                    </a:p>
                  </a:txBody>
                  <a:tcPr marL="64008" marR="64008" marT="27432" marB="27432" anchor="ctr">
                    <a:solidFill>
                      <a:srgbClr val="151D2E"/>
                    </a:solidFill>
                  </a:tcPr>
                </a:tc>
                <a:tc>
                  <a:txBody>
                    <a:bodyPr/>
                    <a:lstStyle/>
                    <a:p>
                      <a:pPr algn="ctr">
                        <a:defRPr sz="1100" b="0">
                          <a:solidFill>
                            <a:srgbClr val="E8EDF7"/>
                          </a:solidFill>
                          <a:latin typeface="Segoe UI"/>
                        </a:defRPr>
                      </a:pPr>
                      <a:r>
                        <a:t>121</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deterministic_phase4</a:t>
                      </a:r>
                    </a:p>
                  </a:txBody>
                  <a:tcPr marL="64008" marR="64008" marT="27432" marB="27432" anchor="ctr">
                    <a:solidFill>
                      <a:srgbClr val="151D2E"/>
                    </a:solidFill>
                  </a:tcPr>
                </a:tc>
                <a:tc>
                  <a:txBody>
                    <a:bodyPr/>
                    <a:lstStyle/>
                    <a:p>
                      <a:pPr algn="ctr">
                        <a:defRPr sz="1100" b="0">
                          <a:solidFill>
                            <a:srgbClr val="E8EDF7"/>
                          </a:solidFill>
                          <a:latin typeface="Segoe UI"/>
                        </a:defRPr>
                      </a:pPr>
                      <a:r>
                        <a:t>LUCB</a:t>
                      </a:r>
                    </a:p>
                  </a:txBody>
                  <a:tcPr marL="64008" marR="64008" marT="27432" marB="27432" anchor="ctr">
                    <a:solidFill>
                      <a:srgbClr val="151D2E"/>
                    </a:solidFill>
                  </a:tcPr>
                </a:tc>
                <a:tc>
                  <a:txBody>
                    <a:bodyPr/>
                    <a:lstStyle/>
                    <a:p>
                      <a:pPr algn="ctr">
                        <a:defRPr sz="1100" b="0">
                          <a:solidFill>
                            <a:srgbClr val="E8EDF7"/>
                          </a:solidFill>
                          <a:latin typeface="Segoe UI"/>
                        </a:defRPr>
                      </a:pPr>
                      <a:r>
                        <a:t>92</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deterministic_phase4</a:t>
                      </a:r>
                    </a:p>
                  </a:txBody>
                  <a:tcPr marL="64008" marR="64008" marT="27432" marB="27432" anchor="ctr">
                    <a:solidFill>
                      <a:srgbClr val="151D2E"/>
                    </a:solidFill>
                  </a:tcPr>
                </a:tc>
                <a:tc>
                  <a:txBody>
                    <a:bodyPr/>
                    <a:lstStyle/>
                    <a:p>
                      <a:pPr algn="ctr">
                        <a:defRPr sz="1100" b="0">
                          <a:solidFill>
                            <a:srgbClr val="E8EDF7"/>
                          </a:solidFill>
                          <a:latin typeface="Segoe UI"/>
                        </a:defRPr>
                      </a:pPr>
                      <a:r>
                        <a:t>Uniform</a:t>
                      </a:r>
                    </a:p>
                  </a:txBody>
                  <a:tcPr marL="64008" marR="64008" marT="27432" marB="27432" anchor="ctr">
                    <a:solidFill>
                      <a:srgbClr val="151D2E"/>
                    </a:solidFill>
                  </a:tcPr>
                </a:tc>
                <a:tc>
                  <a:txBody>
                    <a:bodyPr/>
                    <a:lstStyle/>
                    <a:p>
                      <a:pPr algn="ctr">
                        <a:defRPr sz="1100" b="0">
                          <a:solidFill>
                            <a:srgbClr val="E8EDF7"/>
                          </a:solidFill>
                          <a:latin typeface="Segoe UI"/>
                        </a:defRPr>
                      </a:pPr>
                      <a:r>
                        <a:t>125</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bl>
          </a:graphicData>
        </a:graphic>
      </p:graphicFrame>
      <p:graphicFrame>
        <p:nvGraphicFramePr>
          <p:cNvPr id="10" name="Table 9"/>
          <p:cNvGraphicFramePr>
            <a:graphicFrameLocks noGrp="1"/>
          </p:cNvGraphicFramePr>
          <p:nvPr/>
        </p:nvGraphicFramePr>
        <p:xfrm>
          <a:off x="6675120" y="1508760"/>
          <a:ext cx="5029200" cy="2304288"/>
        </p:xfrm>
        <a:graphic>
          <a:graphicData uri="http://schemas.openxmlformats.org/drawingml/2006/table">
            <a:tbl>
              <a:tblPr firstRow="0" bandRow="0">
                <a:tableStyleId>{5C22544A-7EE6-4342-B048-85BDC9FD1C3A}</a:tableStyleId>
              </a:tblPr>
              <a:tblGrid>
                <a:gridCol w="1005840"/>
                <a:gridCol w="1280160"/>
                <a:gridCol w="1005840"/>
                <a:gridCol w="731520"/>
                <a:gridCol w="1005840"/>
              </a:tblGrid>
              <a:tr h="384048">
                <a:tc>
                  <a:txBody>
                    <a:bodyPr/>
                    <a:lstStyle/>
                    <a:p>
                      <a:pPr algn="l">
                        <a:defRPr sz="1100" b="1">
                          <a:solidFill>
                            <a:srgbClr val="2DD4E0"/>
                          </a:solidFill>
                          <a:latin typeface="Segoe UI"/>
                        </a:defRPr>
                      </a:pPr>
                      <a:r>
                        <a:t>target</a:t>
                      </a:r>
                    </a:p>
                  </a:txBody>
                  <a:tcPr marL="64008" marR="64008" marT="27432" marB="27432" anchor="ctr">
                    <a:solidFill>
                      <a:srgbClr val="1E2A42"/>
                    </a:solidFill>
                  </a:tcPr>
                </a:tc>
                <a:tc>
                  <a:txBody>
                    <a:bodyPr/>
                    <a:lstStyle/>
                    <a:p>
                      <a:pPr algn="ctr">
                        <a:defRPr sz="1100" b="1">
                          <a:solidFill>
                            <a:srgbClr val="2DD4E0"/>
                          </a:solidFill>
                          <a:latin typeface="Segoe UI"/>
                        </a:defRPr>
                      </a:pPr>
                      <a:r>
                        <a:t>method</a:t>
                      </a:r>
                    </a:p>
                  </a:txBody>
                  <a:tcPr marL="64008" marR="64008" marT="27432" marB="27432" anchor="ctr">
                    <a:solidFill>
                      <a:srgbClr val="1E2A42"/>
                    </a:solidFill>
                  </a:tcPr>
                </a:tc>
                <a:tc>
                  <a:txBody>
                    <a:bodyPr/>
                    <a:lstStyle/>
                    <a:p>
                      <a:pPr algn="ctr">
                        <a:defRPr sz="1100" b="1">
                          <a:solidFill>
                            <a:srgbClr val="2DD4E0"/>
                          </a:solidFill>
                          <a:latin typeface="Segoe UI"/>
                        </a:defRPr>
                      </a:pPr>
                      <a:r>
                        <a:t>mean rollouts</a:t>
                      </a:r>
                    </a:p>
                  </a:txBody>
                  <a:tcPr marL="64008" marR="64008" marT="27432" marB="27432" anchor="ctr">
                    <a:solidFill>
                      <a:srgbClr val="1E2A42"/>
                    </a:solidFill>
                  </a:tcPr>
                </a:tc>
                <a:tc>
                  <a:txBody>
                    <a:bodyPr/>
                    <a:lstStyle/>
                    <a:p>
                      <a:pPr algn="ctr">
                        <a:defRPr sz="1100" b="1">
                          <a:solidFill>
                            <a:srgbClr val="2DD4E0"/>
                          </a:solidFill>
                          <a:latin typeface="Segoe UI"/>
                        </a:defRPr>
                      </a:pPr>
                      <a:r>
                        <a:t>accuracy</a:t>
                      </a:r>
                    </a:p>
                  </a:txBody>
                  <a:tcPr marL="64008" marR="64008" marT="27432" marB="27432" anchor="ctr">
                    <a:solidFill>
                      <a:srgbClr val="1E2A42"/>
                    </a:solidFill>
                  </a:tcPr>
                </a:tc>
                <a:tc>
                  <a:txBody>
                    <a:bodyPr/>
                    <a:lstStyle/>
                    <a:p>
                      <a:pPr algn="ctr">
                        <a:defRPr sz="1100" b="1">
                          <a:solidFill>
                            <a:srgbClr val="2DD4E0"/>
                          </a:solidFill>
                          <a:latin typeface="Segoe UI"/>
                        </a:defRPr>
                      </a:pPr>
                      <a:r>
                        <a:t>abstained</a:t>
                      </a:r>
                    </a:p>
                  </a:txBody>
                  <a:tcPr marL="64008" marR="64008" marT="27432" marB="27432" anchor="ctr">
                    <a:solidFill>
                      <a:srgbClr val="1E2A42"/>
                    </a:solidFill>
                  </a:tcPr>
                </a:tc>
              </a:tr>
              <a:tr h="384048">
                <a:tc>
                  <a:txBody>
                    <a:bodyPr/>
                    <a:lstStyle/>
                    <a:p>
                      <a:pPr algn="l">
                        <a:defRPr sz="1100" b="0">
                          <a:solidFill>
                            <a:srgbClr val="E8EDF7"/>
                          </a:solidFill>
                          <a:latin typeface="Segoe UI"/>
                        </a:defRPr>
                      </a:pPr>
                      <a:r>
                        <a:t>first_above</a:t>
                      </a:r>
                    </a:p>
                  </a:txBody>
                  <a:tcPr marL="64008" marR="64008" marT="27432" marB="27432" anchor="ctr">
                    <a:solidFill>
                      <a:srgbClr val="151D2E"/>
                    </a:solidFill>
                  </a:tcPr>
                </a:tc>
                <a:tc>
                  <a:txBody>
                    <a:bodyPr/>
                    <a:lstStyle/>
                    <a:p>
                      <a:pPr algn="ctr">
                        <a:defRPr sz="1100" b="0">
                          <a:solidFill>
                            <a:srgbClr val="E8EDF7"/>
                          </a:solidFill>
                          <a:latin typeface="Segoe UI"/>
                        </a:defRPr>
                      </a:pPr>
                      <a:r>
                        <a:t>LUCB</a:t>
                      </a:r>
                    </a:p>
                  </a:txBody>
                  <a:tcPr marL="64008" marR="64008" marT="27432" marB="27432" anchor="ctr">
                    <a:solidFill>
                      <a:srgbClr val="151D2E"/>
                    </a:solidFill>
                  </a:tcPr>
                </a:tc>
                <a:tc>
                  <a:txBody>
                    <a:bodyPr/>
                    <a:lstStyle/>
                    <a:p>
                      <a:pPr algn="ctr">
                        <a:defRPr sz="1100" b="0">
                          <a:solidFill>
                            <a:srgbClr val="E8EDF7"/>
                          </a:solidFill>
                          <a:latin typeface="Segoe UI"/>
                        </a:defRPr>
                      </a:pPr>
                      <a:r>
                        <a:t>32,362</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first_above</a:t>
                      </a:r>
                    </a:p>
                  </a:txBody>
                  <a:tcPr marL="64008" marR="64008" marT="27432" marB="27432" anchor="ctr">
                    <a:solidFill>
                      <a:srgbClr val="151D2E"/>
                    </a:solidFill>
                  </a:tcPr>
                </a:tc>
                <a:tc>
                  <a:txBody>
                    <a:bodyPr/>
                    <a:lstStyle/>
                    <a:p>
                      <a:pPr algn="ctr">
                        <a:defRPr sz="1100" b="0">
                          <a:solidFill>
                            <a:srgbClr val="E8EDF7"/>
                          </a:solidFill>
                          <a:latin typeface="Segoe UI"/>
                        </a:defRPr>
                      </a:pPr>
                      <a:r>
                        <a:t>Uniform</a:t>
                      </a:r>
                    </a:p>
                  </a:txBody>
                  <a:tcPr marL="64008" marR="64008" marT="27432" marB="27432" anchor="ctr">
                    <a:solidFill>
                      <a:srgbClr val="151D2E"/>
                    </a:solidFill>
                  </a:tcPr>
                </a:tc>
                <a:tc>
                  <a:txBody>
                    <a:bodyPr/>
                    <a:lstStyle/>
                    <a:p>
                      <a:pPr algn="ctr">
                        <a:defRPr sz="1100" b="0">
                          <a:solidFill>
                            <a:srgbClr val="E8EDF7"/>
                          </a:solidFill>
                          <a:latin typeface="Segoe UI"/>
                        </a:defRPr>
                      </a:pPr>
                      <a:r>
                        <a:t>60,000</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last_above</a:t>
                      </a:r>
                    </a:p>
                  </a:txBody>
                  <a:tcPr marL="64008" marR="64008" marT="27432" marB="27432" anchor="ctr">
                    <a:solidFill>
                      <a:srgbClr val="151D2E"/>
                    </a:solidFill>
                  </a:tcPr>
                </a:tc>
                <a:tc>
                  <a:txBody>
                    <a:bodyPr/>
                    <a:lstStyle/>
                    <a:p>
                      <a:pPr algn="ctr">
                        <a:defRPr sz="1100" b="0">
                          <a:solidFill>
                            <a:srgbClr val="E8EDF7"/>
                          </a:solidFill>
                          <a:latin typeface="Segoe UI"/>
                        </a:defRPr>
                      </a:pPr>
                      <a:r>
                        <a:t>CAR-style fixed K</a:t>
                      </a:r>
                    </a:p>
                  </a:txBody>
                  <a:tcPr marL="64008" marR="64008" marT="27432" marB="27432" anchor="ctr">
                    <a:solidFill>
                      <a:srgbClr val="151D2E"/>
                    </a:solidFill>
                  </a:tcPr>
                </a:tc>
                <a:tc>
                  <a:txBody>
                    <a:bodyPr/>
                    <a:lstStyle/>
                    <a:p>
                      <a:pPr algn="ctr">
                        <a:defRPr sz="1100" b="0">
                          <a:solidFill>
                            <a:srgbClr val="E8EDF7"/>
                          </a:solidFill>
                          <a:latin typeface="Segoe UI"/>
                        </a:defRPr>
                      </a:pPr>
                      <a:r>
                        <a:t>1,320</a:t>
                      </a:r>
                    </a:p>
                  </a:txBody>
                  <a:tcPr marL="64008" marR="64008" marT="27432" marB="27432" anchor="ctr">
                    <a:solidFill>
                      <a:srgbClr val="151D2E"/>
                    </a:solidFill>
                  </a:tcPr>
                </a:tc>
                <a:tc>
                  <a:txBody>
                    <a:bodyPr/>
                    <a:lstStyle/>
                    <a:p>
                      <a:pPr algn="ctr">
                        <a:defRPr sz="1100" b="0">
                          <a:solidFill>
                            <a:srgbClr val="E8EDF7"/>
                          </a:solidFill>
                          <a:latin typeface="Segoe UI"/>
                        </a:defRPr>
                      </a:pPr>
                      <a:r>
                        <a:t>3 %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last_above</a:t>
                      </a:r>
                    </a:p>
                  </a:txBody>
                  <a:tcPr marL="64008" marR="64008" marT="27432" marB="27432" anchor="ctr">
                    <a:solidFill>
                      <a:srgbClr val="151D2E"/>
                    </a:solidFill>
                  </a:tcPr>
                </a:tc>
                <a:tc>
                  <a:txBody>
                    <a:bodyPr/>
                    <a:lstStyle/>
                    <a:p>
                      <a:pPr algn="ctr">
                        <a:defRPr sz="1100" b="0">
                          <a:solidFill>
                            <a:srgbClr val="E8EDF7"/>
                          </a:solidFill>
                          <a:latin typeface="Segoe UI"/>
                        </a:defRPr>
                      </a:pPr>
                      <a:r>
                        <a:t>car_fixed_k500</a:t>
                      </a:r>
                    </a:p>
                  </a:txBody>
                  <a:tcPr marL="64008" marR="64008" marT="27432" marB="27432" anchor="ctr">
                    <a:solidFill>
                      <a:srgbClr val="151D2E"/>
                    </a:solidFill>
                  </a:tcPr>
                </a:tc>
                <a:tc>
                  <a:txBody>
                    <a:bodyPr/>
                    <a:lstStyle/>
                    <a:p>
                      <a:pPr algn="ctr">
                        <a:defRPr sz="1100" b="0">
                          <a:solidFill>
                            <a:srgbClr val="E8EDF7"/>
                          </a:solidFill>
                          <a:latin typeface="Segoe UI"/>
                        </a:defRPr>
                      </a:pPr>
                      <a:r>
                        <a:t>6,600</a:t>
                      </a:r>
                    </a:p>
                  </a:txBody>
                  <a:tcPr marL="64008" marR="64008" marT="27432" marB="27432" anchor="ctr">
                    <a:solidFill>
                      <a:srgbClr val="151D2E"/>
                    </a:solidFill>
                  </a:tcPr>
                </a:tc>
                <a:tc>
                  <a:txBody>
                    <a:bodyPr/>
                    <a:lstStyle/>
                    <a:p>
                      <a:pPr algn="ctr">
                        <a:defRPr sz="1100" b="0">
                          <a:solidFill>
                            <a:srgbClr val="E8EDF7"/>
                          </a:solidFill>
                          <a:latin typeface="Segoe UI"/>
                        </a:defRPr>
                      </a:pPr>
                      <a:r>
                        <a:t>3 %</a:t>
                      </a:r>
                    </a:p>
                  </a:txBody>
                  <a:tcPr marL="64008" marR="64008" marT="27432" marB="27432" anchor="ctr">
                    <a:solidFill>
                      <a:srgbClr val="151D2E"/>
                    </a:solidFill>
                  </a:tcPr>
                </a:tc>
                <a:tc>
                  <a:txBody>
                    <a:bodyPr/>
                    <a:lstStyle/>
                    <a:p>
                      <a:pPr algn="ctr">
                        <a:defRPr sz="1100" b="0">
                          <a:solidFill>
                            <a:srgbClr val="E8EDF7"/>
                          </a:solidFill>
                          <a:latin typeface="Segoe UI"/>
                        </a:defRPr>
                      </a:pPr>
                      <a:r>
                        <a:t>0 %</a:t>
                      </a:r>
                    </a:p>
                  </a:txBody>
                  <a:tcPr marL="64008" marR="64008" marT="27432" marB="27432" anchor="ctr">
                    <a:solidFill>
                      <a:srgbClr val="151D2E"/>
                    </a:solidFill>
                  </a:tcPr>
                </a:tc>
              </a:tr>
              <a:tr h="384048">
                <a:tc>
                  <a:txBody>
                    <a:bodyPr/>
                    <a:lstStyle/>
                    <a:p>
                      <a:pPr algn="l">
                        <a:defRPr sz="1100" b="0">
                          <a:solidFill>
                            <a:srgbClr val="E8EDF7"/>
                          </a:solidFill>
                          <a:latin typeface="Segoe UI"/>
                        </a:defRPr>
                      </a:pPr>
                      <a:r>
                        <a:t>last_above</a:t>
                      </a:r>
                    </a:p>
                  </a:txBody>
                  <a:tcPr marL="64008" marR="64008" marT="27432" marB="27432" anchor="ctr">
                    <a:solidFill>
                      <a:srgbClr val="151D2E"/>
                    </a:solidFill>
                  </a:tcPr>
                </a:tc>
                <a:tc>
                  <a:txBody>
                    <a:bodyPr/>
                    <a:lstStyle/>
                    <a:p>
                      <a:pPr algn="ctr">
                        <a:defRPr sz="1100" b="0">
                          <a:solidFill>
                            <a:srgbClr val="E8EDF7"/>
                          </a:solidFill>
                          <a:latin typeface="Segoe UI"/>
                        </a:defRPr>
                      </a:pPr>
                      <a:r>
                        <a:t>LUCB</a:t>
                      </a:r>
                    </a:p>
                  </a:txBody>
                  <a:tcPr marL="64008" marR="64008" marT="27432" marB="27432" anchor="ctr">
                    <a:solidFill>
                      <a:srgbClr val="151D2E"/>
                    </a:solidFill>
                  </a:tcPr>
                </a:tc>
                <a:tc>
                  <a:txBody>
                    <a:bodyPr/>
                    <a:lstStyle/>
                    <a:p>
                      <a:pPr algn="ctr">
                        <a:defRPr sz="1100" b="0">
                          <a:solidFill>
                            <a:srgbClr val="E8EDF7"/>
                          </a:solidFill>
                          <a:latin typeface="Segoe UI"/>
                        </a:defRPr>
                      </a:pPr>
                      <a:r>
                        <a:t>34,333</a:t>
                      </a:r>
                    </a:p>
                  </a:txBody>
                  <a:tcPr marL="64008" marR="64008" marT="27432" marB="27432" anchor="ctr">
                    <a:solidFill>
                      <a:srgbClr val="151D2E"/>
                    </a:solidFill>
                  </a:tcPr>
                </a:tc>
                <a:tc>
                  <a:txBody>
                    <a:bodyPr/>
                    <a:lstStyle/>
                    <a:p>
                      <a:pPr algn="ctr">
                        <a:defRPr sz="1100" b="0">
                          <a:solidFill>
                            <a:srgbClr val="E8EDF7"/>
                          </a:solidFill>
                          <a:latin typeface="Segoe UI"/>
                        </a:defRPr>
                      </a:pPr>
                      <a:r>
                        <a:t>100 %</a:t>
                      </a:r>
                    </a:p>
                  </a:txBody>
                  <a:tcPr marL="64008" marR="64008" marT="27432" marB="27432" anchor="ctr">
                    <a:solidFill>
                      <a:srgbClr val="151D2E"/>
                    </a:solidFill>
                  </a:tcPr>
                </a:tc>
                <a:tc>
                  <a:txBody>
                    <a:bodyPr/>
                    <a:lstStyle/>
                    <a:p>
                      <a:pPr algn="ctr">
                        <a:defRPr sz="1100" b="0">
                          <a:solidFill>
                            <a:srgbClr val="E8EDF7"/>
                          </a:solidFill>
                          <a:latin typeface="Segoe UI"/>
                        </a:defRPr>
                      </a:pPr>
                      <a:r>
                        <a:t>53 %</a:t>
                      </a:r>
                    </a:p>
                  </a:txBody>
                  <a:tcPr marL="64008" marR="64008" marT="27432" marB="27432" anchor="ctr">
                    <a:solidFill>
                      <a:srgbClr val="151D2E"/>
                    </a:solidFill>
                  </a:tcPr>
                </a:tc>
              </a:tr>
            </a:tbl>
          </a:graphicData>
        </a:graphic>
      </p:graphicFrame>
      <p:sp>
        <p:nvSpPr>
          <p:cNvPr id="11" name="TextBox 10"/>
          <p:cNvSpPr txBox="1"/>
          <p:nvPr/>
        </p:nvSpPr>
        <p:spPr>
          <a:xfrm>
            <a:off x="548640" y="5074920"/>
            <a:ext cx="11155680" cy="1188720"/>
          </a:xfrm>
          <a:prstGeom prst="rect">
            <a:avLst/>
          </a:prstGeom>
          <a:noFill/>
        </p:spPr>
        <p:txBody>
          <a:bodyPr wrap="square" lIns="36576" rIns="36576">
            <a:spAutoFit/>
          </a:bodyPr>
          <a:lstStyle/>
          <a:p>
            <a:pPr>
              <a:spcAft>
                <a:spcPts val="400"/>
              </a:spcAft>
              <a:defRPr sz="1400" b="0">
                <a:solidFill>
                  <a:srgbClr val="96A3BE"/>
                </a:solidFill>
                <a:latin typeface="Segoe UI"/>
              </a:defRPr>
            </a:pPr>
            <a:r>
              <a:t>•  Same ordering as on the automaton: adaptive &lt; uniform in rollouts.</a:t>
            </a:r>
          </a:p>
          <a:p>
            <a:pPr>
              <a:spcAft>
                <a:spcPts val="400"/>
              </a:spcAft>
              <a:defRPr sz="1400" b="0">
                <a:solidFill>
                  <a:srgbClr val="96A3BE"/>
                </a:solidFill>
                <a:latin typeface="Segoe UI"/>
              </a:defRPr>
            </a:pPr>
            <a:r>
              <a:t>•  Threshold targets can legitimately end in “no step qualifies” or abstention; both are reported, not hidden.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DEMONSTRATION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The website: run the algorithm and watch it decide</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26</a:t>
            </a:r>
          </a:p>
        </p:txBody>
      </p:sp>
      <p:sp>
        <p:nvSpPr>
          <p:cNvPr id="8" name="Rounded Rectangle 7"/>
          <p:cNvSpPr/>
          <p:nvPr/>
        </p:nvSpPr>
        <p:spPr>
          <a:xfrm>
            <a:off x="457200" y="1371600"/>
            <a:ext cx="5532120" cy="434340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ashboard.png"/>
          <p:cNvPicPr>
            <a:picLocks noChangeAspect="1"/>
          </p:cNvPicPr>
          <p:nvPr/>
        </p:nvPicPr>
        <p:blipFill>
          <a:blip r:embed="rId3"/>
          <a:stretch>
            <a:fillRect/>
          </a:stretch>
        </p:blipFill>
        <p:spPr>
          <a:xfrm>
            <a:off x="589787" y="1463040"/>
            <a:ext cx="5266944" cy="3657600"/>
          </a:xfrm>
          <a:prstGeom prst="rect">
            <a:avLst/>
          </a:prstGeom>
        </p:spPr>
      </p:pic>
      <p:sp>
        <p:nvSpPr>
          <p:cNvPr id="10" name="TextBox 9"/>
          <p:cNvSpPr txBox="1"/>
          <p:nvPr/>
        </p:nvSpPr>
        <p:spPr>
          <a:xfrm>
            <a:off x="548640" y="5212080"/>
            <a:ext cx="5349240" cy="457200"/>
          </a:xfrm>
          <a:prstGeom prst="rect">
            <a:avLst/>
          </a:prstGeom>
          <a:noFill/>
        </p:spPr>
        <p:txBody>
          <a:bodyPr wrap="square" lIns="36576" rIns="36576">
            <a:spAutoFit/>
          </a:bodyPr>
          <a:lstStyle/>
          <a:p>
            <a:pPr algn="ctr">
              <a:spcAft>
                <a:spcPts val="600"/>
              </a:spcAft>
              <a:defRPr sz="1200" b="1">
                <a:solidFill>
                  <a:srgbClr val="2DD4E0"/>
                </a:solidFill>
                <a:latin typeface="Segoe UI"/>
              </a:defRPr>
            </a:pPr>
            <a:r>
              <a:t>Attribution dashboard — live run, replayable CI plot, stopping rule</a:t>
            </a:r>
          </a:p>
        </p:txBody>
      </p:sp>
      <p:sp>
        <p:nvSpPr>
          <p:cNvPr id="11" name="Rounded Rectangle 10"/>
          <p:cNvSpPr/>
          <p:nvPr/>
        </p:nvSpPr>
        <p:spPr>
          <a:xfrm>
            <a:off x="6126480" y="1371600"/>
            <a:ext cx="5532120" cy="434340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tudio.png"/>
          <p:cNvPicPr>
            <a:picLocks noChangeAspect="1"/>
          </p:cNvPicPr>
          <p:nvPr/>
        </p:nvPicPr>
        <p:blipFill>
          <a:blip r:embed="rId4"/>
          <a:stretch>
            <a:fillRect/>
          </a:stretch>
        </p:blipFill>
        <p:spPr>
          <a:xfrm>
            <a:off x="6259068" y="1463040"/>
            <a:ext cx="5266944" cy="3657600"/>
          </a:xfrm>
          <a:prstGeom prst="rect">
            <a:avLst/>
          </a:prstGeom>
        </p:spPr>
      </p:pic>
      <p:sp>
        <p:nvSpPr>
          <p:cNvPr id="13" name="TextBox 12"/>
          <p:cNvSpPr txBox="1"/>
          <p:nvPr/>
        </p:nvSpPr>
        <p:spPr>
          <a:xfrm>
            <a:off x="6217920" y="5212080"/>
            <a:ext cx="5349240" cy="457200"/>
          </a:xfrm>
          <a:prstGeom prst="rect">
            <a:avLst/>
          </a:prstGeom>
          <a:noFill/>
        </p:spPr>
        <p:txBody>
          <a:bodyPr wrap="square" lIns="36576" rIns="36576">
            <a:spAutoFit/>
          </a:bodyPr>
          <a:lstStyle/>
          <a:p>
            <a:pPr algn="ctr">
              <a:spcAft>
                <a:spcPts val="600"/>
              </a:spcAft>
              <a:defRPr sz="1200" b="1">
                <a:solidFill>
                  <a:srgbClr val="2DD4E0"/>
                </a:solidFill>
                <a:latin typeface="Segoe UI"/>
              </a:defRPr>
            </a:pPr>
            <a:r>
              <a:t>Experiment studio — saved results from raw CSV</a:t>
            </a:r>
          </a:p>
        </p:txBody>
      </p:sp>
      <p:sp>
        <p:nvSpPr>
          <p:cNvPr id="14" name="TextBox 13"/>
          <p:cNvSpPr txBox="1"/>
          <p:nvPr/>
        </p:nvSpPr>
        <p:spPr>
          <a:xfrm>
            <a:off x="548640" y="5852160"/>
            <a:ext cx="11155680" cy="548640"/>
          </a:xfrm>
          <a:prstGeom prst="rect">
            <a:avLst/>
          </a:prstGeom>
          <a:noFill/>
        </p:spPr>
        <p:txBody>
          <a:bodyPr wrap="square" lIns="36576" rIns="36576">
            <a:spAutoFit/>
          </a:bodyPr>
          <a:lstStyle/>
          <a:p>
            <a:pPr>
              <a:spcAft>
                <a:spcPts val="600"/>
              </a:spcAft>
              <a:defRPr sz="1300" b="0">
                <a:solidFill>
                  <a:srgbClr val="96A3BE"/>
                </a:solidFill>
                <a:latin typeface="Segoe UI"/>
              </a:defRPr>
            </a:pPr>
            <a:r>
              <a:t>9 pages: overview · related work · automata lab · trajectory explorer · dashboard · studio · theory · reproducibility · docs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DEMONSTRATION</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The website: automata laboratory, explorer, theory</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27</a:t>
            </a:r>
          </a:p>
        </p:txBody>
      </p:sp>
      <p:sp>
        <p:nvSpPr>
          <p:cNvPr id="8" name="Rounded Rectangle 7"/>
          <p:cNvSpPr/>
          <p:nvPr/>
        </p:nvSpPr>
        <p:spPr>
          <a:xfrm>
            <a:off x="457200" y="1371600"/>
            <a:ext cx="3657600" cy="42062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lab.png"/>
          <p:cNvPicPr>
            <a:picLocks noChangeAspect="1"/>
          </p:cNvPicPr>
          <p:nvPr/>
        </p:nvPicPr>
        <p:blipFill>
          <a:blip r:embed="rId3"/>
          <a:stretch>
            <a:fillRect/>
          </a:stretch>
        </p:blipFill>
        <p:spPr>
          <a:xfrm>
            <a:off x="530352" y="2023745"/>
            <a:ext cx="3520439" cy="2444750"/>
          </a:xfrm>
          <a:prstGeom prst="rect">
            <a:avLst/>
          </a:prstGeom>
        </p:spPr>
      </p:pic>
      <p:sp>
        <p:nvSpPr>
          <p:cNvPr id="10" name="TextBox 9"/>
          <p:cNvSpPr txBox="1"/>
          <p:nvPr/>
        </p:nvSpPr>
        <p:spPr>
          <a:xfrm>
            <a:off x="530352" y="5074920"/>
            <a:ext cx="3520440" cy="365760"/>
          </a:xfrm>
          <a:prstGeom prst="rect">
            <a:avLst/>
          </a:prstGeom>
          <a:noFill/>
        </p:spPr>
        <p:txBody>
          <a:bodyPr wrap="square" lIns="36576" rIns="36576">
            <a:spAutoFit/>
          </a:bodyPr>
          <a:lstStyle/>
          <a:p>
            <a:pPr algn="ctr">
              <a:spcAft>
                <a:spcPts val="600"/>
              </a:spcAft>
              <a:defRPr sz="1300" b="1">
                <a:solidFill>
                  <a:srgbClr val="2DD4E0"/>
                </a:solidFill>
                <a:latin typeface="Segoe UI"/>
              </a:defRPr>
            </a:pPr>
            <a:r>
              <a:t>Automata laboratory</a:t>
            </a:r>
          </a:p>
        </p:txBody>
      </p:sp>
      <p:sp>
        <p:nvSpPr>
          <p:cNvPr id="11" name="Rounded Rectangle 10"/>
          <p:cNvSpPr/>
          <p:nvPr/>
        </p:nvSpPr>
        <p:spPr>
          <a:xfrm>
            <a:off x="4251960" y="1371600"/>
            <a:ext cx="3657600" cy="42062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explorer.png"/>
          <p:cNvPicPr>
            <a:picLocks noChangeAspect="1"/>
          </p:cNvPicPr>
          <p:nvPr/>
        </p:nvPicPr>
        <p:blipFill>
          <a:blip r:embed="rId4"/>
          <a:stretch>
            <a:fillRect/>
          </a:stretch>
        </p:blipFill>
        <p:spPr>
          <a:xfrm>
            <a:off x="4325112" y="2023745"/>
            <a:ext cx="3520439" cy="2444750"/>
          </a:xfrm>
          <a:prstGeom prst="rect">
            <a:avLst/>
          </a:prstGeom>
        </p:spPr>
      </p:pic>
      <p:sp>
        <p:nvSpPr>
          <p:cNvPr id="13" name="TextBox 12"/>
          <p:cNvSpPr txBox="1"/>
          <p:nvPr/>
        </p:nvSpPr>
        <p:spPr>
          <a:xfrm>
            <a:off x="4325112" y="5074920"/>
            <a:ext cx="3520440" cy="365760"/>
          </a:xfrm>
          <a:prstGeom prst="rect">
            <a:avLst/>
          </a:prstGeom>
          <a:noFill/>
        </p:spPr>
        <p:txBody>
          <a:bodyPr wrap="square" lIns="36576" rIns="36576">
            <a:spAutoFit/>
          </a:bodyPr>
          <a:lstStyle/>
          <a:p>
            <a:pPr algn="ctr">
              <a:spcAft>
                <a:spcPts val="600"/>
              </a:spcAft>
              <a:defRPr sz="1300" b="1">
                <a:solidFill>
                  <a:srgbClr val="2DD4E0"/>
                </a:solidFill>
                <a:latin typeface="Segoe UI"/>
              </a:defRPr>
            </a:pPr>
            <a:r>
              <a:t>Trajectory explorer</a:t>
            </a:r>
          </a:p>
        </p:txBody>
      </p:sp>
      <p:sp>
        <p:nvSpPr>
          <p:cNvPr id="14" name="Rounded Rectangle 13"/>
          <p:cNvSpPr/>
          <p:nvPr/>
        </p:nvSpPr>
        <p:spPr>
          <a:xfrm>
            <a:off x="8046720" y="1371600"/>
            <a:ext cx="3657600" cy="42062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theory.png"/>
          <p:cNvPicPr>
            <a:picLocks noChangeAspect="1"/>
          </p:cNvPicPr>
          <p:nvPr/>
        </p:nvPicPr>
        <p:blipFill>
          <a:blip r:embed="rId5"/>
          <a:stretch>
            <a:fillRect/>
          </a:stretch>
        </p:blipFill>
        <p:spPr>
          <a:xfrm>
            <a:off x="8119872" y="2023745"/>
            <a:ext cx="3520439" cy="2444750"/>
          </a:xfrm>
          <a:prstGeom prst="rect">
            <a:avLst/>
          </a:prstGeom>
        </p:spPr>
      </p:pic>
      <p:sp>
        <p:nvSpPr>
          <p:cNvPr id="16" name="TextBox 15"/>
          <p:cNvSpPr txBox="1"/>
          <p:nvPr/>
        </p:nvSpPr>
        <p:spPr>
          <a:xfrm>
            <a:off x="8119872" y="5074920"/>
            <a:ext cx="3520440" cy="365760"/>
          </a:xfrm>
          <a:prstGeom prst="rect">
            <a:avLst/>
          </a:prstGeom>
          <a:noFill/>
        </p:spPr>
        <p:txBody>
          <a:bodyPr wrap="square" lIns="36576" rIns="36576">
            <a:spAutoFit/>
          </a:bodyPr>
          <a:lstStyle/>
          <a:p>
            <a:pPr algn="ctr">
              <a:spcAft>
                <a:spcPts val="600"/>
              </a:spcAft>
              <a:defRPr sz="1300" b="1">
                <a:solidFill>
                  <a:srgbClr val="2DD4E0"/>
                </a:solidFill>
                <a:latin typeface="Segoe UI"/>
              </a:defRPr>
            </a:pPr>
            <a:r>
              <a:t>Theory &amp; guarantees</a:t>
            </a:r>
          </a:p>
        </p:txBody>
      </p:sp>
      <p:sp>
        <p:nvSpPr>
          <p:cNvPr id="17" name="TextBox 16"/>
          <p:cNvSpPr txBox="1"/>
          <p:nvPr/>
        </p:nvSpPr>
        <p:spPr>
          <a:xfrm>
            <a:off x="548640" y="5760720"/>
            <a:ext cx="11155680" cy="640080"/>
          </a:xfrm>
          <a:prstGeom prst="rect">
            <a:avLst/>
          </a:prstGeom>
          <a:noFill/>
        </p:spPr>
        <p:txBody>
          <a:bodyPr wrap="square" lIns="36576" rIns="36576">
            <a:spAutoFit/>
          </a:bodyPr>
          <a:lstStyle/>
          <a:p>
            <a:pPr>
              <a:spcAft>
                <a:spcPts val="600"/>
              </a:spcAft>
              <a:defRPr sz="1300" b="0">
                <a:solidFill>
                  <a:srgbClr val="96A3BE"/>
                </a:solidFill>
                <a:latin typeface="Segoe UI"/>
              </a:defRPr>
            </a:pPr>
            <a:r>
              <a:t>Custom cursor, spotlight and motion are disabled on touch devices and when the OS requests reduced motion; charts also skip animation then.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QUALITY</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Testing and reproducibility</a:t>
            </a:r>
          </a:p>
        </p:txBody>
      </p:sp>
      <p:sp>
        <p:nvSpPr>
          <p:cNvPr id="5" name="Rounded Rectangle 4"/>
          <p:cNvSpPr/>
          <p:nvPr/>
        </p:nvSpPr>
        <p:spPr>
          <a:xfrm>
            <a:off x="10698480" y="365760"/>
            <a:ext cx="1005840" cy="274320"/>
          </a:xfrm>
          <a:prstGeom prst="roundRect">
            <a:avLst>
              <a:gd name="adj" fmla="val 50000"/>
            </a:avLst>
          </a:prstGeom>
          <a:solidFill>
            <a:srgbClr val="0B101C"/>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34D399"/>
                </a:solidFill>
                <a:latin typeface="Consolas"/>
              </a:defRPr>
            </a:pPr>
            <a:r>
              <a:t>measured</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28</a:t>
            </a:r>
          </a:p>
        </p:txBody>
      </p:sp>
      <p:graphicFrame>
        <p:nvGraphicFramePr>
          <p:cNvPr id="8" name="Table 7"/>
          <p:cNvGraphicFramePr>
            <a:graphicFrameLocks noGrp="1"/>
          </p:cNvGraphicFramePr>
          <p:nvPr/>
        </p:nvGraphicFramePr>
        <p:xfrm>
          <a:off x="548640" y="1508760"/>
          <a:ext cx="5669280" cy="4572000"/>
        </p:xfrm>
        <a:graphic>
          <a:graphicData uri="http://schemas.openxmlformats.org/drawingml/2006/table">
            <a:tbl>
              <a:tblPr firstRow="0" bandRow="0">
                <a:tableStyleId>{5C22544A-7EE6-4342-B048-85BDC9FD1C3A}</a:tableStyleId>
              </a:tblPr>
              <a:tblGrid>
                <a:gridCol w="3291840"/>
                <a:gridCol w="1097280"/>
                <a:gridCol w="1280160"/>
              </a:tblGrid>
              <a:tr h="457200">
                <a:tc>
                  <a:txBody>
                    <a:bodyPr/>
                    <a:lstStyle/>
                    <a:p>
                      <a:pPr algn="l">
                        <a:defRPr sz="1300" b="1">
                          <a:solidFill>
                            <a:srgbClr val="2DD4E0"/>
                          </a:solidFill>
                          <a:latin typeface="Segoe UI"/>
                        </a:defRPr>
                      </a:pPr>
                      <a:r>
                        <a:t>suite</a:t>
                      </a:r>
                    </a:p>
                  </a:txBody>
                  <a:tcPr marL="64008" marR="64008" marT="27432" marB="27432" anchor="ctr">
                    <a:solidFill>
                      <a:srgbClr val="1E2A42"/>
                    </a:solidFill>
                  </a:tcPr>
                </a:tc>
                <a:tc>
                  <a:txBody>
                    <a:bodyPr/>
                    <a:lstStyle/>
                    <a:p>
                      <a:pPr algn="ctr">
                        <a:defRPr sz="1300" b="1">
                          <a:solidFill>
                            <a:srgbClr val="2DD4E0"/>
                          </a:solidFill>
                          <a:latin typeface="Segoe UI"/>
                        </a:defRPr>
                      </a:pPr>
                      <a:r>
                        <a:t>tests</a:t>
                      </a:r>
                    </a:p>
                  </a:txBody>
                  <a:tcPr marL="64008" marR="64008" marT="27432" marB="27432" anchor="ctr">
                    <a:solidFill>
                      <a:srgbClr val="1E2A42"/>
                    </a:solidFill>
                  </a:tcPr>
                </a:tc>
                <a:tc>
                  <a:txBody>
                    <a:bodyPr/>
                    <a:lstStyle/>
                    <a:p>
                      <a:pPr algn="ctr">
                        <a:defRPr sz="1300" b="1">
                          <a:solidFill>
                            <a:srgbClr val="2DD4E0"/>
                          </a:solidFill>
                          <a:latin typeface="Segoe UI"/>
                        </a:defRPr>
                      </a:pPr>
                      <a:r>
                        <a:t>passed</a:t>
                      </a:r>
                    </a:p>
                  </a:txBody>
                  <a:tcPr marL="64008" marR="64008" marT="27432" marB="27432" anchor="ctr">
                    <a:solidFill>
                      <a:srgbClr val="1E2A42"/>
                    </a:solidFill>
                  </a:tcPr>
                </a:tc>
              </a:tr>
              <a:tr h="457200">
                <a:tc>
                  <a:txBody>
                    <a:bodyPr/>
                    <a:lstStyle/>
                    <a:p>
                      <a:pPr algn="l">
                        <a:defRPr sz="1300" b="0">
                          <a:solidFill>
                            <a:srgbClr val="E8EDF7"/>
                          </a:solidFill>
                          <a:latin typeface="Segoe UI"/>
                        </a:defRPr>
                      </a:pPr>
                      <a:r>
                        <a:t>api_automata</a:t>
                      </a:r>
                    </a:p>
                  </a:txBody>
                  <a:tcPr marL="64008" marR="64008" marT="27432" marB="27432" anchor="ctr">
                    <a:solidFill>
                      <a:srgbClr val="151D2E"/>
                    </a:solidFill>
                  </a:tcPr>
                </a:tc>
                <a:tc>
                  <a:txBody>
                    <a:bodyPr/>
                    <a:lstStyle/>
                    <a:p>
                      <a:pPr algn="ctr">
                        <a:defRPr sz="1300" b="0">
                          <a:solidFill>
                            <a:srgbClr val="E8EDF7"/>
                          </a:solidFill>
                          <a:latin typeface="Segoe UI"/>
                        </a:defRPr>
                      </a:pPr>
                      <a:r>
                        <a:t>36</a:t>
                      </a:r>
                    </a:p>
                  </a:txBody>
                  <a:tcPr marL="64008" marR="64008" marT="27432" marB="27432" anchor="ctr">
                    <a:solidFill>
                      <a:srgbClr val="151D2E"/>
                    </a:solidFill>
                  </a:tcPr>
                </a:tc>
                <a:tc>
                  <a:txBody>
                    <a:bodyPr/>
                    <a:lstStyle/>
                    <a:p>
                      <a:pPr algn="ctr">
                        <a:defRPr sz="1300" b="0">
                          <a:solidFill>
                            <a:srgbClr val="E8EDF7"/>
                          </a:solidFill>
                          <a:latin typeface="Segoe UI"/>
                        </a:defRPr>
                      </a:pPr>
                      <a:r>
                        <a:t>36</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api_http</a:t>
                      </a:r>
                    </a:p>
                  </a:txBody>
                  <a:tcPr marL="64008" marR="64008" marT="27432" marB="27432" anchor="ctr">
                    <a:solidFill>
                      <a:srgbClr val="151D2E"/>
                    </a:solidFill>
                  </a:tcPr>
                </a:tc>
                <a:tc>
                  <a:txBody>
                    <a:bodyPr/>
                    <a:lstStyle/>
                    <a:p>
                      <a:pPr algn="ctr">
                        <a:defRPr sz="1300" b="0">
                          <a:solidFill>
                            <a:srgbClr val="E8EDF7"/>
                          </a:solidFill>
                          <a:latin typeface="Segoe UI"/>
                        </a:defRPr>
                      </a:pPr>
                      <a:r>
                        <a:t>20</a:t>
                      </a:r>
                    </a:p>
                  </a:txBody>
                  <a:tcPr marL="64008" marR="64008" marT="27432" marB="27432" anchor="ctr">
                    <a:solidFill>
                      <a:srgbClr val="151D2E"/>
                    </a:solidFill>
                  </a:tcPr>
                </a:tc>
                <a:tc>
                  <a:txBody>
                    <a:bodyPr/>
                    <a:lstStyle/>
                    <a:p>
                      <a:pPr algn="ctr">
                        <a:defRPr sz="1300" b="0">
                          <a:solidFill>
                            <a:srgbClr val="E8EDF7"/>
                          </a:solidFill>
                          <a:latin typeface="Segoe UI"/>
                        </a:defRPr>
                      </a:pPr>
                      <a:r>
                        <a:t>20</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attribution</a:t>
                      </a:r>
                    </a:p>
                  </a:txBody>
                  <a:tcPr marL="64008" marR="64008" marT="27432" marB="27432" anchor="ctr">
                    <a:solidFill>
                      <a:srgbClr val="151D2E"/>
                    </a:solidFill>
                  </a:tcPr>
                </a:tc>
                <a:tc>
                  <a:txBody>
                    <a:bodyPr/>
                    <a:lstStyle/>
                    <a:p>
                      <a:pPr algn="ctr">
                        <a:defRPr sz="1300" b="0">
                          <a:solidFill>
                            <a:srgbClr val="E8EDF7"/>
                          </a:solidFill>
                          <a:latin typeface="Segoe UI"/>
                        </a:defRPr>
                      </a:pPr>
                      <a:r>
                        <a:t>16</a:t>
                      </a:r>
                    </a:p>
                  </a:txBody>
                  <a:tcPr marL="64008" marR="64008" marT="27432" marB="27432" anchor="ctr">
                    <a:solidFill>
                      <a:srgbClr val="151D2E"/>
                    </a:solidFill>
                  </a:tcPr>
                </a:tc>
                <a:tc>
                  <a:txBody>
                    <a:bodyPr/>
                    <a:lstStyle/>
                    <a:p>
                      <a:pPr algn="ctr">
                        <a:defRPr sz="1300" b="0">
                          <a:solidFill>
                            <a:srgbClr val="E8EDF7"/>
                          </a:solidFill>
                          <a:latin typeface="Segoe UI"/>
                        </a:defRPr>
                      </a:pPr>
                      <a:r>
                        <a:t>16</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automata</a:t>
                      </a:r>
                    </a:p>
                  </a:txBody>
                  <a:tcPr marL="64008" marR="64008" marT="27432" marB="27432" anchor="ctr">
                    <a:solidFill>
                      <a:srgbClr val="151D2E"/>
                    </a:solidFill>
                  </a:tcPr>
                </a:tc>
                <a:tc>
                  <a:txBody>
                    <a:bodyPr/>
                    <a:lstStyle/>
                    <a:p>
                      <a:pPr algn="ctr">
                        <a:defRPr sz="1300" b="0">
                          <a:solidFill>
                            <a:srgbClr val="E8EDF7"/>
                          </a:solidFill>
                          <a:latin typeface="Segoe UI"/>
                        </a:defRPr>
                      </a:pPr>
                      <a:r>
                        <a:t>14</a:t>
                      </a:r>
                    </a:p>
                  </a:txBody>
                  <a:tcPr marL="64008" marR="64008" marT="27432" marB="27432" anchor="ctr">
                    <a:solidFill>
                      <a:srgbClr val="151D2E"/>
                    </a:solidFill>
                  </a:tcPr>
                </a:tc>
                <a:tc>
                  <a:txBody>
                    <a:bodyPr/>
                    <a:lstStyle/>
                    <a:p>
                      <a:pPr algn="ctr">
                        <a:defRPr sz="1300" b="0">
                          <a:solidFill>
                            <a:srgbClr val="E8EDF7"/>
                          </a:solidFill>
                          <a:latin typeface="Segoe UI"/>
                        </a:defRPr>
                      </a:pPr>
                      <a:r>
                        <a:t>14</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configs</a:t>
                      </a:r>
                    </a:p>
                  </a:txBody>
                  <a:tcPr marL="64008" marR="64008" marT="27432" marB="27432" anchor="ctr">
                    <a:solidFill>
                      <a:srgbClr val="151D2E"/>
                    </a:solidFill>
                  </a:tcPr>
                </a:tc>
                <a:tc>
                  <a:txBody>
                    <a:bodyPr/>
                    <a:lstStyle/>
                    <a:p>
                      <a:pPr algn="ctr">
                        <a:defRPr sz="1300" b="0">
                          <a:solidFill>
                            <a:srgbClr val="E8EDF7"/>
                          </a:solidFill>
                          <a:latin typeface="Segoe UI"/>
                        </a:defRPr>
                      </a:pPr>
                      <a:r>
                        <a:t>13</a:t>
                      </a:r>
                    </a:p>
                  </a:txBody>
                  <a:tcPr marL="64008" marR="64008" marT="27432" marB="27432" anchor="ctr">
                    <a:solidFill>
                      <a:srgbClr val="151D2E"/>
                    </a:solidFill>
                  </a:tcPr>
                </a:tc>
                <a:tc>
                  <a:txBody>
                    <a:bodyPr/>
                    <a:lstStyle/>
                    <a:p>
                      <a:pPr algn="ctr">
                        <a:defRPr sz="1300" b="0">
                          <a:solidFill>
                            <a:srgbClr val="E8EDF7"/>
                          </a:solidFill>
                          <a:latin typeface="Segoe UI"/>
                        </a:defRPr>
                      </a:pPr>
                      <a:r>
                        <a:t>13</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results_consistency</a:t>
                      </a:r>
                    </a:p>
                  </a:txBody>
                  <a:tcPr marL="64008" marR="64008" marT="27432" marB="27432" anchor="ctr">
                    <a:solidFill>
                      <a:srgbClr val="151D2E"/>
                    </a:solidFill>
                  </a:tcPr>
                </a:tc>
                <a:tc>
                  <a:txBody>
                    <a:bodyPr/>
                    <a:lstStyle/>
                    <a:p>
                      <a:pPr algn="ctr">
                        <a:defRPr sz="1300" b="0">
                          <a:solidFill>
                            <a:srgbClr val="E8EDF7"/>
                          </a:solidFill>
                          <a:latin typeface="Segoe UI"/>
                        </a:defRPr>
                      </a:pPr>
                      <a:r>
                        <a:t>31</a:t>
                      </a:r>
                    </a:p>
                  </a:txBody>
                  <a:tcPr marL="64008" marR="64008" marT="27432" marB="27432" anchor="ctr">
                    <a:solidFill>
                      <a:srgbClr val="151D2E"/>
                    </a:solidFill>
                  </a:tcPr>
                </a:tc>
                <a:tc>
                  <a:txBody>
                    <a:bodyPr/>
                    <a:lstStyle/>
                    <a:p>
                      <a:pPr algn="ctr">
                        <a:defRPr sz="1300" b="0">
                          <a:solidFill>
                            <a:srgbClr val="E8EDF7"/>
                          </a:solidFill>
                          <a:latin typeface="Segoe UI"/>
                        </a:defRPr>
                      </a:pPr>
                      <a:r>
                        <a:t>31</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statistics</a:t>
                      </a:r>
                    </a:p>
                  </a:txBody>
                  <a:tcPr marL="64008" marR="64008" marT="27432" marB="27432" anchor="ctr">
                    <a:solidFill>
                      <a:srgbClr val="151D2E"/>
                    </a:solidFill>
                  </a:tcPr>
                </a:tc>
                <a:tc>
                  <a:txBody>
                    <a:bodyPr/>
                    <a:lstStyle/>
                    <a:p>
                      <a:pPr algn="ctr">
                        <a:defRPr sz="1300" b="0">
                          <a:solidFill>
                            <a:srgbClr val="E8EDF7"/>
                          </a:solidFill>
                          <a:latin typeface="Segoe UI"/>
                        </a:defRPr>
                      </a:pPr>
                      <a:r>
                        <a:t>34</a:t>
                      </a:r>
                    </a:p>
                  </a:txBody>
                  <a:tcPr marL="64008" marR="64008" marT="27432" marB="27432" anchor="ctr">
                    <a:solidFill>
                      <a:srgbClr val="151D2E"/>
                    </a:solidFill>
                  </a:tcPr>
                </a:tc>
                <a:tc>
                  <a:txBody>
                    <a:bodyPr/>
                    <a:lstStyle/>
                    <a:p>
                      <a:pPr algn="ctr">
                        <a:defRPr sz="1300" b="0">
                          <a:solidFill>
                            <a:srgbClr val="E8EDF7"/>
                          </a:solidFill>
                          <a:latin typeface="Segoe UI"/>
                        </a:defRPr>
                      </a:pPr>
                      <a:r>
                        <a:t>34</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toolagent_and_benchmarks</a:t>
                      </a:r>
                    </a:p>
                  </a:txBody>
                  <a:tcPr marL="64008" marR="64008" marT="27432" marB="27432" anchor="ctr">
                    <a:solidFill>
                      <a:srgbClr val="151D2E"/>
                    </a:solidFill>
                  </a:tcPr>
                </a:tc>
                <a:tc>
                  <a:txBody>
                    <a:bodyPr/>
                    <a:lstStyle/>
                    <a:p>
                      <a:pPr algn="ctr">
                        <a:defRPr sz="1300" b="0">
                          <a:solidFill>
                            <a:srgbClr val="E8EDF7"/>
                          </a:solidFill>
                          <a:latin typeface="Segoe UI"/>
                        </a:defRPr>
                      </a:pPr>
                      <a:r>
                        <a:t>15</a:t>
                      </a:r>
                    </a:p>
                  </a:txBody>
                  <a:tcPr marL="64008" marR="64008" marT="27432" marB="27432" anchor="ctr">
                    <a:solidFill>
                      <a:srgbClr val="151D2E"/>
                    </a:solidFill>
                  </a:tcPr>
                </a:tc>
                <a:tc>
                  <a:txBody>
                    <a:bodyPr/>
                    <a:lstStyle/>
                    <a:p>
                      <a:pPr algn="ctr">
                        <a:defRPr sz="1300" b="0">
                          <a:solidFill>
                            <a:srgbClr val="E8EDF7"/>
                          </a:solidFill>
                          <a:latin typeface="Segoe UI"/>
                        </a:defRPr>
                      </a:pPr>
                      <a:r>
                        <a:t>15</a:t>
                      </a:r>
                    </a:p>
                  </a:txBody>
                  <a:tcPr marL="64008" marR="64008" marT="27432" marB="27432" anchor="ctr">
                    <a:solidFill>
                      <a:srgbClr val="151D2E"/>
                    </a:solidFill>
                  </a:tcPr>
                </a:tc>
              </a:tr>
              <a:tr h="457200">
                <a:tc>
                  <a:txBody>
                    <a:bodyPr/>
                    <a:lstStyle/>
                    <a:p>
                      <a:pPr algn="l">
                        <a:defRPr sz="1300" b="0">
                          <a:solidFill>
                            <a:srgbClr val="E8EDF7"/>
                          </a:solidFill>
                          <a:latin typeface="Segoe UI"/>
                        </a:defRPr>
                      </a:pPr>
                      <a:r>
                        <a:t>frontend (vitest)</a:t>
                      </a:r>
                    </a:p>
                  </a:txBody>
                  <a:tcPr marL="64008" marR="64008" marT="27432" marB="27432" anchor="ctr">
                    <a:solidFill>
                      <a:srgbClr val="151D2E"/>
                    </a:solidFill>
                  </a:tcPr>
                </a:tc>
                <a:tc>
                  <a:txBody>
                    <a:bodyPr/>
                    <a:lstStyle/>
                    <a:p>
                      <a:pPr algn="ctr">
                        <a:defRPr sz="1300" b="0">
                          <a:solidFill>
                            <a:srgbClr val="E8EDF7"/>
                          </a:solidFill>
                          <a:latin typeface="Segoe UI"/>
                        </a:defRPr>
                      </a:pPr>
                      <a:r>
                        <a:t>46</a:t>
                      </a:r>
                    </a:p>
                  </a:txBody>
                  <a:tcPr marL="64008" marR="64008" marT="27432" marB="27432" anchor="ctr">
                    <a:solidFill>
                      <a:srgbClr val="151D2E"/>
                    </a:solidFill>
                  </a:tcPr>
                </a:tc>
                <a:tc>
                  <a:txBody>
                    <a:bodyPr/>
                    <a:lstStyle/>
                    <a:p>
                      <a:pPr algn="ctr">
                        <a:defRPr sz="1300" b="0">
                          <a:solidFill>
                            <a:srgbClr val="E8EDF7"/>
                          </a:solidFill>
                          <a:latin typeface="Segoe UI"/>
                        </a:defRPr>
                      </a:pPr>
                      <a:r>
                        <a:t>46</a:t>
                      </a:r>
                    </a:p>
                  </a:txBody>
                  <a:tcPr marL="64008" marR="64008" marT="27432" marB="27432" anchor="ctr">
                    <a:solidFill>
                      <a:srgbClr val="151D2E"/>
                    </a:solidFill>
                  </a:tcPr>
                </a:tc>
              </a:tr>
            </a:tbl>
          </a:graphicData>
        </a:graphic>
      </p:graphicFrame>
      <p:sp>
        <p:nvSpPr>
          <p:cNvPr id="9" name="Rounded Rectangle 8"/>
          <p:cNvSpPr/>
          <p:nvPr/>
        </p:nvSpPr>
        <p:spPr>
          <a:xfrm>
            <a:off x="6492240" y="1508760"/>
            <a:ext cx="5212080" cy="420624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45920"/>
            <a:ext cx="4846320" cy="365760"/>
          </a:xfrm>
          <a:prstGeom prst="rect">
            <a:avLst/>
          </a:prstGeom>
          <a:noFill/>
        </p:spPr>
        <p:txBody>
          <a:bodyPr wrap="square" lIns="36576" rIns="36576">
            <a:spAutoFit/>
          </a:bodyPr>
          <a:lstStyle/>
          <a:p>
            <a:pPr>
              <a:spcAft>
                <a:spcPts val="600"/>
              </a:spcAft>
              <a:defRPr sz="1500" b="1">
                <a:solidFill>
                  <a:srgbClr val="2DD4E0"/>
                </a:solidFill>
                <a:latin typeface="Segoe UI Semibold"/>
              </a:defRPr>
            </a:pPr>
            <a:r>
              <a:t>Reproduce</a:t>
            </a:r>
          </a:p>
        </p:txBody>
      </p:sp>
      <p:sp>
        <p:nvSpPr>
          <p:cNvPr id="11" name="TextBox 10"/>
          <p:cNvSpPr txBox="1"/>
          <p:nvPr/>
        </p:nvSpPr>
        <p:spPr>
          <a:xfrm>
            <a:off x="6675120" y="2103120"/>
            <a:ext cx="4846320" cy="3566160"/>
          </a:xfrm>
          <a:prstGeom prst="rect">
            <a:avLst/>
          </a:prstGeom>
          <a:noFill/>
        </p:spPr>
        <p:txBody>
          <a:bodyPr wrap="square" lIns="36576" rIns="36576">
            <a:spAutoFit/>
          </a:bodyPr>
          <a:lstStyle/>
          <a:p>
            <a:pPr>
              <a:spcAft>
                <a:spcPts val="500"/>
              </a:spcAft>
              <a:defRPr sz="1200" b="0">
                <a:solidFill>
                  <a:srgbClr val="E8EDF7"/>
                </a:solidFill>
                <a:latin typeface="Consolas"/>
              </a:defRPr>
            </a:pPr>
            <a:r>
              <a:t>python -m pytest -q</a:t>
            </a:r>
          </a:p>
          <a:p>
            <a:pPr>
              <a:spcAft>
                <a:spcPts val="500"/>
              </a:spcAft>
              <a:defRPr sz="1200" b="0">
                <a:solidFill>
                  <a:srgbClr val="E8EDF7"/>
                </a:solidFill>
                <a:latin typeface="Consolas"/>
              </a:defRPr>
            </a:pPr>
            <a:r>
              <a:t>python -m afcr.experiments.suite --config configs/suite_default.json</a:t>
            </a:r>
          </a:p>
          <a:p>
            <a:pPr>
              <a:spcAft>
                <a:spcPts val="500"/>
              </a:spcAft>
              <a:defRPr sz="1200" b="0">
                <a:solidFill>
                  <a:srgbClr val="E8EDF7"/>
                </a:solidFill>
                <a:latin typeface="Consolas"/>
              </a:defRPr>
            </a:pPr>
            <a:r>
              <a:t>python -m afcr.experiments.run_one configs/spec_automaton_prefix.json --seed 7</a:t>
            </a:r>
          </a:p>
          <a:p>
            <a:pPr>
              <a:spcAft>
                <a:spcPts val="500"/>
              </a:spcAft>
              <a:defRPr sz="1200" b="0">
                <a:solidFill>
                  <a:srgbClr val="E8EDF7"/>
                </a:solidFill>
                <a:latin typeface="Consolas"/>
              </a:defRPr>
            </a:pPr>
            <a:r>
              <a:t>python scripts/make_figures.py</a:t>
            </a:r>
          </a:p>
          <a:p>
            <a:pPr>
              <a:spcAft>
                <a:spcPts val="500"/>
              </a:spcAft>
              <a:defRPr sz="1200" b="0">
                <a:solidFill>
                  <a:srgbClr val="E8EDF7"/>
                </a:solidFill>
                <a:latin typeface="Consolas"/>
              </a:defRPr>
            </a:pPr>
            <a:r>
              <a:t>python scripts/build_pdfs.py</a:t>
            </a:r>
          </a:p>
          <a:p>
            <a:pPr>
              <a:spcAft>
                <a:spcPts val="500"/>
              </a:spcAft>
              <a:defRPr sz="1200" b="0">
                <a:solidFill>
                  <a:srgbClr val="E8EDF7"/>
                </a:solidFill>
                <a:latin typeface="Consolas"/>
              </a:defRPr>
            </a:pPr>
            <a:r>
              <a:t>python scripts/build_deck.py</a:t>
            </a:r>
          </a:p>
          <a:p>
            <a:pPr>
              <a:spcAft>
                <a:spcPts val="500"/>
              </a:spcAft>
              <a:defRPr sz="1200" b="0">
                <a:solidFill>
                  <a:srgbClr val="E8EDF7"/>
                </a:solidFill>
                <a:latin typeface="Consolas"/>
              </a:defRPr>
            </a:pPr>
            <a:r>
              <a:t>uvicorn afcr.api.app:app --port 8000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HONESTY</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Limitations and honest status</a:t>
            </a:r>
          </a:p>
        </p:txBody>
      </p:sp>
      <p:sp>
        <p:nvSpPr>
          <p:cNvPr id="5" name="Rounded Rectangle 4"/>
          <p:cNvSpPr/>
          <p:nvPr/>
        </p:nvSpPr>
        <p:spPr>
          <a:xfrm>
            <a:off x="10611612" y="365760"/>
            <a:ext cx="1092708" cy="274320"/>
          </a:xfrm>
          <a:prstGeom prst="roundRect">
            <a:avLst>
              <a:gd name="adj" fmla="val 50000"/>
            </a:avLst>
          </a:prstGeom>
          <a:solidFill>
            <a:srgbClr val="0B101C"/>
          </a:solidFill>
          <a:ln w="12700">
            <a:solidFill>
              <a:srgbClr val="F6B73C"/>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6B73C"/>
                </a:solidFill>
                <a:latin typeface="Consolas"/>
              </a:defRPr>
            </a:pPr>
            <a:r>
              <a:t>synthetic</a:t>
            </a:r>
          </a:p>
        </p:txBody>
      </p:sp>
      <p:sp>
        <p:nvSpPr>
          <p:cNvPr id="6" name="Rounded Rectangle 5"/>
          <p:cNvSpPr/>
          <p:nvPr/>
        </p:nvSpPr>
        <p:spPr>
          <a:xfrm>
            <a:off x="9601200" y="365760"/>
            <a:ext cx="918972" cy="274320"/>
          </a:xfrm>
          <a:prstGeom prst="roundRect">
            <a:avLst>
              <a:gd name="adj" fmla="val 50000"/>
            </a:avLst>
          </a:prstGeom>
          <a:solidFill>
            <a:srgbClr val="0B101C"/>
          </a:solidFill>
          <a:ln w="12700">
            <a:solidFill>
              <a:srgbClr val="FF637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FF6378"/>
                </a:solidFill>
                <a:latin typeface="Consolas"/>
              </a:defRPr>
            </a:pPr>
            <a:r>
              <a:t>pending</a:t>
            </a:r>
          </a:p>
        </p:txBody>
      </p:sp>
      <p:sp>
        <p:nvSpPr>
          <p:cNvPr id="7" name="TextBox 6"/>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8" name="TextBox 7"/>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29</a:t>
            </a:r>
          </a:p>
        </p:txBody>
      </p:sp>
      <p:sp>
        <p:nvSpPr>
          <p:cNvPr id="9" name="Rounded Rectangle 8"/>
          <p:cNvSpPr/>
          <p:nvPr/>
        </p:nvSpPr>
        <p:spPr>
          <a:xfrm>
            <a:off x="548640" y="1554480"/>
            <a:ext cx="3520440" cy="44805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691640"/>
            <a:ext cx="3200400" cy="457200"/>
          </a:xfrm>
          <a:prstGeom prst="rect">
            <a:avLst/>
          </a:prstGeom>
          <a:noFill/>
        </p:spPr>
        <p:txBody>
          <a:bodyPr wrap="square" lIns="36576" rIns="36576">
            <a:spAutoFit/>
          </a:bodyPr>
          <a:lstStyle/>
          <a:p>
            <a:pPr>
              <a:spcAft>
                <a:spcPts val="600"/>
              </a:spcAft>
              <a:defRPr sz="1800" b="1">
                <a:solidFill>
                  <a:srgbClr val="34D399"/>
                </a:solidFill>
                <a:latin typeface="Segoe UI Semibold"/>
              </a:defRPr>
            </a:pPr>
            <a:r>
              <a:t>Done and verified</a:t>
            </a:r>
          </a:p>
        </p:txBody>
      </p:sp>
      <p:sp>
        <p:nvSpPr>
          <p:cNvPr id="11" name="TextBox 10"/>
          <p:cNvSpPr txBox="1"/>
          <p:nvPr/>
        </p:nvSpPr>
        <p:spPr>
          <a:xfrm>
            <a:off x="731520" y="2286000"/>
            <a:ext cx="3200400" cy="3657600"/>
          </a:xfrm>
          <a:prstGeom prst="rect">
            <a:avLst/>
          </a:prstGeom>
          <a:noFill/>
        </p:spPr>
        <p:txBody>
          <a:bodyPr wrap="square" lIns="36576" rIns="36576">
            <a:spAutoFit/>
          </a:bodyPr>
          <a:lstStyle/>
          <a:p>
            <a:pPr>
              <a:spcAft>
                <a:spcPts val="800"/>
              </a:spcAft>
              <a:defRPr sz="1400" b="0">
                <a:solidFill>
                  <a:srgbClr val="E8EDF7"/>
                </a:solidFill>
                <a:latin typeface="Segoe UI"/>
              </a:defRPr>
            </a:pPr>
            <a:r>
              <a:t>•  179 backend + 46 frontend tests passing</a:t>
            </a:r>
          </a:p>
          <a:p>
            <a:pPr>
              <a:spcAft>
                <a:spcPts val="800"/>
              </a:spcAft>
              <a:defRPr sz="1400" b="0">
                <a:solidFill>
                  <a:srgbClr val="E8EDF7"/>
                </a:solidFill>
                <a:latin typeface="Segoe UI"/>
              </a:defRPr>
            </a:pPr>
            <a:r>
              <a:t>•  δ-correctness (Thm 1), prefix validity (Thm 3) checked numerically</a:t>
            </a:r>
          </a:p>
          <a:p>
            <a:pPr>
              <a:spcAft>
                <a:spcPts val="800"/>
              </a:spcAft>
              <a:defRPr sz="1400" b="0">
                <a:solidFill>
                  <a:srgbClr val="E8EDF7"/>
                </a:solidFill>
                <a:latin typeface="Segoe UI"/>
              </a:defRPr>
            </a:pPr>
            <a:r>
              <a:t>•  9 formal models + 48-state benchmark</a:t>
            </a:r>
          </a:p>
          <a:p>
            <a:pPr>
              <a:spcAft>
                <a:spcPts val="800"/>
              </a:spcAft>
              <a:defRPr sz="1400" b="0">
                <a:solidFill>
                  <a:srgbClr val="E8EDF7"/>
                </a:solidFill>
                <a:latin typeface="Segoe UI"/>
              </a:defRPr>
            </a:pPr>
            <a:r>
              <a:t>•  12 experiment groups, raw → processed</a:t>
            </a:r>
          </a:p>
        </p:txBody>
      </p:sp>
      <p:sp>
        <p:nvSpPr>
          <p:cNvPr id="12" name="Rounded Rectangle 11"/>
          <p:cNvSpPr/>
          <p:nvPr/>
        </p:nvSpPr>
        <p:spPr>
          <a:xfrm>
            <a:off x="4297679" y="1554480"/>
            <a:ext cx="3520440" cy="44805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1691640"/>
            <a:ext cx="3200400" cy="457200"/>
          </a:xfrm>
          <a:prstGeom prst="rect">
            <a:avLst/>
          </a:prstGeom>
          <a:noFill/>
        </p:spPr>
        <p:txBody>
          <a:bodyPr wrap="square" lIns="36576" rIns="36576">
            <a:spAutoFit/>
          </a:bodyPr>
          <a:lstStyle/>
          <a:p>
            <a:pPr>
              <a:spcAft>
                <a:spcPts val="600"/>
              </a:spcAft>
              <a:defRPr sz="1800" b="1">
                <a:solidFill>
                  <a:srgbClr val="FF6378"/>
                </a:solidFill>
                <a:latin typeface="Segoe UI Semibold"/>
              </a:defRPr>
            </a:pPr>
            <a:r>
              <a:t>Pending / not run</a:t>
            </a:r>
          </a:p>
        </p:txBody>
      </p:sp>
      <p:sp>
        <p:nvSpPr>
          <p:cNvPr id="14" name="TextBox 13"/>
          <p:cNvSpPr txBox="1"/>
          <p:nvPr/>
        </p:nvSpPr>
        <p:spPr>
          <a:xfrm>
            <a:off x="4480559" y="2286000"/>
            <a:ext cx="3200400" cy="3657600"/>
          </a:xfrm>
          <a:prstGeom prst="rect">
            <a:avLst/>
          </a:prstGeom>
          <a:noFill/>
        </p:spPr>
        <p:txBody>
          <a:bodyPr wrap="square" lIns="36576" rIns="36576">
            <a:spAutoFit/>
          </a:bodyPr>
          <a:lstStyle/>
          <a:p>
            <a:pPr>
              <a:spcAft>
                <a:spcPts val="800"/>
              </a:spcAft>
              <a:defRPr sz="1400" b="0">
                <a:solidFill>
                  <a:srgbClr val="E8EDF7"/>
                </a:solidFill>
                <a:latin typeface="Segoe UI"/>
              </a:defRPr>
            </a:pPr>
            <a:r>
              <a:t>•  ALFWorld (Stage C) — adapter only</a:t>
            </a:r>
          </a:p>
          <a:p>
            <a:pPr>
              <a:spcAft>
                <a:spcPts val="800"/>
              </a:spcAft>
              <a:defRPr sz="1400" b="0">
                <a:solidFill>
                  <a:srgbClr val="E8EDF7"/>
                </a:solidFill>
                <a:latin typeface="Segoe UI"/>
              </a:defRPr>
            </a:pPr>
            <a:r>
              <a:t>•  HotpotQA (Stage D) — adapter only</a:t>
            </a:r>
          </a:p>
          <a:p>
            <a:pPr>
              <a:spcAft>
                <a:spcPts val="800"/>
              </a:spcAft>
              <a:defRPr sz="1400" b="0">
                <a:solidFill>
                  <a:srgbClr val="E8EDF7"/>
                </a:solidFill>
                <a:latin typeface="Segoe UI"/>
              </a:defRPr>
            </a:pPr>
            <a:r>
              <a:t>•  Real LLM provider evaluation</a:t>
            </a:r>
          </a:p>
          <a:p>
            <a:pPr>
              <a:spcAft>
                <a:spcPts val="800"/>
              </a:spcAft>
              <a:defRPr sz="1400" b="0">
                <a:solidFill>
                  <a:srgbClr val="E8EDF7"/>
                </a:solidFill>
                <a:latin typeface="Segoe UI"/>
              </a:defRPr>
            </a:pPr>
            <a:r>
              <a:t>•  Human-validated culprit labels</a:t>
            </a:r>
          </a:p>
        </p:txBody>
      </p:sp>
      <p:sp>
        <p:nvSpPr>
          <p:cNvPr id="15" name="Rounded Rectangle 14"/>
          <p:cNvSpPr/>
          <p:nvPr/>
        </p:nvSpPr>
        <p:spPr>
          <a:xfrm>
            <a:off x="8046719" y="1554480"/>
            <a:ext cx="3520440" cy="448056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1691640"/>
            <a:ext cx="3200400" cy="457200"/>
          </a:xfrm>
          <a:prstGeom prst="rect">
            <a:avLst/>
          </a:prstGeom>
          <a:noFill/>
        </p:spPr>
        <p:txBody>
          <a:bodyPr wrap="square" lIns="36576" rIns="36576">
            <a:spAutoFit/>
          </a:bodyPr>
          <a:lstStyle/>
          <a:p>
            <a:pPr>
              <a:spcAft>
                <a:spcPts val="600"/>
              </a:spcAft>
              <a:defRPr sz="1800" b="1">
                <a:solidFill>
                  <a:srgbClr val="F6B73C"/>
                </a:solidFill>
                <a:latin typeface="Segoe UI Semibold"/>
              </a:defRPr>
            </a:pPr>
            <a:r>
              <a:t>Not claimed</a:t>
            </a:r>
          </a:p>
        </p:txBody>
      </p:sp>
      <p:sp>
        <p:nvSpPr>
          <p:cNvPr id="17" name="TextBox 16"/>
          <p:cNvSpPr txBox="1"/>
          <p:nvPr/>
        </p:nvSpPr>
        <p:spPr>
          <a:xfrm>
            <a:off x="8229600" y="2286000"/>
            <a:ext cx="3200400" cy="3657600"/>
          </a:xfrm>
          <a:prstGeom prst="rect">
            <a:avLst/>
          </a:prstGeom>
          <a:noFill/>
        </p:spPr>
        <p:txBody>
          <a:bodyPr wrap="square" lIns="36576" rIns="36576">
            <a:spAutoFit/>
          </a:bodyPr>
          <a:lstStyle/>
          <a:p>
            <a:pPr>
              <a:spcAft>
                <a:spcPts val="800"/>
              </a:spcAft>
              <a:defRPr sz="1400" b="0">
                <a:solidFill>
                  <a:srgbClr val="E8EDF7"/>
                </a:solidFill>
                <a:latin typeface="Segoe UI"/>
              </a:defRPr>
            </a:pPr>
            <a:r>
              <a:t>•  Minimax / instance optimality</a:t>
            </a:r>
          </a:p>
          <a:p>
            <a:pPr>
              <a:spcAft>
                <a:spcPts val="800"/>
              </a:spcAft>
              <a:defRPr sz="1400" b="0">
                <a:solidFill>
                  <a:srgbClr val="E8EDF7"/>
                </a:solidFill>
                <a:latin typeface="Segoe UI"/>
              </a:defRPr>
            </a:pPr>
            <a:r>
              <a:t>•  Results on real agents</a:t>
            </a:r>
          </a:p>
          <a:p>
            <a:pPr>
              <a:spcAft>
                <a:spcPts val="800"/>
              </a:spcAft>
              <a:defRPr sz="1400" b="0">
                <a:solidFill>
                  <a:srgbClr val="E8EDF7"/>
                </a:solidFill>
                <a:latin typeface="Segoe UI"/>
              </a:defRPr>
            </a:pPr>
            <a:r>
              <a:t>•  That replay is new (it is not)</a:t>
            </a:r>
          </a:p>
          <a:p>
            <a:pPr>
              <a:spcAft>
                <a:spcPts val="800"/>
              </a:spcAft>
              <a:defRPr sz="1400" b="0">
                <a:solidFill>
                  <a:srgbClr val="E8EDF7"/>
                </a:solidFill>
                <a:latin typeface="Segoe UI"/>
              </a:defRPr>
            </a:pPr>
            <a:r>
              <a:t>•  Novelty beyond the finite literature search</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01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4FA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56032"/>
            <a:ext cx="7315200" cy="274320"/>
          </a:xfrm>
          <a:prstGeom prst="rect">
            <a:avLst/>
          </a:prstGeom>
          <a:noFill/>
        </p:spPr>
        <p:txBody>
          <a:bodyPr wrap="square" lIns="36576" rIns="36576">
            <a:spAutoFit/>
          </a:bodyPr>
          <a:lstStyle/>
          <a:p>
            <a:pPr>
              <a:spcAft>
                <a:spcPts val="600"/>
              </a:spcAft>
              <a:defRPr sz="1100" b="1">
                <a:solidFill>
                  <a:srgbClr val="2DD4E0"/>
                </a:solidFill>
                <a:latin typeface="Consolas"/>
              </a:defRPr>
            </a:pPr>
            <a:r>
              <a:t>WRAP-UP</a:t>
            </a:r>
          </a:p>
        </p:txBody>
      </p:sp>
      <p:sp>
        <p:nvSpPr>
          <p:cNvPr id="4" name="TextBox 3"/>
          <p:cNvSpPr txBox="1"/>
          <p:nvPr/>
        </p:nvSpPr>
        <p:spPr>
          <a:xfrm>
            <a:off x="502920" y="475488"/>
            <a:ext cx="10241280" cy="731520"/>
          </a:xfrm>
          <a:prstGeom prst="rect">
            <a:avLst/>
          </a:prstGeom>
          <a:noFill/>
        </p:spPr>
        <p:txBody>
          <a:bodyPr wrap="square" lIns="36576" rIns="36576">
            <a:spAutoFit/>
          </a:bodyPr>
          <a:lstStyle/>
          <a:p>
            <a:pPr>
              <a:spcAft>
                <a:spcPts val="600"/>
              </a:spcAft>
              <a:defRPr sz="2800" b="1">
                <a:solidFill>
                  <a:srgbClr val="E8EDF7"/>
                </a:solidFill>
                <a:latin typeface="Segoe UI Semibold"/>
              </a:defRPr>
            </a:pPr>
            <a:r>
              <a:t>Conclusions and future work</a:t>
            </a:r>
          </a:p>
        </p:txBody>
      </p:sp>
      <p:sp>
        <p:nvSpPr>
          <p:cNvPr id="5" name="Rounded Rectangle 4"/>
          <p:cNvSpPr/>
          <p:nvPr/>
        </p:nvSpPr>
        <p:spPr>
          <a:xfrm>
            <a:off x="10872216" y="365760"/>
            <a:ext cx="832104" cy="274320"/>
          </a:xfrm>
          <a:prstGeom prst="roundRect">
            <a:avLst>
              <a:gd name="adj" fmla="val 50000"/>
            </a:avLst>
          </a:prstGeom>
          <a:solidFill>
            <a:srgbClr val="0B101C"/>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defRPr sz="1100" b="1">
                <a:solidFill>
                  <a:srgbClr val="A78BFA"/>
                </a:solidFill>
                <a:latin typeface="Consolas"/>
              </a:defRPr>
            </a:pPr>
            <a:r>
              <a:t>theory</a:t>
            </a:r>
          </a:p>
        </p:txBody>
      </p:sp>
      <p:sp>
        <p:nvSpPr>
          <p:cNvPr id="6" name="TextBox 5"/>
          <p:cNvSpPr txBox="1"/>
          <p:nvPr/>
        </p:nvSpPr>
        <p:spPr>
          <a:xfrm>
            <a:off x="502920" y="6492240"/>
            <a:ext cx="8229600" cy="274320"/>
          </a:xfrm>
          <a:prstGeom prst="rect">
            <a:avLst/>
          </a:prstGeom>
          <a:noFill/>
        </p:spPr>
        <p:txBody>
          <a:bodyPr wrap="square" lIns="36576" rIns="36576">
            <a:spAutoFit/>
          </a:bodyPr>
          <a:lstStyle/>
          <a:p>
            <a:pPr>
              <a:spcAft>
                <a:spcPts val="600"/>
              </a:spcAft>
              <a:defRPr sz="900" b="0">
                <a:solidFill>
                  <a:srgbClr val="96A3BE"/>
                </a:solidFill>
                <a:latin typeface="Segoe UI"/>
              </a:defRPr>
            </a:pPr>
            <a:r>
              <a:t>AFCR · Fixed-confidence culprit identification · Kushagra Yogendra Bansal &amp; Kartik Kesharwani</a:t>
            </a:r>
          </a:p>
        </p:txBody>
      </p:sp>
      <p:sp>
        <p:nvSpPr>
          <p:cNvPr id="7" name="TextBox 6"/>
          <p:cNvSpPr txBox="1"/>
          <p:nvPr/>
        </p:nvSpPr>
        <p:spPr>
          <a:xfrm>
            <a:off x="11155680" y="6492240"/>
            <a:ext cx="640080" cy="274320"/>
          </a:xfrm>
          <a:prstGeom prst="rect">
            <a:avLst/>
          </a:prstGeom>
          <a:noFill/>
        </p:spPr>
        <p:txBody>
          <a:bodyPr wrap="square" lIns="36576" rIns="36576">
            <a:spAutoFit/>
          </a:bodyPr>
          <a:lstStyle/>
          <a:p>
            <a:pPr algn="r">
              <a:spcAft>
                <a:spcPts val="600"/>
              </a:spcAft>
              <a:defRPr sz="1000" b="0">
                <a:solidFill>
                  <a:srgbClr val="96A3BE"/>
                </a:solidFill>
                <a:latin typeface="Segoe UI"/>
              </a:defRPr>
            </a:pPr>
            <a:r>
              <a:t>30</a:t>
            </a:r>
          </a:p>
        </p:txBody>
      </p:sp>
      <p:sp>
        <p:nvSpPr>
          <p:cNvPr id="8" name="Rounded Rectangle 7"/>
          <p:cNvSpPr/>
          <p:nvPr/>
        </p:nvSpPr>
        <p:spPr>
          <a:xfrm>
            <a:off x="548640" y="1463040"/>
            <a:ext cx="548640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600200"/>
            <a:ext cx="5120640" cy="365760"/>
          </a:xfrm>
          <a:prstGeom prst="rect">
            <a:avLst/>
          </a:prstGeom>
          <a:noFill/>
        </p:spPr>
        <p:txBody>
          <a:bodyPr wrap="square" lIns="36576" rIns="36576">
            <a:spAutoFit/>
          </a:bodyPr>
          <a:lstStyle/>
          <a:p>
            <a:pPr>
              <a:spcAft>
                <a:spcPts val="600"/>
              </a:spcAft>
              <a:defRPr sz="1700" b="1">
                <a:solidFill>
                  <a:srgbClr val="2DD4E0"/>
                </a:solidFill>
                <a:latin typeface="Segoe UI Semibold"/>
              </a:defRPr>
            </a:pPr>
            <a:r>
              <a:t>What we showed</a:t>
            </a:r>
          </a:p>
        </p:txBody>
      </p:sp>
      <p:sp>
        <p:nvSpPr>
          <p:cNvPr id="10" name="TextBox 9"/>
          <p:cNvSpPr txBox="1"/>
          <p:nvPr/>
        </p:nvSpPr>
        <p:spPr>
          <a:xfrm>
            <a:off x="777240" y="2103120"/>
            <a:ext cx="5120640" cy="4023360"/>
          </a:xfrm>
          <a:prstGeom prst="rect">
            <a:avLst/>
          </a:prstGeom>
          <a:noFill/>
        </p:spPr>
        <p:txBody>
          <a:bodyPr wrap="square" lIns="36576" rIns="36576">
            <a:spAutoFit/>
          </a:bodyPr>
          <a:lstStyle/>
          <a:p>
            <a:pPr>
              <a:spcAft>
                <a:spcPts val="600"/>
              </a:spcAft>
              <a:defRPr sz="1400" b="0">
                <a:solidFill>
                  <a:srgbClr val="E8EDF7"/>
                </a:solidFill>
                <a:latin typeface="Segoe UI"/>
              </a:defRPr>
            </a:pPr>
            <a:r>
              <a:t>•  Culprit identification as fixed-confidence BAI over replays</a:t>
            </a:r>
          </a:p>
          <a:p>
            <a:pPr>
              <a:spcAft>
                <a:spcPts val="600"/>
              </a:spcAft>
              <a:defRPr sz="1400" b="0">
                <a:solidFill>
                  <a:srgbClr val="E8EDF7"/>
                </a:solidFill>
                <a:latin typeface="Segoe UI"/>
              </a:defRPr>
            </a:pPr>
            <a:r>
              <a:t>•  δ-correct for any sampling rule (Theorem 1)</a:t>
            </a:r>
          </a:p>
          <a:p>
            <a:pPr>
              <a:spcAft>
                <a:spcPts val="600"/>
              </a:spcAft>
              <a:defRPr sz="1400" b="0">
                <a:solidFill>
                  <a:srgbClr val="E8EDF7"/>
                </a:solidFill>
                <a:latin typeface="Segoe UI"/>
              </a:defRPr>
            </a:pPr>
            <a:r>
              <a:t>•  1.79× fewer rollouts than uniform at equal confidence (synthetic)</a:t>
            </a:r>
          </a:p>
          <a:p>
            <a:pPr>
              <a:spcAft>
                <a:spcPts val="600"/>
              </a:spcAft>
              <a:defRPr sz="1400" b="0">
                <a:solidFill>
                  <a:srgbClr val="E8EDF7"/>
                </a:solidFill>
                <a:latin typeface="Segoe UI"/>
              </a:defRPr>
            </a:pPr>
            <a:r>
              <a:t>•  Valid prefix reuse: a further 1.42×; naive reuse is demonstrably wrong</a:t>
            </a:r>
          </a:p>
          <a:p>
            <a:pPr>
              <a:spcAft>
                <a:spcPts val="600"/>
              </a:spcAft>
              <a:defRPr sz="1400" b="0">
                <a:solidFill>
                  <a:srgbClr val="E8EDF7"/>
                </a:solidFill>
                <a:latin typeface="Segoe UI"/>
              </a:defRPr>
            </a:pPr>
            <a:r>
              <a:t>•  Abstention instead of fabricated answers</a:t>
            </a:r>
          </a:p>
        </p:txBody>
      </p:sp>
      <p:sp>
        <p:nvSpPr>
          <p:cNvPr id="11" name="Rounded Rectangle 10"/>
          <p:cNvSpPr/>
          <p:nvPr/>
        </p:nvSpPr>
        <p:spPr>
          <a:xfrm>
            <a:off x="6263640" y="1463040"/>
            <a:ext cx="5440680" cy="4754880"/>
          </a:xfrm>
          <a:prstGeom prst="roundRect">
            <a:avLst>
              <a:gd name="adj" fmla="val 4000"/>
            </a:avLst>
          </a:prstGeom>
          <a:solidFill>
            <a:srgbClr val="151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600200"/>
            <a:ext cx="5029200" cy="365760"/>
          </a:xfrm>
          <a:prstGeom prst="rect">
            <a:avLst/>
          </a:prstGeom>
          <a:noFill/>
        </p:spPr>
        <p:txBody>
          <a:bodyPr wrap="square" lIns="36576" rIns="36576">
            <a:spAutoFit/>
          </a:bodyPr>
          <a:lstStyle/>
          <a:p>
            <a:pPr>
              <a:spcAft>
                <a:spcPts val="600"/>
              </a:spcAft>
              <a:defRPr sz="1700" b="1">
                <a:solidFill>
                  <a:srgbClr val="2DD4E0"/>
                </a:solidFill>
                <a:latin typeface="Segoe UI Semibold"/>
              </a:defRPr>
            </a:pPr>
            <a:r>
              <a:t>Next</a:t>
            </a:r>
          </a:p>
        </p:txBody>
      </p:sp>
      <p:sp>
        <p:nvSpPr>
          <p:cNvPr id="13" name="TextBox 12"/>
          <p:cNvSpPr txBox="1"/>
          <p:nvPr/>
        </p:nvSpPr>
        <p:spPr>
          <a:xfrm>
            <a:off x="6492240" y="2103120"/>
            <a:ext cx="5029200" cy="2286000"/>
          </a:xfrm>
          <a:prstGeom prst="rect">
            <a:avLst/>
          </a:prstGeom>
          <a:noFill/>
        </p:spPr>
        <p:txBody>
          <a:bodyPr wrap="square" lIns="36576" rIns="36576">
            <a:spAutoFit/>
          </a:bodyPr>
          <a:lstStyle/>
          <a:p>
            <a:pPr>
              <a:spcAft>
                <a:spcPts val="600"/>
              </a:spcAft>
              <a:defRPr sz="1400" b="0">
                <a:solidFill>
                  <a:srgbClr val="E8EDF7"/>
                </a:solidFill>
                <a:latin typeface="Segoe UI"/>
              </a:defRPr>
            </a:pPr>
            <a:r>
              <a:t>•  Run Stage C/D on ALFWorld and HotpotQA</a:t>
            </a:r>
          </a:p>
          <a:p>
            <a:pPr>
              <a:spcAft>
                <a:spcPts val="600"/>
              </a:spcAft>
              <a:defRPr sz="1400" b="0">
                <a:solidFill>
                  <a:srgbClr val="E8EDF7"/>
                </a:solidFill>
                <a:latin typeface="Segoe UI"/>
              </a:defRPr>
            </a:pPr>
            <a:r>
              <a:t>•  Instance-optimal allocation (Track-and-Stop)</a:t>
            </a:r>
          </a:p>
          <a:p>
            <a:pPr>
              <a:spcAft>
                <a:spcPts val="600"/>
              </a:spcAft>
              <a:defRPr sz="1400" b="0">
                <a:solidFill>
                  <a:srgbClr val="E8EDF7"/>
                </a:solidFill>
                <a:latin typeface="Segoe UI"/>
              </a:defRPr>
            </a:pPr>
            <a:r>
              <a:t>•  Direct-effect estimands, joint (Shapley) credit</a:t>
            </a:r>
          </a:p>
        </p:txBody>
      </p:sp>
      <p:sp>
        <p:nvSpPr>
          <p:cNvPr id="14" name="TextBox 13"/>
          <p:cNvSpPr txBox="1"/>
          <p:nvPr/>
        </p:nvSpPr>
        <p:spPr>
          <a:xfrm>
            <a:off x="6492240" y="4297680"/>
            <a:ext cx="5029200" cy="1737360"/>
          </a:xfrm>
          <a:prstGeom prst="rect">
            <a:avLst/>
          </a:prstGeom>
          <a:noFill/>
        </p:spPr>
        <p:txBody>
          <a:bodyPr wrap="square" lIns="36576" rIns="36576">
            <a:spAutoFit/>
          </a:bodyPr>
          <a:lstStyle/>
          <a:p>
            <a:pPr>
              <a:spcAft>
                <a:spcPts val="600"/>
              </a:spcAft>
              <a:defRPr sz="1200" b="0">
                <a:solidFill>
                  <a:srgbClr val="96A3BE"/>
                </a:solidFill>
                <a:latin typeface="Segoe UI"/>
              </a:defRPr>
            </a:pPr>
            <a:r>
              <a:t>Kushagra Yogendra Bansal (25bde0080)  ·  Kartik Kesharwani (25bde0053)</a:t>
            </a:r>
          </a:p>
          <a:p>
            <a:pPr>
              <a:spcAft>
                <a:spcPts val="600"/>
              </a:spcAft>
              <a:defRPr sz="1200" b="0">
                <a:solidFill>
                  <a:srgbClr val="96A3BE"/>
                </a:solidFill>
                <a:latin typeface="Segoe UI"/>
              </a:defRPr>
            </a:pPr>
            <a:r>
              <a:t>Code, paper, report and this deck: see README.md</a:t>
            </a:r>
          </a:p>
          <a:p>
            <a:pPr>
              <a:spcAft>
                <a:spcPts val="600"/>
              </a:spcAft>
              <a:defRPr sz="1200" b="0">
                <a:solidFill>
                  <a:srgbClr val="96A3BE"/>
                </a:solidFill>
                <a:latin typeface="Segoe UI"/>
              </a:defRPr>
            </a:pPr>
            <a:r>
              <a:t>Key references: Garivier &amp; Kaufmann 2016; Zhang et al. 2025; Shah 2026 (CAR); AgenTracer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Sample-Optimal Culprit Identification for Agent Failures</dc:title>
  <dc:subject/>
  <dc:creator>Kushagra Yogendra Bansal; Kartik Kesharwani</dc:creator>
  <cp:keywords/>
  <dc:description/>
  <cp:lastModifiedBy>Kushagra Yogendra Bansal</cp:lastModifiedBy>
  <cp:revision>1</cp:revision>
  <dcterms:created xsi:type="dcterms:W3CDTF">2013-01-27T09:14:16Z</dcterms:created>
  <dcterms:modified xsi:type="dcterms:W3CDTF">2013-01-27T09:15:58Z</dcterms:modified>
  <cp:category/>
</cp:coreProperties>
</file>